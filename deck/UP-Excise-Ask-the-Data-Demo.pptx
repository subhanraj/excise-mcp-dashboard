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3798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row counts loaded so far. The data bank is a copy; the source systems are untouched. We can add more sources without changing how officers ask questions.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are open weights, run through Ollama on the office server. Neither is a DeepSeek model. The server has no graphics card today, so answers take one to three minutes.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followed a written plan with milestones, and every live failure found in testing is documented. Honest testing is part of the case for trusting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open about limits deliberately. The audience will ask what can go wrong; this slide answers first.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images/slide-05-shop-count.png" TargetMode="Externa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images/slide-06a-top-district-revenue.png" TargetMode="External"/><Relationship Id="rId5" Type="http://schemas.openxmlformats.org/officeDocument/2006/relationships/image" Target="../media/image11.png"/><Relationship Id="rId6" Type="http://schemas.openxmlformats.org/officeDocument/2006/relationships/hyperlink" Target="images/slide-06b-beer-revenue.png" TargetMode="External"/><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images/slide-07-chat-top-district.png" TargetMode="External"/><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7.png"/><Relationship Id="rId9"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hyperlink" Target="images/slide-11a-admin-knowledge-base.png" TargetMode="External"/><Relationship Id="rId5" Type="http://schemas.openxmlformats.org/officeDocument/2006/relationships/image" Target="../media/image23.png"/><Relationship Id="rId6" Type="http://schemas.openxmlformats.org/officeDocument/2006/relationships/hyperlink" Target="images/slide-11b-admin-system-health.png" TargetMode="External"/><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emblem-dark.png"/>
          <p:cNvPicPr>
            <a:picLocks noChangeAspect="1"/>
          </p:cNvPicPr>
          <p:nvPr/>
        </p:nvPicPr>
        <p:blipFill>
          <a:blip r:embed="rId3"/>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lIns="45720" tIns="27432" rIns="45720" bIns="27432" anchor="t">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lIns="45720" tIns="27432" rIns="45720" bIns="27432" anchor="t">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lIns="45720" tIns="27432" rIns="45720" bIns="27432" anchor="t">
            <a:spAutoFit/>
          </a:bodyPr>
          <a:lstStyle/>
          <a:p>
            <a:pPr algn="l"/>
            <a:r>
              <a:rPr lang="hi-IN" sz="2200" b="0">
                <a:solidFill>
                  <a:srgbClr val="1F2937"/>
                </a:solidFill>
                <a:latin typeface="Nirmala UI"/>
                <a:ea typeface="Nirmala UI"/>
                <a:cs typeface="Nirmala UI"/>
              </a:rPr>
              <a:t>उत्तर प्रदेश आबकारी विभाग</a:t>
            </a:r>
          </a:p>
        </p:txBody>
      </p:sp>
      <p:sp>
        <p:nvSpPr>
          <p:cNvPr id="8" name="TextBox 7"/>
          <p:cNvSpPr txBox="1"/>
          <p:nvPr/>
        </p:nvSpPr>
        <p:spPr>
          <a:xfrm>
            <a:off x="731520" y="2743200"/>
            <a:ext cx="10515600" cy="1097280"/>
          </a:xfrm>
          <a:prstGeom prst="rect">
            <a:avLst/>
          </a:prstGeom>
          <a:noFill/>
        </p:spPr>
        <p:txBody>
          <a:bodyPr wrap="square" lIns="45720" tIns="27432" rIns="45720" bIns="27432" anchor="t">
            <a:spAutoFit/>
          </a:bodyPr>
          <a:lstStyle/>
          <a:p>
            <a:pPr algn="l"/>
            <a:r>
              <a:rPr sz="6000" b="1">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lIns="45720" tIns="27432" rIns="45720" bIns="27432" anchor="t">
            <a:spAutoFit/>
          </a:bodyPr>
          <a:lstStyle/>
          <a:p>
            <a:pPr algn="l">
              <a:spcAft>
                <a:spcPts val="600"/>
              </a:spcAft>
            </a:pPr>
            <a:r>
              <a:rPr sz="2400" b="0">
                <a:solidFill>
                  <a:srgbClr val="1F2937"/>
                </a:solidFill>
                <a:latin typeface="Calibri"/>
              </a:rPr>
              <a:t>Ask a question in plain language.</a:t>
            </a:r>
          </a:p>
          <a:p>
            <a:pPr algn="l">
              <a:spcAft>
                <a:spcPts val="600"/>
              </a:spcAft>
            </a:pPr>
            <a:r>
              <a:rPr sz="2400" b="0">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lIns="45720" tIns="27432" rIns="45720" bIns="27432" anchor="t">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eet-white.png"/>
          <p:cNvPicPr>
            <a:picLocks noChangeAspect="1"/>
          </p:cNvPicPr>
          <p:nvPr/>
        </p:nvPicPr>
        <p:blipFill>
          <a:blip r:embed="rId4"/>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lock-white.png"/>
          <p:cNvPicPr>
            <a:picLocks noChangeAspect="1"/>
          </p:cNvPicPr>
          <p:nvPr/>
        </p:nvPicPr>
        <p:blipFill>
          <a:blip r:embed="rId5"/>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lIns="45720" tIns="27432" rIns="45720" bIns="27432" anchor="t">
            <a:spAutoFit/>
          </a:bodyPr>
          <a:lstStyle/>
          <a:p>
            <a:pPr algn="l"/>
            <a:r>
              <a:rPr sz="2000" b="1">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lIns="45720" tIns="27432" rIns="45720" bIns="27432" anchor="t">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question-white.png"/>
          <p:cNvPicPr>
            <a:picLocks noChangeAspect="1"/>
          </p:cNvPicPr>
          <p:nvPr/>
        </p:nvPicPr>
        <p:blipFill>
          <a:blip r:embed="rId4"/>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hat-white.png"/>
          <p:cNvPicPr>
            <a:picLocks noChangeAspect="1"/>
          </p:cNvPicPr>
          <p:nvPr/>
        </p:nvPicPr>
        <p:blipFill>
          <a:blip r:embed="rId5"/>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books-white.png"/>
          <p:cNvPicPr>
            <a:picLocks noChangeAspect="1"/>
          </p:cNvPicPr>
          <p:nvPr/>
        </p:nvPicPr>
        <p:blipFill>
          <a:blip r:embed="rId6"/>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lIns="45720" tIns="27432" rIns="45720" bIns="27432" anchor="t">
            <a:spAutoFit/>
          </a:bodyPr>
          <a:lstStyle/>
          <a:p>
            <a:pPr algn="l">
              <a:spcAft>
                <a:spcPts val="400"/>
              </a:spcAft>
            </a:pPr>
            <a:r>
              <a:rPr sz="1900" b="1">
                <a:solidFill>
                  <a:srgbClr val="243B7A"/>
                </a:solidFill>
                <a:latin typeface="Calibri"/>
              </a:rPr>
              <a:t>It runs on the departmental server, completely local.</a:t>
            </a:r>
          </a:p>
          <a:p>
            <a:pPr algn="l">
              <a:spcAft>
                <a:spcPts val="400"/>
              </a:spcAft>
            </a:pPr>
            <a:r>
              <a:rPr sz="1900" b="1">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How an answer is made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question-white.png"/>
          <p:cNvPicPr>
            <a:picLocks noChangeAspect="1"/>
          </p:cNvPicPr>
          <p:nvPr/>
        </p:nvPicPr>
        <p:blipFill>
          <a:blip r:embed="rId4"/>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brain-white.png"/>
          <p:cNvPicPr>
            <a:picLocks noChangeAspect="1"/>
          </p:cNvPicPr>
          <p:nvPr/>
        </p:nvPicPr>
        <p:blipFill>
          <a:blip r:embed="rId5"/>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database-white.png"/>
          <p:cNvPicPr>
            <a:picLocks noChangeAspect="1"/>
          </p:cNvPicPr>
          <p:nvPr/>
        </p:nvPicPr>
        <p:blipFill>
          <a:blip r:embed="rId6"/>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chart-white.png"/>
          <p:cNvPicPr>
            <a:picLocks noChangeAspect="1"/>
          </p:cNvPicPr>
          <p:nvPr/>
        </p:nvPicPr>
        <p:blipFill>
          <a:blip r:embed="rId7"/>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5303520"/>
            <a:ext cx="10698480" cy="868680"/>
          </a:xfrm>
          <a:prstGeom prst="rect">
            <a:avLst/>
          </a:prstGeom>
          <a:noFill/>
        </p:spPr>
        <p:txBody>
          <a:bodyPr wrap="square" lIns="45720" tIns="27432" rIns="45720" bIns="27432" anchor="ctr">
            <a:spAutoFit/>
          </a:bodyPr>
          <a:lstStyle/>
          <a:p>
            <a:pPr algn="l"/>
            <a:r>
              <a:rPr sz="1900" b="1">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database counts the total; the AI does not add it up.</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1-view.png">
            <a:hlinkClick r:id="rId4"/>
          </p:cNvPr>
          <p:cNvPicPr>
            <a:picLocks noChangeAspect="1"/>
          </p:cNvPicPr>
          <p:nvPr/>
        </p:nvPicPr>
        <p:blipFill>
          <a:blip r:embed="rId5"/>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sk-2-view.png">
            <a:hlinkClick r:id="rId4"/>
          </p:cNvPr>
          <p:cNvPicPr>
            <a:picLocks noChangeAspect="1"/>
          </p:cNvPicPr>
          <p:nvPr/>
        </p:nvPicPr>
        <p:blipFill>
          <a:blip r:embed="rId5"/>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3-view.png">
            <a:hlinkClick r:id="rId6"/>
          </p:cNvPr>
          <p:cNvPicPr>
            <a:picLocks noChangeAspect="1"/>
          </p:cNvPicPr>
          <p:nvPr/>
        </p:nvPicPr>
        <p:blipFill>
          <a:blip r:embed="rId7"/>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a conversation with a chart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The same question in Chat: the answer first, then the chart.</a:t>
            </a:r>
          </a:p>
          <a:p>
            <a:pPr algn="l">
              <a:spcAft>
                <a:spcPts val="1200"/>
              </a:spcAft>
            </a:pPr>
            <a:r>
              <a:rPr sz="1600" b="0">
                <a:solidFill>
                  <a:srgbClr val="1F2937"/>
                </a:solidFill>
                <a:latin typeface="Calibri"/>
              </a:rPr>
              <a:t>Lucknow is highest at ₹2,860.80 crore, from all 75 districts.</a:t>
            </a:r>
          </a:p>
          <a:p>
            <a:pPr algn="l">
              <a:spcAft>
                <a:spcPts val="1200"/>
              </a:spcAft>
            </a:pPr>
            <a:r>
              <a:rPr sz="1600" b="0">
                <a:solidFill>
                  <a:srgbClr val="1F2937"/>
                </a:solidFill>
                <a:latin typeface="Calibri"/>
              </a:rPr>
              <a:t>The chart downloads as PNG, SVG or PDF, and the whole conversation exports as a PDF.</a:t>
            </a:r>
          </a:p>
          <a:p>
            <a:pPr algn="l">
              <a:spcAft>
                <a:spcPts val="1200"/>
              </a:spcAft>
            </a:pPr>
            <a:r>
              <a:rPr sz="1600" b="0">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3-view.png">
            <a:hlinkClick r:id="rId4"/>
          </p:cNvPr>
          <p:cNvPicPr>
            <a:picLocks noChangeAspect="1"/>
          </p:cNvPicPr>
          <p:nvPr/>
        </p:nvPicPr>
        <p:blipFill>
          <a:blip r:embed="rId5"/>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data behind the answers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eceipt-white.png"/>
          <p:cNvPicPr>
            <a:picLocks noChangeAspect="1"/>
          </p:cNvPicPr>
          <p:nvPr/>
        </p:nvPicPr>
        <p:blipFill>
          <a:blip r:embed="rId4"/>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9,322</a:t>
            </a:r>
            <a:r>
              <a:rPr sz="1800" b="0">
                <a:solidFill>
                  <a:srgbClr val="243B7A"/>
                </a:solidFill>
                <a:latin typeface="Calibri"/>
              </a:rPr>
              <a:t> records</a:t>
            </a:r>
          </a:p>
        </p:txBody>
      </p:sp>
      <p:sp>
        <p:nvSpPr>
          <p:cNvPr id="12" name="TextBox 11"/>
          <p:cNvSpPr txBox="1"/>
          <p:nvPr/>
        </p:nvSpPr>
        <p:spPr>
          <a:xfrm>
            <a:off x="777240"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in-white.png"/>
          <p:cNvPicPr>
            <a:picLocks noChangeAspect="1"/>
          </p:cNvPicPr>
          <p:nvPr/>
        </p:nvPicPr>
        <p:blipFill>
          <a:blip r:embed="rId5"/>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28,405</a:t>
            </a:r>
            <a:r>
              <a:rPr sz="1800" b="0">
                <a:solidFill>
                  <a:srgbClr val="243B7A"/>
                </a:solidFill>
                <a:latin typeface="Calibri"/>
              </a:rPr>
              <a:t> shops</a:t>
            </a:r>
          </a:p>
        </p:txBody>
      </p:sp>
      <p:sp>
        <p:nvSpPr>
          <p:cNvPr id="17" name="TextBox 16"/>
          <p:cNvSpPr txBox="1"/>
          <p:nvPr/>
        </p:nvSpPr>
        <p:spPr>
          <a:xfrm>
            <a:off x="4526279"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rupee-white.png"/>
          <p:cNvPicPr>
            <a:picLocks noChangeAspect="1"/>
          </p:cNvPicPr>
          <p:nvPr/>
        </p:nvPicPr>
        <p:blipFill>
          <a:blip r:embed="rId6"/>
          <a:stretch>
            <a:fillRect/>
          </a:stretch>
        </p:blipFill>
        <p:spPr>
          <a:xfrm>
            <a:off x="8416137" y="1741017"/>
            <a:ext cx="358444" cy="358444"/>
          </a:xfrm>
          <a:prstGeom prst="rect">
            <a:avLst/>
          </a:prstGeom>
        </p:spPr>
      </p:pic>
      <p:sp>
        <p:nvSpPr>
          <p:cNvPr id="21" name="TextBox 20"/>
          <p:cNvSpPr txBox="1"/>
          <p:nvPr/>
        </p:nvSpPr>
        <p:spPr>
          <a:xfrm>
            <a:off x="9052559" y="1630930"/>
            <a:ext cx="2377440" cy="578620"/>
          </a:xfrm>
          <a:prstGeom prst="rect">
            <a:avLst/>
          </a:prstGeom>
          <a:noFill/>
        </p:spPr>
        <p:txBody>
          <a:bodyPr wrap="square" lIns="45720" tIns="27432" rIns="45720" bIns="27432" anchor="ctr">
            <a:spAutoFit/>
          </a:bodyPr>
          <a:lstStyle/>
          <a:p>
            <a:pPr algn="l"/>
            <a:r>
              <a:rPr sz="3400" b="1" dirty="0">
                <a:solidFill>
                  <a:srgbClr val="243B7A"/>
                </a:solidFill>
                <a:latin typeface="Calibri"/>
              </a:rPr>
              <a:t>3,455</a:t>
            </a:r>
            <a:r>
              <a:rPr lang="en-IN" sz="1800" b="0" dirty="0">
                <a:solidFill>
                  <a:srgbClr val="243B7A"/>
                </a:solidFill>
                <a:latin typeface="Calibri"/>
              </a:rPr>
              <a:t> records</a:t>
            </a:r>
            <a:endParaRPr sz="3400" b="1" dirty="0">
              <a:solidFill>
                <a:srgbClr val="243B7A"/>
              </a:solidFill>
              <a:latin typeface="Calibri"/>
            </a:endParaRPr>
          </a:p>
        </p:txBody>
      </p:sp>
      <p:sp>
        <p:nvSpPr>
          <p:cNvPr id="22" name="TextBox 21"/>
          <p:cNvSpPr txBox="1"/>
          <p:nvPr/>
        </p:nvSpPr>
        <p:spPr>
          <a:xfrm>
            <a:off x="8275319"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rt-white.png"/>
          <p:cNvPicPr>
            <a:picLocks noChangeAspect="1"/>
          </p:cNvPicPr>
          <p:nvPr/>
        </p:nvPicPr>
        <p:blipFill>
          <a:blip r:embed="rId7"/>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3,812</a:t>
            </a:r>
            <a:r>
              <a:rPr sz="1800" b="0">
                <a:solidFill>
                  <a:srgbClr val="243B7A"/>
                </a:solidFill>
                <a:latin typeface="Calibri"/>
              </a:rPr>
              <a:t> records</a:t>
            </a:r>
          </a:p>
        </p:txBody>
      </p:sp>
      <p:sp>
        <p:nvSpPr>
          <p:cNvPr id="27" name="TextBox 26"/>
          <p:cNvSpPr txBox="1"/>
          <p:nvPr/>
        </p:nvSpPr>
        <p:spPr>
          <a:xfrm>
            <a:off x="777240" y="4617720"/>
            <a:ext cx="3108960" cy="914400"/>
          </a:xfrm>
          <a:prstGeom prst="rect">
            <a:avLst/>
          </a:prstGeom>
          <a:noFill/>
        </p:spPr>
        <p:txBody>
          <a:bodyPr wrap="square" lIns="45720" tIns="27432" rIns="45720" bIns="27432" anchor="t">
            <a:spAutoFit/>
          </a:bodyPr>
          <a:lstStyle/>
          <a:p>
            <a:pPr algn="l"/>
            <a:r>
              <a:rPr sz="1400" b="0" dirty="0">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shield-white.png"/>
          <p:cNvPicPr>
            <a:picLocks noChangeAspect="1"/>
          </p:cNvPicPr>
          <p:nvPr/>
        </p:nvPicPr>
        <p:blipFill>
          <a:blip r:embed="rId8"/>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lIns="45720" tIns="27432" rIns="45720" bIns="27432" anchor="ctr">
            <a:spAutoFit/>
          </a:bodyPr>
          <a:lstStyle/>
          <a:p>
            <a:pPr algn="l"/>
            <a:r>
              <a:rPr sz="3400" b="1" dirty="0">
                <a:solidFill>
                  <a:srgbClr val="243B7A"/>
                </a:solidFill>
                <a:latin typeface="Calibri"/>
              </a:rPr>
              <a:t>11,124</a:t>
            </a:r>
            <a:r>
              <a:rPr sz="1800" b="0" dirty="0">
                <a:solidFill>
                  <a:srgbClr val="243B7A"/>
                </a:solidFill>
                <a:latin typeface="Calibri"/>
              </a:rPr>
              <a:t> records</a:t>
            </a:r>
          </a:p>
        </p:txBody>
      </p:sp>
      <p:sp>
        <p:nvSpPr>
          <p:cNvPr id="32" name="TextBox 31"/>
          <p:cNvSpPr txBox="1"/>
          <p:nvPr/>
        </p:nvSpPr>
        <p:spPr>
          <a:xfrm>
            <a:off x="4526279" y="461772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books-white.png"/>
          <p:cNvPicPr>
            <a:picLocks noChangeAspect="1"/>
          </p:cNvPicPr>
          <p:nvPr/>
        </p:nvPicPr>
        <p:blipFill>
          <a:blip r:embed="rId9"/>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330+</a:t>
            </a:r>
            <a:r>
              <a:rPr sz="1800" b="0">
                <a:solidFill>
                  <a:srgbClr val="243B7A"/>
                </a:solidFill>
                <a:latin typeface="Calibri"/>
              </a:rPr>
              <a:t> documents</a:t>
            </a:r>
          </a:p>
        </p:txBody>
      </p:sp>
      <p:sp>
        <p:nvSpPr>
          <p:cNvPr id="37" name="TextBox 36"/>
          <p:cNvSpPr txBox="1"/>
          <p:nvPr/>
        </p:nvSpPr>
        <p:spPr>
          <a:xfrm>
            <a:off x="8275319" y="461772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lIns="45720" tIns="27432" rIns="45720" bIns="27432" anchor="t">
            <a:spAutoFit/>
          </a:bodyPr>
          <a:lstStyle/>
          <a:p>
            <a:pPr algn="l"/>
            <a:r>
              <a:rPr sz="1600" b="1">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AI models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lIns="45720" tIns="27432" rIns="45720" bIns="27432" anchor="t">
            <a:spAutoFit/>
          </a:bodyPr>
          <a:lstStyle/>
          <a:p>
            <a:pPr algn="l"/>
            <a:r>
              <a:rPr sz="1900" b="0">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white.png"/>
          <p:cNvPicPr>
            <a:picLocks noChangeAspect="1"/>
          </p:cNvPicPr>
          <p:nvPr/>
        </p:nvPicPr>
        <p:blipFill>
          <a:blip r:embed="rId4"/>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lIns="45720" tIns="27432" rIns="45720" bIns="27432" anchor="t">
            <a:spAutoFit/>
          </a:bodyPr>
          <a:lstStyle/>
          <a:p>
            <a:pPr algn="l"/>
            <a:r>
              <a:rPr sz="2200" b="1">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lIns="45720" tIns="27432" rIns="45720" bIns="27432" anchor="t">
            <a:spAutoFit/>
          </a:bodyPr>
          <a:lstStyle/>
          <a:p>
            <a:pPr algn="l"/>
            <a:r>
              <a:rPr sz="1500" b="0">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lIns="45720" tIns="27432" rIns="45720" bIns="27432" anchor="t">
            <a:spAutoFit/>
          </a:bodyPr>
          <a:lstStyle/>
          <a:p>
            <a:pPr algn="l"/>
            <a:r>
              <a:rPr sz="1700" b="0">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pu-white.png"/>
          <p:cNvPicPr>
            <a:picLocks noChangeAspect="1"/>
          </p:cNvPicPr>
          <p:nvPr/>
        </p:nvPicPr>
        <p:blipFill>
          <a:blip r:embed="rId5"/>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lIns="45720" tIns="27432" rIns="45720" bIns="27432" anchor="t">
            <a:spAutoFit/>
          </a:bodyPr>
          <a:lstStyle/>
          <a:p>
            <a:pPr algn="l"/>
            <a:r>
              <a:rPr sz="2200" b="1">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lIns="45720" tIns="27432" rIns="45720" bIns="27432" anchor="t">
            <a:spAutoFit/>
          </a:bodyPr>
          <a:lstStyle/>
          <a:p>
            <a:pPr algn="l"/>
            <a:r>
              <a:rPr sz="1500" b="0">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lIns="45720" tIns="27432" rIns="45720" bIns="27432" anchor="t">
            <a:spAutoFit/>
          </a:bodyPr>
          <a:lstStyle/>
          <a:p>
            <a:pPr algn="l"/>
            <a:r>
              <a:rPr sz="1700" b="0">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5074920"/>
            <a:ext cx="10607040" cy="1097280"/>
          </a:xfrm>
          <a:prstGeom prst="rect">
            <a:avLst/>
          </a:prstGeom>
          <a:noFill/>
        </p:spPr>
        <p:txBody>
          <a:bodyPr wrap="square" lIns="45720" tIns="27432" rIns="45720" bIns="27432" anchor="ctr">
            <a:spAutoFit/>
          </a:bodyPr>
          <a:lstStyle/>
          <a:p>
            <a:pPr algn="l">
              <a:spcAft>
                <a:spcPts val="400"/>
              </a:spcAft>
            </a:pPr>
            <a:r>
              <a:rPr sz="1700" b="1">
                <a:solidFill>
                  <a:srgbClr val="243B7A"/>
                </a:solidFill>
                <a:latin typeface="Calibri"/>
              </a:rPr>
              <a:t>A conversational model and a code-writing model each do their own job better, so we use two.</a:t>
            </a:r>
          </a:p>
          <a:p>
            <a:pPr algn="l">
              <a:spcAft>
                <a:spcPts val="400"/>
              </a:spcAft>
            </a:pPr>
            <a:r>
              <a:rPr sz="1700" b="1">
                <a:solidFill>
                  <a:srgbClr val="243B7A"/>
                </a:solidFill>
                <a:latin typeface="Calibri"/>
              </a:rPr>
              <a:t>Both run locally: the department's questions and figures never leave the building.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white.png"/>
          <p:cNvPicPr>
            <a:picLocks noChangeAspect="1"/>
          </p:cNvPicPr>
          <p:nvPr/>
        </p:nvPicPr>
        <p:blipFill>
          <a:blip r:embed="rId4"/>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ye-white.png"/>
          <p:cNvPicPr>
            <a:picLocks noChangeAspect="1"/>
          </p:cNvPicPr>
          <p:nvPr/>
        </p:nvPicPr>
        <p:blipFill>
          <a:blip r:embed="rId5"/>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earch-white.png"/>
          <p:cNvPicPr>
            <a:picLocks noChangeAspect="1"/>
          </p:cNvPicPr>
          <p:nvPr/>
        </p:nvPicPr>
        <p:blipFill>
          <a:blip r:embed="rId6"/>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shield-white.png"/>
          <p:cNvPicPr>
            <a:picLocks noChangeAspect="1"/>
          </p:cNvPicPr>
          <p:nvPr/>
        </p:nvPicPr>
        <p:blipFill>
          <a:blip r:embed="rId7"/>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report-white.png"/>
          <p:cNvPicPr>
            <a:picLocks noChangeAspect="1"/>
          </p:cNvPicPr>
          <p:nvPr/>
        </p:nvPicPr>
        <p:blipFill>
          <a:blip r:embed="rId8"/>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question, query and action is logged for audit.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administrators see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dmin-kb.png">
            <a:hlinkClick r:id="rId4"/>
          </p:cNvPr>
          <p:cNvPicPr>
            <a:picLocks noChangeAspect="1"/>
          </p:cNvPicPr>
          <p:nvPr/>
        </p:nvPicPr>
        <p:blipFill>
          <a:blip r:embed="rId5"/>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dmin-health.png">
            <a:hlinkClick r:id="rId6"/>
          </p:cNvPr>
          <p:cNvPicPr>
            <a:picLocks noChangeAspect="1"/>
          </p:cNvPicPr>
          <p:nvPr/>
        </p:nvPicPr>
        <p:blipFill>
          <a:blip r:embed="rId7"/>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lIns="45720" tIns="27432" rIns="45720" bIns="27432" anchor="t">
            <a:spAutoFit/>
          </a:bodyPr>
          <a:lstStyle/>
          <a:p>
            <a:pPr algn="l"/>
            <a:r>
              <a:rPr sz="1600" b="0">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lIns="45720" tIns="27432" rIns="45720" bIns="27432" anchor="t">
            <a:spAutoFit/>
          </a:bodyPr>
          <a:lstStyle/>
          <a:p>
            <a:pPr algn="l"/>
            <a:r>
              <a:rPr sz="1600" b="0">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How we built it, and how we tested it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atabase-white.png"/>
          <p:cNvPicPr>
            <a:picLocks noChangeAspect="1"/>
          </p:cNvPicPr>
          <p:nvPr/>
        </p:nvPicPr>
        <p:blipFill>
          <a:blip r:embed="rId4"/>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brain-white.png"/>
          <p:cNvPicPr>
            <a:picLocks noChangeAspect="1"/>
          </p:cNvPicPr>
          <p:nvPr/>
        </p:nvPicPr>
        <p:blipFill>
          <a:blip r:embed="rId5"/>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t-white.png"/>
          <p:cNvPicPr>
            <a:picLocks noChangeAspect="1"/>
          </p:cNvPicPr>
          <p:nvPr/>
        </p:nvPicPr>
        <p:blipFill>
          <a:blip r:embed="rId7"/>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heck-white.png"/>
          <p:cNvPicPr>
            <a:picLocks noChangeAspect="1"/>
          </p:cNvPicPr>
          <p:nvPr/>
        </p:nvPicPr>
        <p:blipFill>
          <a:blip r:embed="rId8"/>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lIns="45720" tIns="27432" rIns="45720" bIns="27432" anchor="t">
            <a:spAutoFit/>
          </a:bodyPr>
          <a:lstStyle/>
          <a:p>
            <a:pPr algn="l">
              <a:spcAft>
                <a:spcPts val="400"/>
              </a:spcAft>
            </a:pPr>
            <a:r>
              <a:rPr sz="1700" b="0">
                <a:solidFill>
                  <a:srgbClr val="1F2937"/>
                </a:solidFill>
                <a:latin typeface="Calibri"/>
              </a:rPr>
              <a:t>The automated tests cover the safety checks, the data loaders and the chat flow.</a:t>
            </a:r>
          </a:p>
          <a:p>
            <a:pPr algn="l">
              <a:spcAft>
                <a:spcPts val="400"/>
              </a:spcAft>
            </a:pPr>
            <a:r>
              <a:rPr sz="1700" b="0">
                <a:solidFill>
                  <a:srgbClr val="1F2937"/>
                </a:solidFill>
                <a:latin typeface="Calibri"/>
              </a:rPr>
              <a:t>Live testing on real questions found problems the tests could not. Each one was fixed and recorded.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we learned, and the limits today</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371600"/>
            <a:ext cx="5029200" cy="457200"/>
          </a:xfrm>
          <a:prstGeom prst="rect">
            <a:avLst/>
          </a:prstGeom>
          <a:noFill/>
        </p:spPr>
        <p:txBody>
          <a:bodyPr wrap="square" lIns="45720" tIns="27432" rIns="45720" bIns="27432" anchor="t">
            <a:spAutoFit/>
          </a:bodyPr>
          <a:lstStyle/>
          <a:p>
            <a:pPr algn="l"/>
            <a:r>
              <a:rPr sz="2200" b="1">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lIns="45720" tIns="27432" rIns="45720" bIns="27432" anchor="t">
            <a:spAutoFit/>
          </a:bodyPr>
          <a:lstStyle/>
          <a:p>
            <a:pPr algn="l">
              <a:spcAft>
                <a:spcPts val="1000"/>
              </a:spcAft>
            </a:pPr>
            <a:r>
              <a:rPr sz="1500" b="0">
                <a:solidFill>
                  <a:srgbClr val="1F2937"/>
                </a:solidFill>
                <a:latin typeface="Calibri"/>
              </a:rPr>
              <a:t>A language model can give a confident wrong answer. We added checks so an empty result is reported as empty.</a:t>
            </a:r>
          </a:p>
          <a:p>
            <a:pPr algn="l">
              <a:spcAft>
                <a:spcPts val="1000"/>
              </a:spcAft>
            </a:pPr>
            <a:r>
              <a:rPr sz="1500" b="0">
                <a:solidFill>
                  <a:srgbClr val="1F2937"/>
                </a:solidFill>
                <a:latin typeface="Calibri"/>
              </a:rPr>
              <a:t>District revenue after 2018 in the Rajkosh and Koshwani portal data is booked at the central treasury in Lucknow.</a:t>
            </a:r>
          </a:p>
          <a:p>
            <a:pPr algn="l">
              <a:spcAft>
                <a:spcPts val="1000"/>
              </a:spcAft>
            </a:pPr>
            <a:r>
              <a:rPr sz="1500" b="0">
                <a:solidFill>
                  <a:srgbClr val="1F2937"/>
                </a:solidFill>
                <a:latin typeface="Calibri"/>
              </a:rPr>
              <a:t>We cross-checked against shop-level revenue and now point the system to the correct source.</a:t>
            </a:r>
          </a:p>
          <a:p>
            <a:pPr algn="l">
              <a:spcAft>
                <a:spcPts val="1000"/>
              </a:spcAft>
            </a:pPr>
            <a:r>
              <a:rPr sz="1500" b="0">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371600"/>
            <a:ext cx="5029200" cy="457200"/>
          </a:xfrm>
          <a:prstGeom prst="rect">
            <a:avLst/>
          </a:prstGeom>
          <a:noFill/>
        </p:spPr>
        <p:txBody>
          <a:bodyPr wrap="square" lIns="45720" tIns="27432" rIns="45720" bIns="27432" anchor="t">
            <a:spAutoFit/>
          </a:bodyPr>
          <a:lstStyle/>
          <a:p>
            <a:pPr algn="l"/>
            <a:r>
              <a:rPr sz="2200" b="1">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lIns="45720" tIns="27432" rIns="45720" bIns="27432" anchor="t">
            <a:spAutoFit/>
          </a:bodyPr>
          <a:lstStyle/>
          <a:p>
            <a:pPr algn="l">
              <a:spcAft>
                <a:spcPts val="1000"/>
              </a:spcAft>
            </a:pPr>
            <a:r>
              <a:rPr sz="1500" b="0">
                <a:solidFill>
                  <a:srgbClr val="1F2937"/>
                </a:solidFill>
                <a:latin typeface="Calibri"/>
              </a:rPr>
              <a:t>The server has no graphics card, so an answer takes one to three minutes.</a:t>
            </a:r>
          </a:p>
          <a:p>
            <a:pPr algn="l">
              <a:spcAft>
                <a:spcPts val="1000"/>
              </a:spcAft>
            </a:pPr>
            <a:r>
              <a:rPr sz="1500" b="0">
                <a:solidFill>
                  <a:srgbClr val="1F2937"/>
                </a:solidFill>
                <a:latin typeface="Calibri"/>
              </a:rPr>
              <a:t>Shop-level monthly detail is loaded for Lucknow only (August 2026).</a:t>
            </a:r>
          </a:p>
          <a:p>
            <a:pPr algn="l">
              <a:spcAft>
                <a:spcPts val="1000"/>
              </a:spcAft>
            </a:pPr>
            <a:r>
              <a:rPr sz="1500" b="0">
                <a:solidFill>
                  <a:srgbClr val="1F2937"/>
                </a:solidFill>
                <a:latin typeface="Calibri"/>
              </a:rPr>
              <a:t>Shop-level Bhang data has no source yet.</a:t>
            </a:r>
          </a:p>
          <a:p>
            <a:pPr algn="l">
              <a:spcAft>
                <a:spcPts val="1000"/>
              </a:spcAft>
            </a:pPr>
            <a:r>
              <a:rPr sz="1500" b="0">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erver-white.png"/>
          <p:cNvPicPr>
            <a:picLocks noChangeAspect="1"/>
          </p:cNvPicPr>
          <p:nvPr/>
        </p:nvPicPr>
        <p:blipFill>
          <a:blip r:embed="rId4"/>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database-white.png"/>
          <p:cNvPicPr>
            <a:picLocks noChangeAspect="1"/>
          </p:cNvPicPr>
          <p:nvPr/>
        </p:nvPicPr>
        <p:blipFill>
          <a:blip r:embed="rId5"/>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doc-white.png"/>
          <p:cNvPicPr>
            <a:picLocks noChangeAspect="1"/>
          </p:cNvPicPr>
          <p:nvPr/>
        </p:nvPicPr>
        <p:blipFill>
          <a:blip r:embed="rId6"/>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sers-white.png"/>
          <p:cNvPicPr>
            <a:picLocks noChangeAspect="1"/>
          </p:cNvPicPr>
          <p:nvPr/>
        </p:nvPicPr>
        <p:blipFill>
          <a:blip r:embed="rId7"/>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ulb-white.png"/>
          <p:cNvPicPr>
            <a:picLocks noChangeAspect="1"/>
          </p:cNvPicPr>
          <p:nvPr/>
        </p:nvPicPr>
        <p:blipFill>
          <a:blip r:embed="rId4"/>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lIns="45720" tIns="27432" rIns="45720" bIns="27432" anchor="t">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lIns="45720" tIns="27432" rIns="45720" bIns="27432" anchor="t">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lIns="45720" tIns="27432" rIns="45720" bIns="27432" anchor="t">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2159</Words>
  <Application>Microsoft Office PowerPoint</Application>
  <PresentationFormat>Widescreen</PresentationFormat>
  <Paragraphs>173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Subhan Raj</cp:lastModifiedBy>
  <cp:revision>2</cp:revision>
  <dcterms:created xsi:type="dcterms:W3CDTF">2013-01-27T09:14:16Z</dcterms:created>
  <dcterms:modified xsi:type="dcterms:W3CDTF">2026-10-12T10:08:39Z</dcterms:modified>
  <cp:category/>
</cp:coreProperties>
</file>