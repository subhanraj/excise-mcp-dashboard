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is a working proof of concept, not a mock-up. Everything shown in the demo slides came from the live system running in the department's office, answering real questions against real department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scene in the department's own terms. Examples to mention: a district total needed before a review meeting; a rule position needed alongside a figure.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entry points, one engine. Ask is for a single well-formed question. Chat is for exploring. The knowledge library lets the same chat quote the department's published rules.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picture to remember. The key point for this audience: the AI does not invent figures. It writes a search; the database returns the numbers. The query is always displayed.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the screenshot to open it full size. Read the question aloud, then point to the total and the two parts. This question was chosen because it has a split and a total. Earlier versions gave only one combined number; we fixed that so each part is shown.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either screenshot to open it full size. Money is shown in rupees with lakh and crore, never in dollars. The system converts the figures in code, not by asking the AI to do the arithmetic, after an early version got a crore conversion wrong.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the screenshot to open it full size. Point at the chart, then the "Show query" control under the answer. The chart toggle in the message box asks for a chart explicitly.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row counts loaded so far. The data bank is a copy; the source systems are untouched. More sources can be added without changing how officers ask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models are open weights, run through Ollama on the office server. Neither is a DeepSeek model. The server has no GPU today, which is why answers take one to three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layer works on its own: if one failed, the next would still stop a harmful action. Be ready for the question "can it change our data?" The answer is no: the database itself refuses any write from this account.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either screenshot to open it full size. Administrators also have screens for users, the activity log, data loading runs and a data dictionary where a plain-language note can be attached to any table or column to guide the 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that the build followed a written plan with milestones, and that every live failure found in testing is documented. Honest testing is part of the case for trusting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open about limits is deliberate. The cabinet will ask what can go wrong; this slide answers before they 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items come from the project plan. Saved analyses and offline reading are planned, not built.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REQUEST: to be written after the review with the project lead. Replace the next steps above with the specific approval being sought.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hyperlink" Target="images/slide-05-shop-count.png" TargetMode="Externa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hyperlink" Target="images/slide-06a-top-district-revenue.png" TargetMode="External"/><Relationship Id="rId5" Type="http://schemas.openxmlformats.org/officeDocument/2006/relationships/image" Target="../media/image12.png"/><Relationship Id="rId6" Type="http://schemas.openxmlformats.org/officeDocument/2006/relationships/hyperlink" Target="images/slide-06b-beer-revenue.png" TargetMode="Externa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hyperlink" Target="images/slide-07-chat-top-district.png" TargetMode="Externa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9.png"/><Relationship Id="rId7" Type="http://schemas.openxmlformats.org/officeDocument/2006/relationships/image" Target="../media/image17.png"/><Relationship Id="rId8" Type="http://schemas.openxmlformats.org/officeDocument/2006/relationships/image" Target="../media/image4.png"/><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7.png"/><Relationship Id="rId7" Type="http://schemas.openxmlformats.org/officeDocument/2006/relationships/image" Target="../media/image22.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hyperlink" Target="images/slide-11a-admin-knowledge-base.png" TargetMode="External"/><Relationship Id="rId5" Type="http://schemas.openxmlformats.org/officeDocument/2006/relationships/image" Target="../media/image24.png"/><Relationship Id="rId6" Type="http://schemas.openxmlformats.org/officeDocument/2006/relationships/hyperlink" Target="images/slide-11b-admin-system-health.png" TargetMode="Externa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image" Target="../media/image8.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E9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1097280"/>
            <a:ext cx="12191695" cy="5760720"/>
          </a:xfrm>
          <a:custGeom>
            <a:avLst/>
            <a:gdLst/>
            <a:ahLst/>
            <a:cxnLst/>
            <a:rect l="l" t="t" r="r" b="b"/>
            <a:pathLst>
              <a:path w="12191695" h="5760720">
                <a:moveTo>
                  <a:pt x="0" y="5760720"/>
                </a:moveTo>
                <a:lnTo>
                  <a:pt x="12191695" y="0"/>
                </a:lnTo>
                <a:lnTo>
                  <a:pt x="12191695" y="5760720"/>
                </a:lnTo>
                <a:close/>
              </a:path>
            </a:pathLst>
          </a:custGeom>
          <a:solidFill>
            <a:srgbClr val="C9D9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mblem-dark.png"/>
          <p:cNvPicPr>
            <a:picLocks noChangeAspect="1"/>
          </p:cNvPicPr>
          <p:nvPr/>
        </p:nvPicPr>
        <p:blipFill>
          <a:blip r:embed="rId2"/>
          <a:stretch>
            <a:fillRect/>
          </a:stretch>
        </p:blipFill>
        <p:spPr>
          <a:xfrm>
            <a:off x="731520" y="640080"/>
            <a:ext cx="1463040" cy="1463040"/>
          </a:xfrm>
          <a:prstGeom prst="rect">
            <a:avLst/>
          </a:prstGeom>
        </p:spPr>
      </p:pic>
      <p:sp>
        <p:nvSpPr>
          <p:cNvPr id="5" name="TextBox 4"/>
          <p:cNvSpPr txBox="1"/>
          <p:nvPr/>
        </p:nvSpPr>
        <p:spPr>
          <a:xfrm>
            <a:off x="2560320" y="685800"/>
            <a:ext cx="8686800" cy="457200"/>
          </a:xfrm>
          <a:prstGeom prst="rect">
            <a:avLst/>
          </a:prstGeom>
          <a:noFill/>
        </p:spPr>
        <p:txBody>
          <a:bodyPr wrap="square" anchor="t" lIns="45720" rIns="45720" tIns="27432" bIns="27432">
            <a:spAutoFit/>
          </a:bodyPr>
          <a:lstStyle/>
          <a:p>
            <a:pPr algn="l"/>
            <a:r>
              <a:rPr sz="2200" b="0">
                <a:solidFill>
                  <a:srgbClr val="1F2937"/>
                </a:solidFill>
                <a:latin typeface="Calibri"/>
              </a:rPr>
              <a:t>Government of Uttar Pradesh</a:t>
            </a:r>
          </a:p>
        </p:txBody>
      </p:sp>
      <p:sp>
        <p:nvSpPr>
          <p:cNvPr id="6" name="TextBox 5"/>
          <p:cNvSpPr txBox="1"/>
          <p:nvPr/>
        </p:nvSpPr>
        <p:spPr>
          <a:xfrm>
            <a:off x="2560320" y="1143000"/>
            <a:ext cx="8686800" cy="640080"/>
          </a:xfrm>
          <a:prstGeom prst="rect">
            <a:avLst/>
          </a:prstGeom>
          <a:noFill/>
        </p:spPr>
        <p:txBody>
          <a:bodyPr wrap="square" anchor="t" lIns="45720" rIns="45720" tIns="27432" bIns="27432">
            <a:spAutoFit/>
          </a:bodyPr>
          <a:lstStyle/>
          <a:p>
            <a:pPr algn="l"/>
            <a:r>
              <a:rPr sz="3600" b="1">
                <a:solidFill>
                  <a:srgbClr val="243B7A"/>
                </a:solidFill>
                <a:latin typeface="Calibri"/>
              </a:rPr>
              <a:t>Department of Excise</a:t>
            </a:r>
          </a:p>
        </p:txBody>
      </p:sp>
      <p:sp>
        <p:nvSpPr>
          <p:cNvPr id="7" name="TextBox 6"/>
          <p:cNvSpPr txBox="1"/>
          <p:nvPr/>
        </p:nvSpPr>
        <p:spPr>
          <a:xfrm>
            <a:off x="2560320" y="1783080"/>
            <a:ext cx="8686800" cy="457200"/>
          </a:xfrm>
          <a:prstGeom prst="rect">
            <a:avLst/>
          </a:prstGeom>
          <a:noFill/>
        </p:spPr>
        <p:txBody>
          <a:bodyPr wrap="square" anchor="t" lIns="45720" rIns="45720" tIns="27432" bIns="27432">
            <a:spAutoFit/>
          </a:bodyPr>
          <a:lstStyle/>
          <a:p>
            <a:pPr algn="l"/>
            <a:r>
              <a:rPr sz="2200" b="0" lang="hi-IN">
                <a:solidFill>
                  <a:srgbClr val="1F2937"/>
                </a:solidFill>
                <a:latin typeface="Nirmala UI"/>
                <a:ea typeface="Nirmala UI"/>
                <a:cs typeface="Nirmala UI"/>
              </a:rPr>
              <a:t>उत्तर प्रदेश आबकारी विभाग</a:t>
            </a:r>
          </a:p>
        </p:txBody>
      </p:sp>
      <p:sp>
        <p:nvSpPr>
          <p:cNvPr id="8" name="TextBox 7"/>
          <p:cNvSpPr txBox="1"/>
          <p:nvPr/>
        </p:nvSpPr>
        <p:spPr>
          <a:xfrm>
            <a:off x="731520" y="2743200"/>
            <a:ext cx="10515600" cy="1097280"/>
          </a:xfrm>
          <a:prstGeom prst="rect">
            <a:avLst/>
          </a:prstGeom>
          <a:noFill/>
        </p:spPr>
        <p:txBody>
          <a:bodyPr wrap="square" anchor="t" lIns="45720" rIns="45720" tIns="27432" bIns="27432">
            <a:spAutoFit/>
          </a:bodyPr>
          <a:lstStyle/>
          <a:p>
            <a:pPr algn="l"/>
            <a:r>
              <a:rPr sz="6000" b="1">
                <a:solidFill>
                  <a:srgbClr val="243B7A"/>
                </a:solidFill>
                <a:latin typeface="Calibri"/>
              </a:rPr>
              <a:t>Ask the Data</a:t>
            </a:r>
          </a:p>
        </p:txBody>
      </p:sp>
      <p:sp>
        <p:nvSpPr>
          <p:cNvPr id="9" name="TextBox 8"/>
          <p:cNvSpPr txBox="1"/>
          <p:nvPr/>
        </p:nvSpPr>
        <p:spPr>
          <a:xfrm>
            <a:off x="731520" y="3794760"/>
            <a:ext cx="7498079" cy="1280160"/>
          </a:xfrm>
          <a:prstGeom prst="rect">
            <a:avLst/>
          </a:prstGeom>
          <a:noFill/>
        </p:spPr>
        <p:txBody>
          <a:bodyPr wrap="square" anchor="t" lIns="45720" rIns="45720" tIns="27432" bIns="27432">
            <a:spAutoFit/>
          </a:bodyPr>
          <a:lstStyle/>
          <a:p>
            <a:pPr algn="l"/>
            <a:r>
              <a:rPr sz="2400" b="0">
                <a:solidFill>
                  <a:srgbClr val="1F2937"/>
                </a:solidFill>
                <a:latin typeface="Calibri"/>
              </a:rPr>
              <a:t>Questions in plain language, answered from the department's own figures and rules, on the department's own server</a:t>
            </a:r>
          </a:p>
        </p:txBody>
      </p:sp>
      <p:sp>
        <p:nvSpPr>
          <p:cNvPr id="10" name="TextBox 9"/>
          <p:cNvSpPr txBox="1"/>
          <p:nvPr/>
        </p:nvSpPr>
        <p:spPr>
          <a:xfrm>
            <a:off x="731520" y="5989320"/>
            <a:ext cx="10515600" cy="457200"/>
          </a:xfrm>
          <a:prstGeom prst="rect">
            <a:avLst/>
          </a:prstGeom>
          <a:noFill/>
        </p:spPr>
        <p:txBody>
          <a:bodyPr wrap="square" anchor="t" lIns="45720" rIns="45720" tIns="27432" bIns="27432">
            <a:spAutoFit/>
          </a:bodyPr>
          <a:lstStyle/>
          <a:p>
            <a:pPr algn="l"/>
            <a:r>
              <a:rPr sz="1800" b="0">
                <a:solidFill>
                  <a:srgbClr val="243B7A"/>
                </a:solidFill>
                <a:latin typeface="Calibri"/>
              </a:rPr>
              <a:t>Proof of concept  |  Presentation to the Cabinet and the Chief Secretary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The problem: a simple question can take days</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2</a:t>
            </a:r>
          </a:p>
        </p:txBody>
      </p:sp>
      <p:sp>
        <p:nvSpPr>
          <p:cNvPr id="8" name="Rounded Rectangle 7"/>
          <p:cNvSpPr/>
          <p:nvPr/>
        </p:nvSpPr>
        <p:spPr>
          <a:xfrm>
            <a:off x="548640" y="1463040"/>
            <a:ext cx="3520440" cy="3291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173736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heet-white.png"/>
          <p:cNvPicPr>
            <a:picLocks noChangeAspect="1"/>
          </p:cNvPicPr>
          <p:nvPr/>
        </p:nvPicPr>
        <p:blipFill>
          <a:blip r:embed="rId3"/>
          <a:stretch>
            <a:fillRect/>
          </a:stretch>
        </p:blipFill>
        <p:spPr>
          <a:xfrm>
            <a:off x="983894" y="1898294"/>
            <a:ext cx="409651" cy="409651"/>
          </a:xfrm>
          <a:prstGeom prst="rect">
            <a:avLst/>
          </a:prstGeom>
        </p:spPr>
      </p:pic>
      <p:sp>
        <p:nvSpPr>
          <p:cNvPr id="11" name="TextBox 10"/>
          <p:cNvSpPr txBox="1"/>
          <p:nvPr/>
        </p:nvSpPr>
        <p:spPr>
          <a:xfrm>
            <a:off x="777240" y="2651760"/>
            <a:ext cx="3108960" cy="731520"/>
          </a:xfrm>
          <a:prstGeom prst="rect">
            <a:avLst/>
          </a:prstGeom>
          <a:noFill/>
        </p:spPr>
        <p:txBody>
          <a:bodyPr wrap="square" anchor="t" lIns="45720" rIns="45720" tIns="27432" bIns="27432">
            <a:spAutoFit/>
          </a:bodyPr>
          <a:lstStyle/>
          <a:p>
            <a:pPr algn="l"/>
            <a:r>
              <a:rPr sz="2200" b="1">
                <a:solidFill>
                  <a:srgbClr val="243B7A"/>
                </a:solidFill>
                <a:latin typeface="Calibri"/>
              </a:rPr>
              <a:t>Figures sit in many files</a:t>
            </a:r>
          </a:p>
        </p:txBody>
      </p:sp>
      <p:sp>
        <p:nvSpPr>
          <p:cNvPr id="12" name="TextBox 11"/>
          <p:cNvSpPr txBox="1"/>
          <p:nvPr/>
        </p:nvSpPr>
        <p:spPr>
          <a:xfrm>
            <a:off x="777240" y="3383280"/>
            <a:ext cx="3108960" cy="1463040"/>
          </a:xfrm>
          <a:prstGeom prst="rect">
            <a:avLst/>
          </a:prstGeom>
          <a:noFill/>
        </p:spPr>
        <p:txBody>
          <a:bodyPr wrap="square" anchor="t" lIns="45720" rIns="45720" tIns="27432" bIns="27432">
            <a:spAutoFit/>
          </a:bodyPr>
          <a:lstStyle/>
          <a:p>
            <a:pPr algn="l"/>
            <a:r>
              <a:rPr sz="1600" b="0">
                <a:solidFill>
                  <a:srgbClr val="1F2937"/>
                </a:solidFill>
                <a:latin typeface="Calibri"/>
              </a:rPr>
              <a:t>Revenue, dispatch, shop and enforcement figures are held in separate workbooks, reports and portals.</a:t>
            </a:r>
          </a:p>
        </p:txBody>
      </p:sp>
      <p:sp>
        <p:nvSpPr>
          <p:cNvPr id="13" name="Rounded Rectangle 12"/>
          <p:cNvSpPr/>
          <p:nvPr/>
        </p:nvSpPr>
        <p:spPr>
          <a:xfrm>
            <a:off x="4297679" y="1463040"/>
            <a:ext cx="3520440" cy="3291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71999" y="173736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lock-white.png"/>
          <p:cNvPicPr>
            <a:picLocks noChangeAspect="1"/>
          </p:cNvPicPr>
          <p:nvPr/>
        </p:nvPicPr>
        <p:blipFill>
          <a:blip r:embed="rId4"/>
          <a:stretch>
            <a:fillRect/>
          </a:stretch>
        </p:blipFill>
        <p:spPr>
          <a:xfrm>
            <a:off x="4732934" y="1898294"/>
            <a:ext cx="409651" cy="409651"/>
          </a:xfrm>
          <a:prstGeom prst="rect">
            <a:avLst/>
          </a:prstGeom>
        </p:spPr>
      </p:pic>
      <p:sp>
        <p:nvSpPr>
          <p:cNvPr id="16" name="TextBox 15"/>
          <p:cNvSpPr txBox="1"/>
          <p:nvPr/>
        </p:nvSpPr>
        <p:spPr>
          <a:xfrm>
            <a:off x="4526279" y="2651760"/>
            <a:ext cx="3108960" cy="731520"/>
          </a:xfrm>
          <a:prstGeom prst="rect">
            <a:avLst/>
          </a:prstGeom>
          <a:noFill/>
        </p:spPr>
        <p:txBody>
          <a:bodyPr wrap="square" anchor="t" lIns="45720" rIns="45720" tIns="27432" bIns="27432">
            <a:spAutoFit/>
          </a:bodyPr>
          <a:lstStyle/>
          <a:p>
            <a:pPr algn="l"/>
            <a:r>
              <a:rPr sz="2200" b="1">
                <a:solidFill>
                  <a:srgbClr val="243B7A"/>
                </a:solidFill>
                <a:latin typeface="Calibri"/>
              </a:rPr>
              <a:t>Each question needs an analyst</a:t>
            </a:r>
          </a:p>
        </p:txBody>
      </p:sp>
      <p:sp>
        <p:nvSpPr>
          <p:cNvPr id="17" name="TextBox 16"/>
          <p:cNvSpPr txBox="1"/>
          <p:nvPr/>
        </p:nvSpPr>
        <p:spPr>
          <a:xfrm>
            <a:off x="4526279" y="3383280"/>
            <a:ext cx="3108960" cy="1463040"/>
          </a:xfrm>
          <a:prstGeom prst="rect">
            <a:avLst/>
          </a:prstGeom>
          <a:noFill/>
        </p:spPr>
        <p:txBody>
          <a:bodyPr wrap="square" anchor="t" lIns="45720" rIns="45720" tIns="27432" bIns="27432">
            <a:spAutoFit/>
          </a:bodyPr>
          <a:lstStyle/>
          <a:p>
            <a:pPr algn="l"/>
            <a:r>
              <a:rPr sz="1600" b="0">
                <a:solidFill>
                  <a:srgbClr val="1F2937"/>
                </a:solidFill>
                <a:latin typeface="Calibri"/>
              </a:rPr>
              <a:t>An officer asks, an analyst finds the files, builds the table and sends it back. A new angle on the same question starts the cycle again.</a:t>
            </a:r>
          </a:p>
        </p:txBody>
      </p:sp>
      <p:sp>
        <p:nvSpPr>
          <p:cNvPr id="18" name="Rounded Rectangle 17"/>
          <p:cNvSpPr/>
          <p:nvPr/>
        </p:nvSpPr>
        <p:spPr>
          <a:xfrm>
            <a:off x="8046719" y="1463040"/>
            <a:ext cx="3520440" cy="3291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21040" y="173736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ooks-white.png"/>
          <p:cNvPicPr>
            <a:picLocks noChangeAspect="1"/>
          </p:cNvPicPr>
          <p:nvPr/>
        </p:nvPicPr>
        <p:blipFill>
          <a:blip r:embed="rId5"/>
          <a:stretch>
            <a:fillRect/>
          </a:stretch>
        </p:blipFill>
        <p:spPr>
          <a:xfrm>
            <a:off x="8481974" y="1898294"/>
            <a:ext cx="409651" cy="409651"/>
          </a:xfrm>
          <a:prstGeom prst="rect">
            <a:avLst/>
          </a:prstGeom>
        </p:spPr>
      </p:pic>
      <p:sp>
        <p:nvSpPr>
          <p:cNvPr id="21" name="TextBox 20"/>
          <p:cNvSpPr txBox="1"/>
          <p:nvPr/>
        </p:nvSpPr>
        <p:spPr>
          <a:xfrm>
            <a:off x="8275319" y="2651760"/>
            <a:ext cx="3108960" cy="731520"/>
          </a:xfrm>
          <a:prstGeom prst="rect">
            <a:avLst/>
          </a:prstGeom>
          <a:noFill/>
        </p:spPr>
        <p:txBody>
          <a:bodyPr wrap="square" anchor="t" lIns="45720" rIns="45720" tIns="27432" bIns="27432">
            <a:spAutoFit/>
          </a:bodyPr>
          <a:lstStyle/>
          <a:p>
            <a:pPr algn="l"/>
            <a:r>
              <a:rPr sz="2200" b="1">
                <a:solidFill>
                  <a:srgbClr val="243B7A"/>
                </a:solidFill>
                <a:latin typeface="Calibri"/>
              </a:rPr>
              <a:t>Rules live in another place</a:t>
            </a:r>
          </a:p>
        </p:txBody>
      </p:sp>
      <p:sp>
        <p:nvSpPr>
          <p:cNvPr id="22" name="TextBox 21"/>
          <p:cNvSpPr txBox="1"/>
          <p:nvPr/>
        </p:nvSpPr>
        <p:spPr>
          <a:xfrm>
            <a:off x="8275319" y="3383280"/>
            <a:ext cx="3108960" cy="1463040"/>
          </a:xfrm>
          <a:prstGeom prst="rect">
            <a:avLst/>
          </a:prstGeom>
          <a:noFill/>
        </p:spPr>
        <p:txBody>
          <a:bodyPr wrap="square" anchor="t" lIns="45720" rIns="45720" tIns="27432" bIns="27432">
            <a:spAutoFit/>
          </a:bodyPr>
          <a:lstStyle/>
          <a:p>
            <a:pPr algn="l"/>
            <a:r>
              <a:rPr sz="1600" b="0">
                <a:solidFill>
                  <a:srgbClr val="1F2937"/>
                </a:solidFill>
                <a:latin typeface="Calibri"/>
              </a:rPr>
              <a:t>Acts, rules and policy orders are published as documents. Linking a rule to a figure is done by hand.</a:t>
            </a:r>
          </a:p>
        </p:txBody>
      </p:sp>
      <p:sp>
        <p:nvSpPr>
          <p:cNvPr id="23" name="TextBox 22"/>
          <p:cNvSpPr txBox="1"/>
          <p:nvPr/>
        </p:nvSpPr>
        <p:spPr>
          <a:xfrm>
            <a:off x="548640" y="5074920"/>
            <a:ext cx="11064240" cy="1097280"/>
          </a:xfrm>
          <a:prstGeom prst="rect">
            <a:avLst/>
          </a:prstGeom>
          <a:noFill/>
        </p:spPr>
        <p:txBody>
          <a:bodyPr wrap="square" anchor="t" lIns="45720" rIns="45720" tIns="27432" bIns="27432">
            <a:spAutoFit/>
          </a:bodyPr>
          <a:lstStyle/>
          <a:p>
            <a:pPr algn="l"/>
            <a:r>
              <a:rPr sz="2000" b="1">
                <a:solidFill>
                  <a:srgbClr val="1F2937"/>
                </a:solidFill>
                <a:latin typeface="Calibri"/>
              </a:rPr>
              <a:t>An officer who needs a number for a meeting today should be able to get it today, with the source shown, without waiting for a report to be prepared.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What this proof of concept does</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3</a:t>
            </a:r>
          </a:p>
        </p:txBody>
      </p:sp>
      <p:sp>
        <p:nvSpPr>
          <p:cNvPr id="8" name="TextBox 7"/>
          <p:cNvSpPr txBox="1"/>
          <p:nvPr/>
        </p:nvSpPr>
        <p:spPr>
          <a:xfrm>
            <a:off x="548640" y="1188720"/>
            <a:ext cx="11064240" cy="731520"/>
          </a:xfrm>
          <a:prstGeom prst="rect">
            <a:avLst/>
          </a:prstGeom>
          <a:noFill/>
        </p:spPr>
        <p:txBody>
          <a:bodyPr wrap="square" anchor="t" lIns="45720" rIns="45720" tIns="27432" bIns="27432">
            <a:spAutoFit/>
          </a:bodyPr>
          <a:lstStyle/>
          <a:p>
            <a:pPr algn="l"/>
            <a:r>
              <a:rPr sz="2000" b="0">
                <a:solidFill>
                  <a:srgbClr val="1F2937"/>
                </a:solidFill>
                <a:latin typeface="Calibri"/>
              </a:rPr>
              <a:t>An officer types a question in everyday English. The system finds the answer in the department's data, draws a chart where it helps, and shows the exact query it used.</a:t>
            </a:r>
          </a:p>
        </p:txBody>
      </p:sp>
      <p:sp>
        <p:nvSpPr>
          <p:cNvPr id="9" name="Rounded Rectangle 8"/>
          <p:cNvSpPr/>
          <p:nvPr/>
        </p:nvSpPr>
        <p:spPr>
          <a:xfrm>
            <a:off x="548640" y="2377440"/>
            <a:ext cx="3520440" cy="274320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59" y="260604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question-white.png"/>
          <p:cNvPicPr>
            <a:picLocks noChangeAspect="1"/>
          </p:cNvPicPr>
          <p:nvPr/>
        </p:nvPicPr>
        <p:blipFill>
          <a:blip r:embed="rId3"/>
          <a:stretch>
            <a:fillRect/>
          </a:stretch>
        </p:blipFill>
        <p:spPr>
          <a:xfrm>
            <a:off x="983894" y="2766974"/>
            <a:ext cx="409651" cy="409651"/>
          </a:xfrm>
          <a:prstGeom prst="rect">
            <a:avLst/>
          </a:prstGeom>
        </p:spPr>
      </p:pic>
      <p:sp>
        <p:nvSpPr>
          <p:cNvPr id="12" name="TextBox 11"/>
          <p:cNvSpPr txBox="1"/>
          <p:nvPr/>
        </p:nvSpPr>
        <p:spPr>
          <a:xfrm>
            <a:off x="1691640" y="2697480"/>
            <a:ext cx="2286000" cy="548640"/>
          </a:xfrm>
          <a:prstGeom prst="rect">
            <a:avLst/>
          </a:prstGeom>
          <a:noFill/>
        </p:spPr>
        <p:txBody>
          <a:bodyPr wrap="square" anchor="ctr" lIns="45720" rIns="45720" tIns="27432" bIns="27432">
            <a:spAutoFit/>
          </a:bodyPr>
          <a:lstStyle/>
          <a:p>
            <a:pPr algn="l"/>
            <a:r>
              <a:rPr sz="2400" b="1">
                <a:solidFill>
                  <a:srgbClr val="243B7A"/>
                </a:solidFill>
                <a:latin typeface="Calibri"/>
              </a:rPr>
              <a:t>Ask</a:t>
            </a:r>
          </a:p>
        </p:txBody>
      </p:sp>
      <p:sp>
        <p:nvSpPr>
          <p:cNvPr id="13" name="TextBox 12"/>
          <p:cNvSpPr txBox="1"/>
          <p:nvPr/>
        </p:nvSpPr>
        <p:spPr>
          <a:xfrm>
            <a:off x="822959" y="3566160"/>
            <a:ext cx="3063240" cy="1554480"/>
          </a:xfrm>
          <a:prstGeom prst="rect">
            <a:avLst/>
          </a:prstGeom>
          <a:noFill/>
        </p:spPr>
        <p:txBody>
          <a:bodyPr wrap="square" anchor="t" lIns="45720" rIns="45720" tIns="27432" bIns="27432">
            <a:spAutoFit/>
          </a:bodyPr>
          <a:lstStyle/>
          <a:p>
            <a:pPr algn="l"/>
            <a:r>
              <a:rPr sz="1700" b="0">
                <a:solidFill>
                  <a:srgbClr val="1F2937"/>
                </a:solidFill>
                <a:latin typeface="Calibri"/>
              </a:rPr>
              <a:t>One question, one answer page: the figure, a chart, a plain summary and the query behind it.</a:t>
            </a:r>
          </a:p>
        </p:txBody>
      </p:sp>
      <p:sp>
        <p:nvSpPr>
          <p:cNvPr id="14" name="Rounded Rectangle 13"/>
          <p:cNvSpPr/>
          <p:nvPr/>
        </p:nvSpPr>
        <p:spPr>
          <a:xfrm>
            <a:off x="4297679" y="2377440"/>
            <a:ext cx="3520440" cy="274320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71999" y="260604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at-white.png"/>
          <p:cNvPicPr>
            <a:picLocks noChangeAspect="1"/>
          </p:cNvPicPr>
          <p:nvPr/>
        </p:nvPicPr>
        <p:blipFill>
          <a:blip r:embed="rId4"/>
          <a:stretch>
            <a:fillRect/>
          </a:stretch>
        </p:blipFill>
        <p:spPr>
          <a:xfrm>
            <a:off x="4732934" y="2766974"/>
            <a:ext cx="409651" cy="409651"/>
          </a:xfrm>
          <a:prstGeom prst="rect">
            <a:avLst/>
          </a:prstGeom>
        </p:spPr>
      </p:pic>
      <p:sp>
        <p:nvSpPr>
          <p:cNvPr id="17" name="TextBox 16"/>
          <p:cNvSpPr txBox="1"/>
          <p:nvPr/>
        </p:nvSpPr>
        <p:spPr>
          <a:xfrm>
            <a:off x="5440679" y="2697480"/>
            <a:ext cx="2286000" cy="548640"/>
          </a:xfrm>
          <a:prstGeom prst="rect">
            <a:avLst/>
          </a:prstGeom>
          <a:noFill/>
        </p:spPr>
        <p:txBody>
          <a:bodyPr wrap="square" anchor="ctr" lIns="45720" rIns="45720" tIns="27432" bIns="27432">
            <a:spAutoFit/>
          </a:bodyPr>
          <a:lstStyle/>
          <a:p>
            <a:pPr algn="l"/>
            <a:r>
              <a:rPr sz="2400" b="1">
                <a:solidFill>
                  <a:srgbClr val="243B7A"/>
                </a:solidFill>
                <a:latin typeface="Calibri"/>
              </a:rPr>
              <a:t>Chat</a:t>
            </a:r>
          </a:p>
        </p:txBody>
      </p:sp>
      <p:sp>
        <p:nvSpPr>
          <p:cNvPr id="18" name="TextBox 17"/>
          <p:cNvSpPr txBox="1"/>
          <p:nvPr/>
        </p:nvSpPr>
        <p:spPr>
          <a:xfrm>
            <a:off x="4571999" y="3566160"/>
            <a:ext cx="3063240" cy="1554480"/>
          </a:xfrm>
          <a:prstGeom prst="rect">
            <a:avLst/>
          </a:prstGeom>
          <a:noFill/>
        </p:spPr>
        <p:txBody>
          <a:bodyPr wrap="square" anchor="t" lIns="45720" rIns="45720" tIns="27432" bIns="27432">
            <a:spAutoFit/>
          </a:bodyPr>
          <a:lstStyle/>
          <a:p>
            <a:pPr algn="l"/>
            <a:r>
              <a:rPr sz="1700" b="0">
                <a:solidFill>
                  <a:srgbClr val="1F2937"/>
                </a:solidFill>
                <a:latin typeface="Calibri"/>
              </a:rPr>
              <a:t>A conversation that can look up figures and rules as it goes, and take follow-up questions.</a:t>
            </a:r>
          </a:p>
        </p:txBody>
      </p:sp>
      <p:sp>
        <p:nvSpPr>
          <p:cNvPr id="19" name="Rounded Rectangle 18"/>
          <p:cNvSpPr/>
          <p:nvPr/>
        </p:nvSpPr>
        <p:spPr>
          <a:xfrm>
            <a:off x="8046719" y="2377440"/>
            <a:ext cx="3520440" cy="274320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21040" y="260604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books-white.png"/>
          <p:cNvPicPr>
            <a:picLocks noChangeAspect="1"/>
          </p:cNvPicPr>
          <p:nvPr/>
        </p:nvPicPr>
        <p:blipFill>
          <a:blip r:embed="rId5"/>
          <a:stretch>
            <a:fillRect/>
          </a:stretch>
        </p:blipFill>
        <p:spPr>
          <a:xfrm>
            <a:off x="8481974" y="2766974"/>
            <a:ext cx="409651" cy="409651"/>
          </a:xfrm>
          <a:prstGeom prst="rect">
            <a:avLst/>
          </a:prstGeom>
        </p:spPr>
      </p:pic>
      <p:sp>
        <p:nvSpPr>
          <p:cNvPr id="22" name="TextBox 21"/>
          <p:cNvSpPr txBox="1"/>
          <p:nvPr/>
        </p:nvSpPr>
        <p:spPr>
          <a:xfrm>
            <a:off x="9189719" y="2697480"/>
            <a:ext cx="2286000" cy="548640"/>
          </a:xfrm>
          <a:prstGeom prst="rect">
            <a:avLst/>
          </a:prstGeom>
          <a:noFill/>
        </p:spPr>
        <p:txBody>
          <a:bodyPr wrap="square" anchor="ctr" lIns="45720" rIns="45720" tIns="27432" bIns="27432">
            <a:spAutoFit/>
          </a:bodyPr>
          <a:lstStyle/>
          <a:p>
            <a:pPr algn="l"/>
            <a:r>
              <a:rPr sz="2400" b="1">
                <a:solidFill>
                  <a:srgbClr val="243B7A"/>
                </a:solidFill>
                <a:latin typeface="Calibri"/>
              </a:rPr>
              <a:t>Knowledge library</a:t>
            </a:r>
          </a:p>
        </p:txBody>
      </p:sp>
      <p:sp>
        <p:nvSpPr>
          <p:cNvPr id="23" name="TextBox 22"/>
          <p:cNvSpPr txBox="1"/>
          <p:nvPr/>
        </p:nvSpPr>
        <p:spPr>
          <a:xfrm>
            <a:off x="8321040" y="3566160"/>
            <a:ext cx="3063240" cy="1554480"/>
          </a:xfrm>
          <a:prstGeom prst="rect">
            <a:avLst/>
          </a:prstGeom>
          <a:noFill/>
        </p:spPr>
        <p:txBody>
          <a:bodyPr wrap="square" anchor="t" lIns="45720" rIns="45720" tIns="27432" bIns="27432">
            <a:spAutoFit/>
          </a:bodyPr>
          <a:lstStyle/>
          <a:p>
            <a:pPr algn="l"/>
            <a:r>
              <a:rPr sz="1700" b="0">
                <a:solidFill>
                  <a:srgbClr val="1F2937"/>
                </a:solidFill>
                <a:latin typeface="Calibri"/>
              </a:rPr>
              <a:t>Excise acts, rules and policy orders, searchable in the same chat.</a:t>
            </a:r>
          </a:p>
        </p:txBody>
      </p:sp>
      <p:sp>
        <p:nvSpPr>
          <p:cNvPr id="24" name="TextBox 23"/>
          <p:cNvSpPr txBox="1"/>
          <p:nvPr/>
        </p:nvSpPr>
        <p:spPr>
          <a:xfrm>
            <a:off x="548640" y="5440680"/>
            <a:ext cx="11064240" cy="731520"/>
          </a:xfrm>
          <a:prstGeom prst="rect">
            <a:avLst/>
          </a:prstGeom>
          <a:noFill/>
        </p:spPr>
        <p:txBody>
          <a:bodyPr wrap="square" anchor="t" lIns="45720" rIns="45720" tIns="27432" bIns="27432">
            <a:spAutoFit/>
          </a:bodyPr>
          <a:lstStyle/>
          <a:p>
            <a:pPr algn="l"/>
            <a:r>
              <a:rPr sz="2000" b="1">
                <a:solidFill>
                  <a:srgbClr val="243B7A"/>
                </a:solidFill>
                <a:latin typeface="Calibri"/>
              </a:rPr>
              <a:t>It runs on a server in the department's own office. No question and no figure is sent to an outside AI service.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How an answer is made</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4</a:t>
            </a:r>
          </a:p>
        </p:txBody>
      </p:sp>
      <p:sp>
        <p:nvSpPr>
          <p:cNvPr id="8" name="Rounded Rectangle 7"/>
          <p:cNvSpPr/>
          <p:nvPr/>
        </p:nvSpPr>
        <p:spPr>
          <a:xfrm>
            <a:off x="502920" y="1554480"/>
            <a:ext cx="2514600" cy="33832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89888" y="1783080"/>
            <a:ext cx="777240" cy="77724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uestion-white.png"/>
          <p:cNvPicPr>
            <a:picLocks noChangeAspect="1"/>
          </p:cNvPicPr>
          <p:nvPr/>
        </p:nvPicPr>
        <p:blipFill>
          <a:blip r:embed="rId3"/>
          <a:stretch>
            <a:fillRect/>
          </a:stretch>
        </p:blipFill>
        <p:spPr>
          <a:xfrm>
            <a:off x="1560880" y="1954072"/>
            <a:ext cx="435254" cy="435254"/>
          </a:xfrm>
          <a:prstGeom prst="rect">
            <a:avLst/>
          </a:prstGeom>
        </p:spPr>
      </p:pic>
      <p:sp>
        <p:nvSpPr>
          <p:cNvPr id="11" name="TextBox 10"/>
          <p:cNvSpPr txBox="1"/>
          <p:nvPr/>
        </p:nvSpPr>
        <p:spPr>
          <a:xfrm>
            <a:off x="594360" y="2697480"/>
            <a:ext cx="2331720" cy="548640"/>
          </a:xfrm>
          <a:prstGeom prst="rect">
            <a:avLst/>
          </a:prstGeom>
          <a:noFill/>
        </p:spPr>
        <p:txBody>
          <a:bodyPr wrap="square" anchor="t" lIns="45720" rIns="45720" tIns="27432" bIns="27432">
            <a:spAutoFit/>
          </a:bodyPr>
          <a:lstStyle/>
          <a:p>
            <a:pPr algn="ctr"/>
            <a:r>
              <a:rPr sz="1900" b="1">
                <a:solidFill>
                  <a:srgbClr val="243B7A"/>
                </a:solidFill>
                <a:latin typeface="Calibri"/>
              </a:rPr>
              <a:t>1  You ask</a:t>
            </a:r>
          </a:p>
        </p:txBody>
      </p:sp>
      <p:sp>
        <p:nvSpPr>
          <p:cNvPr id="12" name="TextBox 11"/>
          <p:cNvSpPr txBox="1"/>
          <p:nvPr/>
        </p:nvSpPr>
        <p:spPr>
          <a:xfrm>
            <a:off x="640080" y="3291840"/>
            <a:ext cx="2240280" cy="1554480"/>
          </a:xfrm>
          <a:prstGeom prst="rect">
            <a:avLst/>
          </a:prstGeom>
          <a:noFill/>
        </p:spPr>
        <p:txBody>
          <a:bodyPr wrap="square" anchor="t" lIns="45720" rIns="45720" tIns="27432" bIns="27432">
            <a:spAutoFit/>
          </a:bodyPr>
          <a:lstStyle/>
          <a:p>
            <a:pPr algn="ctr"/>
            <a:r>
              <a:rPr sz="1600" b="0">
                <a:solidFill>
                  <a:srgbClr val="1F2937"/>
                </a:solidFill>
                <a:latin typeface="Calibri"/>
              </a:rPr>
              <a:t>Type the question the way you would put it to a colleague.</a:t>
            </a:r>
          </a:p>
        </p:txBody>
      </p:sp>
      <p:sp>
        <p:nvSpPr>
          <p:cNvPr id="13" name="Right Arrow 12"/>
          <p:cNvSpPr/>
          <p:nvPr/>
        </p:nvSpPr>
        <p:spPr>
          <a:xfrm>
            <a:off x="3044952" y="3063240"/>
            <a:ext cx="347472" cy="365760"/>
          </a:xfrm>
          <a:prstGeom prst="rightArrow">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9000" y="1554480"/>
            <a:ext cx="2514600" cy="33832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15968" y="1783080"/>
            <a:ext cx="777240" cy="77724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rain-white.png"/>
          <p:cNvPicPr>
            <a:picLocks noChangeAspect="1"/>
          </p:cNvPicPr>
          <p:nvPr/>
        </p:nvPicPr>
        <p:blipFill>
          <a:blip r:embed="rId4"/>
          <a:stretch>
            <a:fillRect/>
          </a:stretch>
        </p:blipFill>
        <p:spPr>
          <a:xfrm>
            <a:off x="4486960" y="1954072"/>
            <a:ext cx="435254" cy="435254"/>
          </a:xfrm>
          <a:prstGeom prst="rect">
            <a:avLst/>
          </a:prstGeom>
        </p:spPr>
      </p:pic>
      <p:sp>
        <p:nvSpPr>
          <p:cNvPr id="17" name="TextBox 16"/>
          <p:cNvSpPr txBox="1"/>
          <p:nvPr/>
        </p:nvSpPr>
        <p:spPr>
          <a:xfrm>
            <a:off x="3520440" y="2697480"/>
            <a:ext cx="2331720" cy="548640"/>
          </a:xfrm>
          <a:prstGeom prst="rect">
            <a:avLst/>
          </a:prstGeom>
          <a:noFill/>
        </p:spPr>
        <p:txBody>
          <a:bodyPr wrap="square" anchor="t" lIns="45720" rIns="45720" tIns="27432" bIns="27432">
            <a:spAutoFit/>
          </a:bodyPr>
          <a:lstStyle/>
          <a:p>
            <a:pPr algn="ctr"/>
            <a:r>
              <a:rPr sz="1900" b="1">
                <a:solidFill>
                  <a:srgbClr val="243B7A"/>
                </a:solidFill>
                <a:latin typeface="Calibri"/>
              </a:rPr>
              <a:t>2  The system understands</a:t>
            </a:r>
          </a:p>
        </p:txBody>
      </p:sp>
      <p:sp>
        <p:nvSpPr>
          <p:cNvPr id="18" name="TextBox 17"/>
          <p:cNvSpPr txBox="1"/>
          <p:nvPr/>
        </p:nvSpPr>
        <p:spPr>
          <a:xfrm>
            <a:off x="3566160" y="3291840"/>
            <a:ext cx="2240280" cy="1554480"/>
          </a:xfrm>
          <a:prstGeom prst="rect">
            <a:avLst/>
          </a:prstGeom>
          <a:noFill/>
        </p:spPr>
        <p:txBody>
          <a:bodyPr wrap="square" anchor="t" lIns="45720" rIns="45720" tIns="27432" bIns="27432">
            <a:spAutoFit/>
          </a:bodyPr>
          <a:lstStyle/>
          <a:p>
            <a:pPr algn="ctr"/>
            <a:r>
              <a:rPr sz="1600" b="0">
                <a:solidFill>
                  <a:srgbClr val="1F2937"/>
                </a:solidFill>
                <a:latin typeface="Calibri"/>
              </a:rPr>
              <a:t>An AI model turns the question into a precise search of the data.</a:t>
            </a:r>
          </a:p>
        </p:txBody>
      </p:sp>
      <p:sp>
        <p:nvSpPr>
          <p:cNvPr id="19" name="Right Arrow 18"/>
          <p:cNvSpPr/>
          <p:nvPr/>
        </p:nvSpPr>
        <p:spPr>
          <a:xfrm>
            <a:off x="5971031" y="3063240"/>
            <a:ext cx="347472" cy="365760"/>
          </a:xfrm>
          <a:prstGeom prst="rightArrow">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55080" y="1554480"/>
            <a:ext cx="2514600" cy="33832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242048" y="1783080"/>
            <a:ext cx="777240" cy="77724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database-white.png"/>
          <p:cNvPicPr>
            <a:picLocks noChangeAspect="1"/>
          </p:cNvPicPr>
          <p:nvPr/>
        </p:nvPicPr>
        <p:blipFill>
          <a:blip r:embed="rId5"/>
          <a:stretch>
            <a:fillRect/>
          </a:stretch>
        </p:blipFill>
        <p:spPr>
          <a:xfrm>
            <a:off x="7413040" y="1954072"/>
            <a:ext cx="435254" cy="435254"/>
          </a:xfrm>
          <a:prstGeom prst="rect">
            <a:avLst/>
          </a:prstGeom>
        </p:spPr>
      </p:pic>
      <p:sp>
        <p:nvSpPr>
          <p:cNvPr id="23" name="TextBox 22"/>
          <p:cNvSpPr txBox="1"/>
          <p:nvPr/>
        </p:nvSpPr>
        <p:spPr>
          <a:xfrm>
            <a:off x="6446520" y="2697480"/>
            <a:ext cx="2331720" cy="548640"/>
          </a:xfrm>
          <a:prstGeom prst="rect">
            <a:avLst/>
          </a:prstGeom>
          <a:noFill/>
        </p:spPr>
        <p:txBody>
          <a:bodyPr wrap="square" anchor="t" lIns="45720" rIns="45720" tIns="27432" bIns="27432">
            <a:spAutoFit/>
          </a:bodyPr>
          <a:lstStyle/>
          <a:p>
            <a:pPr algn="ctr"/>
            <a:r>
              <a:rPr sz="1900" b="1">
                <a:solidFill>
                  <a:srgbClr val="243B7A"/>
                </a:solidFill>
                <a:latin typeface="Calibri"/>
              </a:rPr>
              <a:t>3  The data answers</a:t>
            </a:r>
          </a:p>
        </p:txBody>
      </p:sp>
      <p:sp>
        <p:nvSpPr>
          <p:cNvPr id="24" name="TextBox 23"/>
          <p:cNvSpPr txBox="1"/>
          <p:nvPr/>
        </p:nvSpPr>
        <p:spPr>
          <a:xfrm>
            <a:off x="6492240" y="3291840"/>
            <a:ext cx="2240280" cy="1554480"/>
          </a:xfrm>
          <a:prstGeom prst="rect">
            <a:avLst/>
          </a:prstGeom>
          <a:noFill/>
        </p:spPr>
        <p:txBody>
          <a:bodyPr wrap="square" anchor="t" lIns="45720" rIns="45720" tIns="27432" bIns="27432">
            <a:spAutoFit/>
          </a:bodyPr>
          <a:lstStyle/>
          <a:p>
            <a:pPr algn="ctr"/>
            <a:r>
              <a:rPr sz="1600" b="0">
                <a:solidFill>
                  <a:srgbClr val="1F2937"/>
                </a:solidFill>
                <a:latin typeface="Calibri"/>
              </a:rPr>
              <a:t>The search runs against the department's data bank, read-only.</a:t>
            </a:r>
          </a:p>
        </p:txBody>
      </p:sp>
      <p:sp>
        <p:nvSpPr>
          <p:cNvPr id="25" name="Right Arrow 24"/>
          <p:cNvSpPr/>
          <p:nvPr/>
        </p:nvSpPr>
        <p:spPr>
          <a:xfrm>
            <a:off x="8897112" y="3063240"/>
            <a:ext cx="347472" cy="365760"/>
          </a:xfrm>
          <a:prstGeom prst="rightArrow">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281160" y="1554480"/>
            <a:ext cx="2514600" cy="33832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168128" y="1783080"/>
            <a:ext cx="777240" cy="77724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hart-white.png"/>
          <p:cNvPicPr>
            <a:picLocks noChangeAspect="1"/>
          </p:cNvPicPr>
          <p:nvPr/>
        </p:nvPicPr>
        <p:blipFill>
          <a:blip r:embed="rId6"/>
          <a:stretch>
            <a:fillRect/>
          </a:stretch>
        </p:blipFill>
        <p:spPr>
          <a:xfrm>
            <a:off x="10339120" y="1954072"/>
            <a:ext cx="435254" cy="435254"/>
          </a:xfrm>
          <a:prstGeom prst="rect">
            <a:avLst/>
          </a:prstGeom>
        </p:spPr>
      </p:pic>
      <p:sp>
        <p:nvSpPr>
          <p:cNvPr id="29" name="TextBox 28"/>
          <p:cNvSpPr txBox="1"/>
          <p:nvPr/>
        </p:nvSpPr>
        <p:spPr>
          <a:xfrm>
            <a:off x="9372600" y="2697480"/>
            <a:ext cx="2331720" cy="548640"/>
          </a:xfrm>
          <a:prstGeom prst="rect">
            <a:avLst/>
          </a:prstGeom>
          <a:noFill/>
        </p:spPr>
        <p:txBody>
          <a:bodyPr wrap="square" anchor="t" lIns="45720" rIns="45720" tIns="27432" bIns="27432">
            <a:spAutoFit/>
          </a:bodyPr>
          <a:lstStyle/>
          <a:p>
            <a:pPr algn="ctr"/>
            <a:r>
              <a:rPr sz="1900" b="1">
                <a:solidFill>
                  <a:srgbClr val="243B7A"/>
                </a:solidFill>
                <a:latin typeface="Calibri"/>
              </a:rPr>
              <a:t>4  You see the result</a:t>
            </a:r>
          </a:p>
        </p:txBody>
      </p:sp>
      <p:sp>
        <p:nvSpPr>
          <p:cNvPr id="30" name="TextBox 29"/>
          <p:cNvSpPr txBox="1"/>
          <p:nvPr/>
        </p:nvSpPr>
        <p:spPr>
          <a:xfrm>
            <a:off x="9418320" y="3291840"/>
            <a:ext cx="2240280" cy="1554480"/>
          </a:xfrm>
          <a:prstGeom prst="rect">
            <a:avLst/>
          </a:prstGeom>
          <a:noFill/>
        </p:spPr>
        <p:txBody>
          <a:bodyPr wrap="square" anchor="t" lIns="45720" rIns="45720" tIns="27432" bIns="27432">
            <a:spAutoFit/>
          </a:bodyPr>
          <a:lstStyle/>
          <a:p>
            <a:pPr algn="ctr"/>
            <a:r>
              <a:rPr sz="1600" b="0">
                <a:solidFill>
                  <a:srgbClr val="1F2937"/>
                </a:solidFill>
                <a:latin typeface="Calibri"/>
              </a:rPr>
              <a:t>A figure, a chart, a short summary and the exact query used.</a:t>
            </a:r>
          </a:p>
        </p:txBody>
      </p:sp>
      <p:sp>
        <p:nvSpPr>
          <p:cNvPr id="31" name="Rounded Rectangle 30"/>
          <p:cNvSpPr/>
          <p:nvPr/>
        </p:nvSpPr>
        <p:spPr>
          <a:xfrm>
            <a:off x="502920" y="5257800"/>
            <a:ext cx="11155680" cy="960120"/>
          </a:xfrm>
          <a:prstGeom prst="roundRect">
            <a:avLst>
              <a:gd name="adj" fmla="val 8000"/>
            </a:avLst>
          </a:prstGeom>
          <a:solidFill>
            <a:srgbClr val="FFF3C4"/>
          </a:solidFill>
          <a:ln w="15875">
            <a:solidFill>
              <a:srgbClr val="E0B1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303520"/>
            <a:ext cx="10698480" cy="868680"/>
          </a:xfrm>
          <a:prstGeom prst="rect">
            <a:avLst/>
          </a:prstGeom>
          <a:noFill/>
        </p:spPr>
        <p:txBody>
          <a:bodyPr wrap="square" anchor="ctr" lIns="45720" rIns="45720" tIns="27432" bIns="27432">
            <a:spAutoFit/>
          </a:bodyPr>
          <a:lstStyle/>
          <a:p>
            <a:pPr algn="l"/>
            <a:r>
              <a:rPr sz="1900" b="1">
                <a:solidFill>
                  <a:srgbClr val="243B7A"/>
                </a:solidFill>
                <a:latin typeface="Calibri"/>
              </a:rPr>
              <a:t>Every answer shows its working. The query is visible and can be copied, so an officer or an auditor can check where a number came from.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Live example: how many shops, and of which kind?</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5</a:t>
            </a:r>
          </a:p>
        </p:txBody>
      </p:sp>
      <p:sp>
        <p:nvSpPr>
          <p:cNvPr id="8" name="TextBox 7"/>
          <p:cNvSpPr txBox="1"/>
          <p:nvPr/>
        </p:nvSpPr>
        <p:spPr>
          <a:xfrm>
            <a:off x="548640" y="1143000"/>
            <a:ext cx="3931920" cy="822960"/>
          </a:xfrm>
          <a:prstGeom prst="rect">
            <a:avLst/>
          </a:prstGeom>
          <a:noFill/>
        </p:spPr>
        <p:txBody>
          <a:bodyPr wrap="square" anchor="t" lIns="45720" rIns="45720" tIns="27432" bIns="27432">
            <a:spAutoFit/>
          </a:bodyPr>
          <a:lstStyle/>
          <a:p>
            <a:pPr algn="l"/>
            <a:r>
              <a:rPr sz="1800" b="1">
                <a:solidFill>
                  <a:srgbClr val="243B7A"/>
                </a:solidFill>
                <a:latin typeface="Calibri"/>
              </a:rPr>
              <a:t>"How many country liquor and composite shops are in Lucknow in August 2026?"</a:t>
            </a:r>
          </a:p>
        </p:txBody>
      </p:sp>
      <p:sp>
        <p:nvSpPr>
          <p:cNvPr id="9" name="TextBox 8"/>
          <p:cNvSpPr txBox="1"/>
          <p:nvPr/>
        </p:nvSpPr>
        <p:spPr>
          <a:xfrm>
            <a:off x="548640" y="2148840"/>
            <a:ext cx="3931920" cy="457200"/>
          </a:xfrm>
          <a:prstGeom prst="rect">
            <a:avLst/>
          </a:prstGeom>
          <a:noFill/>
        </p:spPr>
        <p:txBody>
          <a:bodyPr wrap="square" anchor="t" lIns="45720" rIns="45720" tIns="27432" bIns="27432">
            <a:spAutoFit/>
          </a:bodyPr>
          <a:lstStyle/>
          <a:p>
            <a:pPr algn="l">
              <a:spcAft>
                <a:spcPts val="1200"/>
              </a:spcAft>
            </a:pPr>
            <a:r>
              <a:rPr sz="1600" b="0">
                <a:solidFill>
                  <a:srgbClr val="1F2937"/>
                </a:solidFill>
                <a:latin typeface="Calibri"/>
              </a:rPr>
              <a:t>Total: 1,006 shops.</a:t>
            </a:r>
          </a:p>
          <a:p>
            <a:pPr algn="l">
              <a:spcAft>
                <a:spcPts val="1200"/>
              </a:spcAft>
            </a:pPr>
            <a:r>
              <a:rPr sz="1600" b="0">
                <a:solidFill>
                  <a:srgbClr val="1F2937"/>
                </a:solidFill>
                <a:latin typeface="Calibri"/>
              </a:rPr>
              <a:t>Split: 589 country liquor and 417 composite.</a:t>
            </a:r>
          </a:p>
          <a:p>
            <a:pPr algn="l">
              <a:spcAft>
                <a:spcPts val="1200"/>
              </a:spcAft>
            </a:pPr>
            <a:r>
              <a:rPr sz="1600" b="0">
                <a:solidFill>
                  <a:srgbClr val="1F2937"/>
                </a:solidFill>
                <a:latin typeface="Calibri"/>
              </a:rPr>
              <a:t>The total is counted by the database itself, not added up by the AI.</a:t>
            </a:r>
          </a:p>
          <a:p>
            <a:pPr algn="l">
              <a:spcAft>
                <a:spcPts val="1200"/>
              </a:spcAft>
            </a:pPr>
            <a:r>
              <a:rPr sz="1600" b="0">
                <a:solidFill>
                  <a:srgbClr val="1F2937"/>
                </a:solidFill>
                <a:latin typeface="Calibri"/>
              </a:rPr>
              <a:t>Source: the monthly dispatch report from the department's IESCMS system.</a:t>
            </a:r>
          </a:p>
        </p:txBody>
      </p:sp>
      <p:sp>
        <p:nvSpPr>
          <p:cNvPr id="10" name="Rounded Rectangle 9"/>
          <p:cNvSpPr/>
          <p:nvPr/>
        </p:nvSpPr>
        <p:spPr>
          <a:xfrm>
            <a:off x="4663440" y="1143000"/>
            <a:ext cx="7040879" cy="5166359"/>
          </a:xfrm>
          <a:prstGeom prst="roundRect">
            <a:avLst>
              <a:gd name="adj" fmla="val 8000"/>
            </a:avLst>
          </a:prstGeom>
          <a:solidFill>
            <a:srgbClr val="FFFFFF"/>
          </a:solidFill>
          <a:ln w="15875">
            <a:solidFill>
              <a:srgbClr val="D5D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sk-1-view.png">
            <a:hlinkClick r:id="rId4"/>
          </p:cNvPr>
          <p:cNvPicPr>
            <a:picLocks noChangeAspect="1"/>
          </p:cNvPicPr>
          <p:nvPr/>
        </p:nvPicPr>
        <p:blipFill>
          <a:blip r:embed="rId3"/>
          <a:stretch>
            <a:fillRect/>
          </a:stretch>
        </p:blipFill>
        <p:spPr>
          <a:xfrm>
            <a:off x="5666938" y="1188720"/>
            <a:ext cx="5033882" cy="5074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Live example: revenue by district and for a product</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6</a:t>
            </a:r>
          </a:p>
        </p:txBody>
      </p:sp>
      <p:sp>
        <p:nvSpPr>
          <p:cNvPr id="8" name="Rounded Rectangle 7"/>
          <p:cNvSpPr/>
          <p:nvPr/>
        </p:nvSpPr>
        <p:spPr>
          <a:xfrm>
            <a:off x="502919" y="1737360"/>
            <a:ext cx="5577840" cy="3703320"/>
          </a:xfrm>
          <a:prstGeom prst="roundRect">
            <a:avLst>
              <a:gd name="adj" fmla="val 8000"/>
            </a:avLst>
          </a:prstGeom>
          <a:solidFill>
            <a:srgbClr val="FFFFFF"/>
          </a:solidFill>
          <a:ln w="15875">
            <a:solidFill>
              <a:srgbClr val="D5D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sk-2-view.png">
            <a:hlinkClick r:id="rId4"/>
          </p:cNvPr>
          <p:cNvPicPr>
            <a:picLocks noChangeAspect="1"/>
          </p:cNvPicPr>
          <p:nvPr/>
        </p:nvPicPr>
        <p:blipFill>
          <a:blip r:embed="rId3"/>
          <a:stretch>
            <a:fillRect/>
          </a:stretch>
        </p:blipFill>
        <p:spPr>
          <a:xfrm>
            <a:off x="864656" y="1783080"/>
            <a:ext cx="4854366" cy="3611880"/>
          </a:xfrm>
          <a:prstGeom prst="rect">
            <a:avLst/>
          </a:prstGeom>
        </p:spPr>
      </p:pic>
      <p:sp>
        <p:nvSpPr>
          <p:cNvPr id="10" name="Rounded Rectangle 9"/>
          <p:cNvSpPr/>
          <p:nvPr/>
        </p:nvSpPr>
        <p:spPr>
          <a:xfrm>
            <a:off x="6126480" y="1737360"/>
            <a:ext cx="5577840" cy="3703320"/>
          </a:xfrm>
          <a:prstGeom prst="roundRect">
            <a:avLst>
              <a:gd name="adj" fmla="val 8000"/>
            </a:avLst>
          </a:prstGeom>
          <a:solidFill>
            <a:srgbClr val="FFFFFF"/>
          </a:solidFill>
          <a:ln w="15875">
            <a:solidFill>
              <a:srgbClr val="D5D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sk-3-view.png">
            <a:hlinkClick r:id="rId6"/>
          </p:cNvPr>
          <p:cNvPicPr>
            <a:picLocks noChangeAspect="1"/>
          </p:cNvPicPr>
          <p:nvPr/>
        </p:nvPicPr>
        <p:blipFill>
          <a:blip r:embed="rId5"/>
          <a:stretch>
            <a:fillRect/>
          </a:stretch>
        </p:blipFill>
        <p:spPr>
          <a:xfrm>
            <a:off x="6488216" y="1783080"/>
            <a:ext cx="4854366" cy="3611880"/>
          </a:xfrm>
          <a:prstGeom prst="rect">
            <a:avLst/>
          </a:prstGeom>
        </p:spPr>
      </p:pic>
      <p:sp>
        <p:nvSpPr>
          <p:cNvPr id="12" name="TextBox 11"/>
          <p:cNvSpPr txBox="1"/>
          <p:nvPr/>
        </p:nvSpPr>
        <p:spPr>
          <a:xfrm>
            <a:off x="548640" y="1097280"/>
            <a:ext cx="5486400" cy="548640"/>
          </a:xfrm>
          <a:prstGeom prst="rect">
            <a:avLst/>
          </a:prstGeom>
          <a:noFill/>
        </p:spPr>
        <p:txBody>
          <a:bodyPr wrap="square" anchor="t" lIns="45720" rIns="45720" tIns="27432" bIns="27432">
            <a:spAutoFit/>
          </a:bodyPr>
          <a:lstStyle/>
          <a:p>
            <a:pPr algn="l"/>
            <a:r>
              <a:rPr sz="1500" b="1">
                <a:solidFill>
                  <a:srgbClr val="243B7A"/>
                </a:solidFill>
                <a:latin typeface="Calibri"/>
              </a:rPr>
              <a:t>"Which district generated the highest revenue in FY2025-26?"</a:t>
            </a:r>
          </a:p>
        </p:txBody>
      </p:sp>
      <p:sp>
        <p:nvSpPr>
          <p:cNvPr id="13" name="TextBox 12"/>
          <p:cNvSpPr txBox="1"/>
          <p:nvPr/>
        </p:nvSpPr>
        <p:spPr>
          <a:xfrm>
            <a:off x="6172200" y="1097280"/>
            <a:ext cx="5486400" cy="548640"/>
          </a:xfrm>
          <a:prstGeom prst="rect">
            <a:avLst/>
          </a:prstGeom>
          <a:noFill/>
        </p:spPr>
        <p:txBody>
          <a:bodyPr wrap="square" anchor="t" lIns="45720" rIns="45720" tIns="27432" bIns="27432">
            <a:spAutoFit/>
          </a:bodyPr>
          <a:lstStyle/>
          <a:p>
            <a:pPr algn="l"/>
            <a:r>
              <a:rPr sz="1500" b="1">
                <a:solidFill>
                  <a:srgbClr val="243B7A"/>
                </a:solidFill>
                <a:latin typeface="Calibri"/>
              </a:rPr>
              <a:t>"How much revenue came from beer sale across Uttar Pradesh in FY2025-26?"</a:t>
            </a:r>
          </a:p>
        </p:txBody>
      </p:sp>
      <p:sp>
        <p:nvSpPr>
          <p:cNvPr id="14" name="TextBox 13"/>
          <p:cNvSpPr txBox="1"/>
          <p:nvPr/>
        </p:nvSpPr>
        <p:spPr>
          <a:xfrm>
            <a:off x="548640" y="5577840"/>
            <a:ext cx="5486400" cy="822960"/>
          </a:xfrm>
          <a:prstGeom prst="rect">
            <a:avLst/>
          </a:prstGeom>
          <a:noFill/>
        </p:spPr>
        <p:txBody>
          <a:bodyPr wrap="square" anchor="t" lIns="45720" rIns="45720" tIns="27432" bIns="27432">
            <a:spAutoFit/>
          </a:bodyPr>
          <a:lstStyle/>
          <a:p>
            <a:pPr algn="l"/>
            <a:r>
              <a:rPr sz="1600" b="0">
                <a:solidFill>
                  <a:srgbClr val="1F2937"/>
                </a:solidFill>
                <a:latin typeface="Calibri"/>
              </a:rPr>
              <a:t>Lucknow is the highest, at ₹2,860.80 crore out of a state total of about ₹55,463 crore.</a:t>
            </a:r>
          </a:p>
        </p:txBody>
      </p:sp>
      <p:sp>
        <p:nvSpPr>
          <p:cNvPr id="15" name="TextBox 14"/>
          <p:cNvSpPr txBox="1"/>
          <p:nvPr/>
        </p:nvSpPr>
        <p:spPr>
          <a:xfrm>
            <a:off x="6172200" y="5577840"/>
            <a:ext cx="5486400" cy="822960"/>
          </a:xfrm>
          <a:prstGeom prst="rect">
            <a:avLst/>
          </a:prstGeom>
          <a:noFill/>
        </p:spPr>
        <p:txBody>
          <a:bodyPr wrap="square" anchor="t" lIns="45720" rIns="45720" tIns="27432" bIns="27432">
            <a:spAutoFit/>
          </a:bodyPr>
          <a:lstStyle/>
          <a:p>
            <a:pPr algn="l"/>
            <a:r>
              <a:rPr sz="1600" b="0">
                <a:solidFill>
                  <a:srgbClr val="1F2937"/>
                </a:solidFill>
                <a:latin typeface="Calibri"/>
              </a:rPr>
              <a:t>Beer revenue is ₹7,142.87 crore: ₹6,740.18 crore from composite shops and ₹402.69 crore from country liquor shops that also sell beer (CL5CC).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Live example: a conversation with a chart</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7</a:t>
            </a:r>
          </a:p>
        </p:txBody>
      </p:sp>
      <p:sp>
        <p:nvSpPr>
          <p:cNvPr id="8" name="TextBox 7"/>
          <p:cNvSpPr txBox="1"/>
          <p:nvPr/>
        </p:nvSpPr>
        <p:spPr>
          <a:xfrm>
            <a:off x="548640" y="1143000"/>
            <a:ext cx="3931920" cy="822960"/>
          </a:xfrm>
          <a:prstGeom prst="rect">
            <a:avLst/>
          </a:prstGeom>
          <a:noFill/>
        </p:spPr>
        <p:txBody>
          <a:bodyPr wrap="square" anchor="t" lIns="45720" rIns="45720" tIns="27432" bIns="27432">
            <a:spAutoFit/>
          </a:bodyPr>
          <a:lstStyle/>
          <a:p>
            <a:pPr algn="l"/>
            <a:r>
              <a:rPr sz="1800" b="1">
                <a:solidFill>
                  <a:srgbClr val="243B7A"/>
                </a:solidFill>
                <a:latin typeface="Calibri"/>
              </a:rPr>
              <a:t>"Which district generated the highest revenue in FY2025-26?"</a:t>
            </a:r>
          </a:p>
        </p:txBody>
      </p:sp>
      <p:sp>
        <p:nvSpPr>
          <p:cNvPr id="9" name="TextBox 8"/>
          <p:cNvSpPr txBox="1"/>
          <p:nvPr/>
        </p:nvSpPr>
        <p:spPr>
          <a:xfrm>
            <a:off x="548640" y="2148840"/>
            <a:ext cx="3931920" cy="457200"/>
          </a:xfrm>
          <a:prstGeom prst="rect">
            <a:avLst/>
          </a:prstGeom>
          <a:noFill/>
        </p:spPr>
        <p:txBody>
          <a:bodyPr wrap="square" anchor="t" lIns="45720" rIns="45720" tIns="27432" bIns="27432">
            <a:spAutoFit/>
          </a:bodyPr>
          <a:lstStyle/>
          <a:p>
            <a:pPr algn="l">
              <a:spcAft>
                <a:spcPts val="1200"/>
              </a:spcAft>
            </a:pPr>
            <a:r>
              <a:rPr sz="1600" b="0">
                <a:solidFill>
                  <a:srgbClr val="1F2937"/>
                </a:solidFill>
                <a:latin typeface="Calibri"/>
              </a:rPr>
              <a:t>The same question in Chat: the answer first, then the chart.</a:t>
            </a:r>
          </a:p>
          <a:p>
            <a:pPr algn="l">
              <a:spcAft>
                <a:spcPts val="1200"/>
              </a:spcAft>
            </a:pPr>
            <a:r>
              <a:rPr sz="1600" b="0">
                <a:solidFill>
                  <a:srgbClr val="1F2937"/>
                </a:solidFill>
                <a:latin typeface="Calibri"/>
              </a:rPr>
              <a:t>Lucknow is highest at ₹2,860.80 crore, from all 75 districts.</a:t>
            </a:r>
          </a:p>
          <a:p>
            <a:pPr algn="l">
              <a:spcAft>
                <a:spcPts val="1200"/>
              </a:spcAft>
            </a:pPr>
            <a:r>
              <a:rPr sz="1600" b="0">
                <a:solidFill>
                  <a:srgbClr val="1F2937"/>
                </a:solidFill>
                <a:latin typeface="Calibri"/>
              </a:rPr>
              <a:t>The chart downloads as PNG, SVG or PDF, and the whole conversation exports as a PDF.</a:t>
            </a:r>
          </a:p>
          <a:p>
            <a:pPr algn="l">
              <a:spcAft>
                <a:spcPts val="1200"/>
              </a:spcAft>
            </a:pPr>
            <a:r>
              <a:rPr sz="1600" b="0">
                <a:solidFill>
                  <a:srgbClr val="1F2937"/>
                </a:solidFill>
                <a:latin typeface="Calibri"/>
              </a:rPr>
              <a:t>The query behind the answer stays one click away.</a:t>
            </a:r>
          </a:p>
        </p:txBody>
      </p:sp>
      <p:sp>
        <p:nvSpPr>
          <p:cNvPr id="10" name="Rounded Rectangle 9"/>
          <p:cNvSpPr/>
          <p:nvPr/>
        </p:nvSpPr>
        <p:spPr>
          <a:xfrm>
            <a:off x="4663440" y="1143000"/>
            <a:ext cx="7040879" cy="5166359"/>
          </a:xfrm>
          <a:prstGeom prst="roundRect">
            <a:avLst>
              <a:gd name="adj" fmla="val 8000"/>
            </a:avLst>
          </a:prstGeom>
          <a:solidFill>
            <a:srgbClr val="FFFFFF"/>
          </a:solidFill>
          <a:ln w="15875">
            <a:solidFill>
              <a:srgbClr val="D5D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at-3-view.png">
            <a:hlinkClick r:id="rId4"/>
          </p:cNvPr>
          <p:cNvPicPr>
            <a:picLocks noChangeAspect="1"/>
          </p:cNvPicPr>
          <p:nvPr/>
        </p:nvPicPr>
        <p:blipFill>
          <a:blip r:embed="rId3"/>
          <a:stretch>
            <a:fillRect/>
          </a:stretch>
        </p:blipFill>
        <p:spPr>
          <a:xfrm>
            <a:off x="5297604" y="1188720"/>
            <a:ext cx="5772550" cy="5074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The data behind the answers</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8</a:t>
            </a:r>
          </a:p>
        </p:txBody>
      </p:sp>
      <p:sp>
        <p:nvSpPr>
          <p:cNvPr id="8" name="Rounded Rectangle 7"/>
          <p:cNvSpPr/>
          <p:nvPr/>
        </p:nvSpPr>
        <p:spPr>
          <a:xfrm>
            <a:off x="548640" y="1371600"/>
            <a:ext cx="3520440" cy="2011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1600200"/>
            <a:ext cx="640080" cy="64008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receipt-white.png"/>
          <p:cNvPicPr>
            <a:picLocks noChangeAspect="1"/>
          </p:cNvPicPr>
          <p:nvPr/>
        </p:nvPicPr>
        <p:blipFill>
          <a:blip r:embed="rId3"/>
          <a:stretch>
            <a:fillRect/>
          </a:stretch>
        </p:blipFill>
        <p:spPr>
          <a:xfrm>
            <a:off x="918057" y="1741017"/>
            <a:ext cx="358444" cy="358444"/>
          </a:xfrm>
          <a:prstGeom prst="rect">
            <a:avLst/>
          </a:prstGeom>
        </p:spPr>
      </p:pic>
      <p:sp>
        <p:nvSpPr>
          <p:cNvPr id="11" name="TextBox 10"/>
          <p:cNvSpPr txBox="1"/>
          <p:nvPr/>
        </p:nvSpPr>
        <p:spPr>
          <a:xfrm>
            <a:off x="1554480" y="1554480"/>
            <a:ext cx="2377440" cy="731520"/>
          </a:xfrm>
          <a:prstGeom prst="rect">
            <a:avLst/>
          </a:prstGeom>
          <a:noFill/>
        </p:spPr>
        <p:txBody>
          <a:bodyPr wrap="square" anchor="ctr" lIns="45720" rIns="45720" tIns="27432" bIns="27432">
            <a:spAutoFit/>
          </a:bodyPr>
          <a:lstStyle/>
          <a:p>
            <a:pPr algn="l"/>
            <a:r>
              <a:rPr sz="3400" b="1">
                <a:solidFill>
                  <a:srgbClr val="243B7A"/>
                </a:solidFill>
                <a:latin typeface="Calibri"/>
              </a:rPr>
              <a:t>9,322</a:t>
            </a:r>
          </a:p>
        </p:txBody>
      </p:sp>
      <p:sp>
        <p:nvSpPr>
          <p:cNvPr id="12" name="TextBox 11"/>
          <p:cNvSpPr txBox="1"/>
          <p:nvPr/>
        </p:nvSpPr>
        <p:spPr>
          <a:xfrm>
            <a:off x="777240" y="2377440"/>
            <a:ext cx="3108960" cy="914400"/>
          </a:xfrm>
          <a:prstGeom prst="rect">
            <a:avLst/>
          </a:prstGeom>
          <a:noFill/>
        </p:spPr>
        <p:txBody>
          <a:bodyPr wrap="square" anchor="t" lIns="45720" rIns="45720" tIns="27432" bIns="27432">
            <a:spAutoFit/>
          </a:bodyPr>
          <a:lstStyle/>
          <a:p>
            <a:pPr algn="l"/>
            <a:r>
              <a:rPr sz="1600" b="0">
                <a:solidFill>
                  <a:srgbClr val="1F2937"/>
                </a:solidFill>
                <a:latin typeface="Calibri"/>
              </a:rPr>
              <a:t>dispatch records, Lucknow, August 2026, from IESCMS</a:t>
            </a:r>
          </a:p>
        </p:txBody>
      </p:sp>
      <p:sp>
        <p:nvSpPr>
          <p:cNvPr id="13" name="Rounded Rectangle 12"/>
          <p:cNvSpPr/>
          <p:nvPr/>
        </p:nvSpPr>
        <p:spPr>
          <a:xfrm>
            <a:off x="4297679" y="1371600"/>
            <a:ext cx="3520440" cy="2011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26279" y="1600200"/>
            <a:ext cx="640080" cy="64008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in-white.png"/>
          <p:cNvPicPr>
            <a:picLocks noChangeAspect="1"/>
          </p:cNvPicPr>
          <p:nvPr/>
        </p:nvPicPr>
        <p:blipFill>
          <a:blip r:embed="rId4"/>
          <a:stretch>
            <a:fillRect/>
          </a:stretch>
        </p:blipFill>
        <p:spPr>
          <a:xfrm>
            <a:off x="4667097" y="1741017"/>
            <a:ext cx="358444" cy="358444"/>
          </a:xfrm>
          <a:prstGeom prst="rect">
            <a:avLst/>
          </a:prstGeom>
        </p:spPr>
      </p:pic>
      <p:sp>
        <p:nvSpPr>
          <p:cNvPr id="16" name="TextBox 15"/>
          <p:cNvSpPr txBox="1"/>
          <p:nvPr/>
        </p:nvSpPr>
        <p:spPr>
          <a:xfrm>
            <a:off x="5303519" y="1554480"/>
            <a:ext cx="2377440" cy="731520"/>
          </a:xfrm>
          <a:prstGeom prst="rect">
            <a:avLst/>
          </a:prstGeom>
          <a:noFill/>
        </p:spPr>
        <p:txBody>
          <a:bodyPr wrap="square" anchor="ctr" lIns="45720" rIns="45720" tIns="27432" bIns="27432">
            <a:spAutoFit/>
          </a:bodyPr>
          <a:lstStyle/>
          <a:p>
            <a:pPr algn="l"/>
            <a:r>
              <a:rPr sz="3400" b="1">
                <a:solidFill>
                  <a:srgbClr val="243B7A"/>
                </a:solidFill>
                <a:latin typeface="Calibri"/>
              </a:rPr>
              <a:t>28,405</a:t>
            </a:r>
          </a:p>
        </p:txBody>
      </p:sp>
      <p:sp>
        <p:nvSpPr>
          <p:cNvPr id="17" name="TextBox 16"/>
          <p:cNvSpPr txBox="1"/>
          <p:nvPr/>
        </p:nvSpPr>
        <p:spPr>
          <a:xfrm>
            <a:off x="4526279" y="2377440"/>
            <a:ext cx="3108960" cy="914400"/>
          </a:xfrm>
          <a:prstGeom prst="rect">
            <a:avLst/>
          </a:prstGeom>
          <a:noFill/>
        </p:spPr>
        <p:txBody>
          <a:bodyPr wrap="square" anchor="t" lIns="45720" rIns="45720" tIns="27432" bIns="27432">
            <a:spAutoFit/>
          </a:bodyPr>
          <a:lstStyle/>
          <a:p>
            <a:pPr algn="l"/>
            <a:r>
              <a:rPr sz="1600" b="0">
                <a:solidFill>
                  <a:srgbClr val="1F2937"/>
                </a:solidFill>
                <a:latin typeface="Calibri"/>
              </a:rPr>
              <a:t>shops with FY2025-26 revenue, across all 75 districts</a:t>
            </a:r>
          </a:p>
        </p:txBody>
      </p:sp>
      <p:sp>
        <p:nvSpPr>
          <p:cNvPr id="18" name="Rounded Rectangle 17"/>
          <p:cNvSpPr/>
          <p:nvPr/>
        </p:nvSpPr>
        <p:spPr>
          <a:xfrm>
            <a:off x="8046719" y="1371600"/>
            <a:ext cx="3520440" cy="2011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5319" y="1600200"/>
            <a:ext cx="640080" cy="64008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upee-white.png"/>
          <p:cNvPicPr>
            <a:picLocks noChangeAspect="1"/>
          </p:cNvPicPr>
          <p:nvPr/>
        </p:nvPicPr>
        <p:blipFill>
          <a:blip r:embed="rId5"/>
          <a:stretch>
            <a:fillRect/>
          </a:stretch>
        </p:blipFill>
        <p:spPr>
          <a:xfrm>
            <a:off x="8416137" y="1741017"/>
            <a:ext cx="358444" cy="358444"/>
          </a:xfrm>
          <a:prstGeom prst="rect">
            <a:avLst/>
          </a:prstGeom>
        </p:spPr>
      </p:pic>
      <p:sp>
        <p:nvSpPr>
          <p:cNvPr id="21" name="TextBox 20"/>
          <p:cNvSpPr txBox="1"/>
          <p:nvPr/>
        </p:nvSpPr>
        <p:spPr>
          <a:xfrm>
            <a:off x="9052559" y="1554480"/>
            <a:ext cx="2377440" cy="731520"/>
          </a:xfrm>
          <a:prstGeom prst="rect">
            <a:avLst/>
          </a:prstGeom>
          <a:noFill/>
        </p:spPr>
        <p:txBody>
          <a:bodyPr wrap="square" anchor="ctr" lIns="45720" rIns="45720" tIns="27432" bIns="27432">
            <a:spAutoFit/>
          </a:bodyPr>
          <a:lstStyle/>
          <a:p>
            <a:pPr algn="l"/>
            <a:r>
              <a:rPr sz="3400" b="1">
                <a:solidFill>
                  <a:srgbClr val="243B7A"/>
                </a:solidFill>
                <a:latin typeface="Calibri"/>
              </a:rPr>
              <a:t>3,455</a:t>
            </a:r>
          </a:p>
        </p:txBody>
      </p:sp>
      <p:sp>
        <p:nvSpPr>
          <p:cNvPr id="22" name="TextBox 21"/>
          <p:cNvSpPr txBox="1"/>
          <p:nvPr/>
        </p:nvSpPr>
        <p:spPr>
          <a:xfrm>
            <a:off x="8275319" y="2377440"/>
            <a:ext cx="3108960" cy="914400"/>
          </a:xfrm>
          <a:prstGeom prst="rect">
            <a:avLst/>
          </a:prstGeom>
          <a:noFill/>
        </p:spPr>
        <p:txBody>
          <a:bodyPr wrap="square" anchor="t" lIns="45720" rIns="45720" tIns="27432" bIns="27432">
            <a:spAutoFit/>
          </a:bodyPr>
          <a:lstStyle/>
          <a:p>
            <a:pPr algn="l"/>
            <a:r>
              <a:rPr sz="1600" b="0">
                <a:solidFill>
                  <a:srgbClr val="1F2937"/>
                </a:solidFill>
                <a:latin typeface="Calibri"/>
              </a:rPr>
              <a:t>district revenue records from the NITI workbooks</a:t>
            </a:r>
          </a:p>
        </p:txBody>
      </p:sp>
      <p:sp>
        <p:nvSpPr>
          <p:cNvPr id="23" name="Rounded Rectangle 22"/>
          <p:cNvSpPr/>
          <p:nvPr/>
        </p:nvSpPr>
        <p:spPr>
          <a:xfrm>
            <a:off x="548640" y="3611880"/>
            <a:ext cx="3520440" cy="2011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7240" y="3840480"/>
            <a:ext cx="640080" cy="64008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art-white.png"/>
          <p:cNvPicPr>
            <a:picLocks noChangeAspect="1"/>
          </p:cNvPicPr>
          <p:nvPr/>
        </p:nvPicPr>
        <p:blipFill>
          <a:blip r:embed="rId6"/>
          <a:stretch>
            <a:fillRect/>
          </a:stretch>
        </p:blipFill>
        <p:spPr>
          <a:xfrm>
            <a:off x="918057" y="3981297"/>
            <a:ext cx="358444" cy="358444"/>
          </a:xfrm>
          <a:prstGeom prst="rect">
            <a:avLst/>
          </a:prstGeom>
        </p:spPr>
      </p:pic>
      <p:sp>
        <p:nvSpPr>
          <p:cNvPr id="26" name="TextBox 25"/>
          <p:cNvSpPr txBox="1"/>
          <p:nvPr/>
        </p:nvSpPr>
        <p:spPr>
          <a:xfrm>
            <a:off x="1554480" y="3794760"/>
            <a:ext cx="2377440" cy="731520"/>
          </a:xfrm>
          <a:prstGeom prst="rect">
            <a:avLst/>
          </a:prstGeom>
          <a:noFill/>
        </p:spPr>
        <p:txBody>
          <a:bodyPr wrap="square" anchor="ctr" lIns="45720" rIns="45720" tIns="27432" bIns="27432">
            <a:spAutoFit/>
          </a:bodyPr>
          <a:lstStyle/>
          <a:p>
            <a:pPr algn="l"/>
            <a:r>
              <a:rPr sz="3400" b="1">
                <a:solidFill>
                  <a:srgbClr val="243B7A"/>
                </a:solidFill>
                <a:latin typeface="Calibri"/>
              </a:rPr>
              <a:t>3,812</a:t>
            </a:r>
          </a:p>
        </p:txBody>
      </p:sp>
      <p:sp>
        <p:nvSpPr>
          <p:cNvPr id="27" name="TextBox 26"/>
          <p:cNvSpPr txBox="1"/>
          <p:nvPr/>
        </p:nvSpPr>
        <p:spPr>
          <a:xfrm>
            <a:off x="777240" y="4617720"/>
            <a:ext cx="3108960" cy="914400"/>
          </a:xfrm>
          <a:prstGeom prst="rect">
            <a:avLst/>
          </a:prstGeom>
          <a:noFill/>
        </p:spPr>
        <p:txBody>
          <a:bodyPr wrap="square" anchor="t" lIns="45720" rIns="45720" tIns="27432" bIns="27432">
            <a:spAutoFit/>
          </a:bodyPr>
          <a:lstStyle/>
          <a:p>
            <a:pPr algn="l"/>
            <a:r>
              <a:rPr sz="1600" b="0">
                <a:solidFill>
                  <a:srgbClr val="1F2937"/>
                </a:solidFill>
                <a:latin typeface="Calibri"/>
              </a:rPr>
              <a:t>sales-volume records by liquor type and year</a:t>
            </a:r>
          </a:p>
        </p:txBody>
      </p:sp>
      <p:sp>
        <p:nvSpPr>
          <p:cNvPr id="28" name="Rounded Rectangle 27"/>
          <p:cNvSpPr/>
          <p:nvPr/>
        </p:nvSpPr>
        <p:spPr>
          <a:xfrm>
            <a:off x="4297679" y="3611880"/>
            <a:ext cx="3520440" cy="2011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526279" y="3840480"/>
            <a:ext cx="640080" cy="64008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shield-white.png"/>
          <p:cNvPicPr>
            <a:picLocks noChangeAspect="1"/>
          </p:cNvPicPr>
          <p:nvPr/>
        </p:nvPicPr>
        <p:blipFill>
          <a:blip r:embed="rId7"/>
          <a:stretch>
            <a:fillRect/>
          </a:stretch>
        </p:blipFill>
        <p:spPr>
          <a:xfrm>
            <a:off x="4667097" y="3981297"/>
            <a:ext cx="358444" cy="358444"/>
          </a:xfrm>
          <a:prstGeom prst="rect">
            <a:avLst/>
          </a:prstGeom>
        </p:spPr>
      </p:pic>
      <p:sp>
        <p:nvSpPr>
          <p:cNvPr id="31" name="TextBox 30"/>
          <p:cNvSpPr txBox="1"/>
          <p:nvPr/>
        </p:nvSpPr>
        <p:spPr>
          <a:xfrm>
            <a:off x="5303519" y="3794760"/>
            <a:ext cx="2377440" cy="731520"/>
          </a:xfrm>
          <a:prstGeom prst="rect">
            <a:avLst/>
          </a:prstGeom>
          <a:noFill/>
        </p:spPr>
        <p:txBody>
          <a:bodyPr wrap="square" anchor="ctr" lIns="45720" rIns="45720" tIns="27432" bIns="27432">
            <a:spAutoFit/>
          </a:bodyPr>
          <a:lstStyle/>
          <a:p>
            <a:pPr algn="l"/>
            <a:r>
              <a:rPr sz="3400" b="1">
                <a:solidFill>
                  <a:srgbClr val="243B7A"/>
                </a:solidFill>
                <a:latin typeface="Calibri"/>
              </a:rPr>
              <a:t>11,124</a:t>
            </a:r>
          </a:p>
        </p:txBody>
      </p:sp>
      <p:sp>
        <p:nvSpPr>
          <p:cNvPr id="32" name="TextBox 31"/>
          <p:cNvSpPr txBox="1"/>
          <p:nvPr/>
        </p:nvSpPr>
        <p:spPr>
          <a:xfrm>
            <a:off x="4526279" y="4617720"/>
            <a:ext cx="3108960" cy="914400"/>
          </a:xfrm>
          <a:prstGeom prst="rect">
            <a:avLst/>
          </a:prstGeom>
          <a:noFill/>
        </p:spPr>
        <p:txBody>
          <a:bodyPr wrap="square" anchor="t" lIns="45720" rIns="45720" tIns="27432" bIns="27432">
            <a:spAutoFit/>
          </a:bodyPr>
          <a:lstStyle/>
          <a:p>
            <a:pPr algn="l"/>
            <a:r>
              <a:rPr sz="1600" b="0">
                <a:solidFill>
                  <a:srgbClr val="1F2937"/>
                </a:solidFill>
                <a:latin typeface="Calibri"/>
              </a:rPr>
              <a:t>enforcement records: raids, seizures, convictions</a:t>
            </a:r>
          </a:p>
        </p:txBody>
      </p:sp>
      <p:sp>
        <p:nvSpPr>
          <p:cNvPr id="33" name="Rounded Rectangle 32"/>
          <p:cNvSpPr/>
          <p:nvPr/>
        </p:nvSpPr>
        <p:spPr>
          <a:xfrm>
            <a:off x="8046719" y="3611880"/>
            <a:ext cx="3520440" cy="2011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75319" y="3840480"/>
            <a:ext cx="640080" cy="64008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books-white.png"/>
          <p:cNvPicPr>
            <a:picLocks noChangeAspect="1"/>
          </p:cNvPicPr>
          <p:nvPr/>
        </p:nvPicPr>
        <p:blipFill>
          <a:blip r:embed="rId8"/>
          <a:stretch>
            <a:fillRect/>
          </a:stretch>
        </p:blipFill>
        <p:spPr>
          <a:xfrm>
            <a:off x="8416137" y="3981297"/>
            <a:ext cx="358444" cy="358444"/>
          </a:xfrm>
          <a:prstGeom prst="rect">
            <a:avLst/>
          </a:prstGeom>
        </p:spPr>
      </p:pic>
      <p:sp>
        <p:nvSpPr>
          <p:cNvPr id="36" name="TextBox 35"/>
          <p:cNvSpPr txBox="1"/>
          <p:nvPr/>
        </p:nvSpPr>
        <p:spPr>
          <a:xfrm>
            <a:off x="9052559" y="3794760"/>
            <a:ext cx="2377440" cy="731520"/>
          </a:xfrm>
          <a:prstGeom prst="rect">
            <a:avLst/>
          </a:prstGeom>
          <a:noFill/>
        </p:spPr>
        <p:txBody>
          <a:bodyPr wrap="square" anchor="ctr" lIns="45720" rIns="45720" tIns="27432" bIns="27432">
            <a:spAutoFit/>
          </a:bodyPr>
          <a:lstStyle/>
          <a:p>
            <a:pPr algn="l"/>
            <a:r>
              <a:rPr sz="3400" b="1">
                <a:solidFill>
                  <a:srgbClr val="243B7A"/>
                </a:solidFill>
                <a:latin typeface="Calibri"/>
              </a:rPr>
              <a:t>330+</a:t>
            </a:r>
          </a:p>
        </p:txBody>
      </p:sp>
      <p:sp>
        <p:nvSpPr>
          <p:cNvPr id="37" name="TextBox 36"/>
          <p:cNvSpPr txBox="1"/>
          <p:nvPr/>
        </p:nvSpPr>
        <p:spPr>
          <a:xfrm>
            <a:off x="8275319" y="4617720"/>
            <a:ext cx="3108960" cy="914400"/>
          </a:xfrm>
          <a:prstGeom prst="rect">
            <a:avLst/>
          </a:prstGeom>
          <a:noFill/>
        </p:spPr>
        <p:txBody>
          <a:bodyPr wrap="square" anchor="t" lIns="45720" rIns="45720" tIns="27432" bIns="27432">
            <a:spAutoFit/>
          </a:bodyPr>
          <a:lstStyle/>
          <a:p>
            <a:pPr algn="l"/>
            <a:r>
              <a:rPr sz="1600" b="0">
                <a:solidFill>
                  <a:srgbClr val="1F2937"/>
                </a:solidFill>
                <a:latin typeface="Calibri"/>
              </a:rPr>
              <a:t>acts, rules and policy documents in the knowledge library</a:t>
            </a:r>
          </a:p>
        </p:txBody>
      </p:sp>
      <p:sp>
        <p:nvSpPr>
          <p:cNvPr id="38" name="TextBox 37"/>
          <p:cNvSpPr txBox="1"/>
          <p:nvPr/>
        </p:nvSpPr>
        <p:spPr>
          <a:xfrm>
            <a:off x="548640" y="5897880"/>
            <a:ext cx="11064240" cy="457200"/>
          </a:xfrm>
          <a:prstGeom prst="rect">
            <a:avLst/>
          </a:prstGeom>
          <a:noFill/>
        </p:spPr>
        <p:txBody>
          <a:bodyPr wrap="square" anchor="t" lIns="45720" rIns="45720" tIns="27432" bIns="27432">
            <a:spAutoFit/>
          </a:bodyPr>
          <a:lstStyle/>
          <a:p>
            <a:pPr algn="l"/>
            <a:r>
              <a:rPr sz="1600" b="1">
                <a:solidFill>
                  <a:srgbClr val="243B7A"/>
                </a:solidFill>
                <a:latin typeface="Calibri"/>
              </a:rPr>
              <a:t>All of it is held on the department's own server, in a database the AI can read but never change.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The AI models</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9</a:t>
            </a:r>
          </a:p>
        </p:txBody>
      </p:sp>
      <p:sp>
        <p:nvSpPr>
          <p:cNvPr id="8" name="TextBox 7"/>
          <p:cNvSpPr txBox="1"/>
          <p:nvPr/>
        </p:nvSpPr>
        <p:spPr>
          <a:xfrm>
            <a:off x="548640" y="1143000"/>
            <a:ext cx="11064240" cy="640080"/>
          </a:xfrm>
          <a:prstGeom prst="rect">
            <a:avLst/>
          </a:prstGeom>
          <a:noFill/>
        </p:spPr>
        <p:txBody>
          <a:bodyPr wrap="square" anchor="t" lIns="45720" rIns="45720" tIns="27432" bIns="27432">
            <a:spAutoFit/>
          </a:bodyPr>
          <a:lstStyle/>
          <a:p>
            <a:pPr algn="l"/>
            <a:r>
              <a:rPr sz="1900" b="0">
                <a:solidFill>
                  <a:srgbClr val="1F2937"/>
                </a:solidFill>
                <a:latin typeface="Calibri"/>
              </a:rPr>
              <a:t>Two open-source models run on the office server. Each has one job. Nothing is sent to an outside service.</a:t>
            </a:r>
          </a:p>
        </p:txBody>
      </p:sp>
      <p:sp>
        <p:nvSpPr>
          <p:cNvPr id="9" name="Rounded Rectangle 8"/>
          <p:cNvSpPr/>
          <p:nvPr/>
        </p:nvSpPr>
        <p:spPr>
          <a:xfrm>
            <a:off x="548640" y="2011680"/>
            <a:ext cx="5394960" cy="274320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59" y="224028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at-white.png"/>
          <p:cNvPicPr>
            <a:picLocks noChangeAspect="1"/>
          </p:cNvPicPr>
          <p:nvPr/>
        </p:nvPicPr>
        <p:blipFill>
          <a:blip r:embed="rId3"/>
          <a:stretch>
            <a:fillRect/>
          </a:stretch>
        </p:blipFill>
        <p:spPr>
          <a:xfrm>
            <a:off x="983894" y="2401214"/>
            <a:ext cx="409651" cy="409651"/>
          </a:xfrm>
          <a:prstGeom prst="rect">
            <a:avLst/>
          </a:prstGeom>
        </p:spPr>
      </p:pic>
      <p:sp>
        <p:nvSpPr>
          <p:cNvPr id="12" name="TextBox 11"/>
          <p:cNvSpPr txBox="1"/>
          <p:nvPr/>
        </p:nvSpPr>
        <p:spPr>
          <a:xfrm>
            <a:off x="1737360" y="2194560"/>
            <a:ext cx="4023360" cy="502920"/>
          </a:xfrm>
          <a:prstGeom prst="rect">
            <a:avLst/>
          </a:prstGeom>
          <a:noFill/>
        </p:spPr>
        <p:txBody>
          <a:bodyPr wrap="square" anchor="t" lIns="45720" rIns="45720" tIns="27432" bIns="27432">
            <a:spAutoFit/>
          </a:bodyPr>
          <a:lstStyle/>
          <a:p>
            <a:pPr algn="l"/>
            <a:r>
              <a:rPr sz="2200" b="1">
                <a:solidFill>
                  <a:srgbClr val="243B7A"/>
                </a:solidFill>
                <a:latin typeface="Calibri"/>
              </a:rPr>
              <a:t>Llama 3.1  (8 billion)</a:t>
            </a:r>
          </a:p>
        </p:txBody>
      </p:sp>
      <p:sp>
        <p:nvSpPr>
          <p:cNvPr id="13" name="TextBox 12"/>
          <p:cNvSpPr txBox="1"/>
          <p:nvPr/>
        </p:nvSpPr>
        <p:spPr>
          <a:xfrm>
            <a:off x="1737360" y="2697480"/>
            <a:ext cx="4023360" cy="365760"/>
          </a:xfrm>
          <a:prstGeom prst="rect">
            <a:avLst/>
          </a:prstGeom>
          <a:noFill/>
        </p:spPr>
        <p:txBody>
          <a:bodyPr wrap="square" anchor="t" lIns="45720" rIns="45720" tIns="27432" bIns="27432">
            <a:spAutoFit/>
          </a:bodyPr>
          <a:lstStyle/>
          <a:p>
            <a:pPr algn="l"/>
            <a:r>
              <a:rPr sz="1500" b="0">
                <a:solidFill>
                  <a:srgbClr val="8A6300"/>
                </a:solidFill>
                <a:latin typeface="Calibri"/>
              </a:rPr>
              <a:t>The conversationalist</a:t>
            </a:r>
          </a:p>
        </p:txBody>
      </p:sp>
      <p:sp>
        <p:nvSpPr>
          <p:cNvPr id="14" name="TextBox 13"/>
          <p:cNvSpPr txBox="1"/>
          <p:nvPr/>
        </p:nvSpPr>
        <p:spPr>
          <a:xfrm>
            <a:off x="822959" y="3337560"/>
            <a:ext cx="4846320" cy="1371600"/>
          </a:xfrm>
          <a:prstGeom prst="rect">
            <a:avLst/>
          </a:prstGeom>
          <a:noFill/>
        </p:spPr>
        <p:txBody>
          <a:bodyPr wrap="square" anchor="t" lIns="45720" rIns="45720" tIns="27432" bIns="27432">
            <a:spAutoFit/>
          </a:bodyPr>
          <a:lstStyle/>
          <a:p>
            <a:pPr algn="l"/>
            <a:r>
              <a:rPr sz="1700" b="0">
                <a:solidFill>
                  <a:srgbClr val="1F2937"/>
                </a:solidFill>
                <a:latin typeface="Calibri"/>
              </a:rPr>
              <a:t>Talks with the officer, decides when to look something up, and writes the plain-language summary.</a:t>
            </a:r>
          </a:p>
        </p:txBody>
      </p:sp>
      <p:sp>
        <p:nvSpPr>
          <p:cNvPr id="15" name="Rounded Rectangle 14"/>
          <p:cNvSpPr/>
          <p:nvPr/>
        </p:nvSpPr>
        <p:spPr>
          <a:xfrm>
            <a:off x="6172200" y="2011680"/>
            <a:ext cx="5394960" cy="274320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46520" y="224028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pu-white.png"/>
          <p:cNvPicPr>
            <a:picLocks noChangeAspect="1"/>
          </p:cNvPicPr>
          <p:nvPr/>
        </p:nvPicPr>
        <p:blipFill>
          <a:blip r:embed="rId4"/>
          <a:stretch>
            <a:fillRect/>
          </a:stretch>
        </p:blipFill>
        <p:spPr>
          <a:xfrm>
            <a:off x="6607454" y="2401214"/>
            <a:ext cx="409651" cy="409651"/>
          </a:xfrm>
          <a:prstGeom prst="rect">
            <a:avLst/>
          </a:prstGeom>
        </p:spPr>
      </p:pic>
      <p:sp>
        <p:nvSpPr>
          <p:cNvPr id="18" name="TextBox 17"/>
          <p:cNvSpPr txBox="1"/>
          <p:nvPr/>
        </p:nvSpPr>
        <p:spPr>
          <a:xfrm>
            <a:off x="7360920" y="2194560"/>
            <a:ext cx="4023360" cy="502920"/>
          </a:xfrm>
          <a:prstGeom prst="rect">
            <a:avLst/>
          </a:prstGeom>
          <a:noFill/>
        </p:spPr>
        <p:txBody>
          <a:bodyPr wrap="square" anchor="t" lIns="45720" rIns="45720" tIns="27432" bIns="27432">
            <a:spAutoFit/>
          </a:bodyPr>
          <a:lstStyle/>
          <a:p>
            <a:pPr algn="l"/>
            <a:r>
              <a:rPr sz="2200" b="1">
                <a:solidFill>
                  <a:srgbClr val="243B7A"/>
                </a:solidFill>
                <a:latin typeface="Calibri"/>
              </a:rPr>
              <a:t>Qwen 2.5 Coder  (7 billion)</a:t>
            </a:r>
          </a:p>
        </p:txBody>
      </p:sp>
      <p:sp>
        <p:nvSpPr>
          <p:cNvPr id="19" name="TextBox 18"/>
          <p:cNvSpPr txBox="1"/>
          <p:nvPr/>
        </p:nvSpPr>
        <p:spPr>
          <a:xfrm>
            <a:off x="7360920" y="2697480"/>
            <a:ext cx="4023360" cy="365760"/>
          </a:xfrm>
          <a:prstGeom prst="rect">
            <a:avLst/>
          </a:prstGeom>
          <a:noFill/>
        </p:spPr>
        <p:txBody>
          <a:bodyPr wrap="square" anchor="t" lIns="45720" rIns="45720" tIns="27432" bIns="27432">
            <a:spAutoFit/>
          </a:bodyPr>
          <a:lstStyle/>
          <a:p>
            <a:pPr algn="l"/>
            <a:r>
              <a:rPr sz="1500" b="0">
                <a:solidFill>
                  <a:srgbClr val="8A6300"/>
                </a:solidFill>
                <a:latin typeface="Calibri"/>
              </a:rPr>
              <a:t>The specialist</a:t>
            </a:r>
          </a:p>
        </p:txBody>
      </p:sp>
      <p:sp>
        <p:nvSpPr>
          <p:cNvPr id="20" name="TextBox 19"/>
          <p:cNvSpPr txBox="1"/>
          <p:nvPr/>
        </p:nvSpPr>
        <p:spPr>
          <a:xfrm>
            <a:off x="6446520" y="3337560"/>
            <a:ext cx="4846320" cy="1371600"/>
          </a:xfrm>
          <a:prstGeom prst="rect">
            <a:avLst/>
          </a:prstGeom>
          <a:noFill/>
        </p:spPr>
        <p:txBody>
          <a:bodyPr wrap="square" anchor="t" lIns="45720" rIns="45720" tIns="27432" bIns="27432">
            <a:spAutoFit/>
          </a:bodyPr>
          <a:lstStyle/>
          <a:p>
            <a:pPr algn="l"/>
            <a:r>
              <a:rPr sz="1700" b="0">
                <a:solidFill>
                  <a:srgbClr val="1F2937"/>
                </a:solidFill>
                <a:latin typeface="Calibri"/>
              </a:rPr>
              <a:t>Writes the database search and the chart code. It sees the data layout, not the officer's chat.</a:t>
            </a:r>
          </a:p>
        </p:txBody>
      </p:sp>
      <p:sp>
        <p:nvSpPr>
          <p:cNvPr id="21" name="Rounded Rectangle 20"/>
          <p:cNvSpPr/>
          <p:nvPr/>
        </p:nvSpPr>
        <p:spPr>
          <a:xfrm>
            <a:off x="548640" y="5029200"/>
            <a:ext cx="11064240" cy="1188720"/>
          </a:xfrm>
          <a:prstGeom prst="roundRect">
            <a:avLst>
              <a:gd name="adj" fmla="val 8000"/>
            </a:avLst>
          </a:prstGeom>
          <a:solidFill>
            <a:srgbClr val="FFF3C4"/>
          </a:solidFill>
          <a:ln w="15875">
            <a:solidFill>
              <a:srgbClr val="E0B1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074920"/>
            <a:ext cx="10607040" cy="1097280"/>
          </a:xfrm>
          <a:prstGeom prst="rect">
            <a:avLst/>
          </a:prstGeom>
          <a:noFill/>
        </p:spPr>
        <p:txBody>
          <a:bodyPr wrap="square" anchor="ctr" lIns="45720" rIns="45720" tIns="27432" bIns="27432">
            <a:spAutoFit/>
          </a:bodyPr>
          <a:lstStyle/>
          <a:p>
            <a:pPr algn="l">
              <a:spcAft>
                <a:spcPts val="400"/>
              </a:spcAft>
            </a:pPr>
            <a:r>
              <a:rPr sz="1700" b="1">
                <a:solidFill>
                  <a:srgbClr val="243B7A"/>
                </a:solidFill>
                <a:latin typeface="Calibri"/>
              </a:rPr>
              <a:t>Why two models: a conversational model and a code-writing model are each better at their own task.</a:t>
            </a:r>
          </a:p>
          <a:p>
            <a:pPr algn="l">
              <a:spcAft>
                <a:spcPts val="400"/>
              </a:spcAft>
            </a:pPr>
            <a:r>
              <a:rPr sz="1700" b="1">
                <a:solidFill>
                  <a:srgbClr val="243B7A"/>
                </a:solidFill>
                <a:latin typeface="Calibri"/>
              </a:rPr>
              <a:t>Why local: the department's questions and figures never leave the building.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Safety and control</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10</a:t>
            </a:r>
          </a:p>
        </p:txBody>
      </p:sp>
      <p:sp>
        <p:nvSpPr>
          <p:cNvPr id="8" name="Rounded Rectangle 7"/>
          <p:cNvSpPr/>
          <p:nvPr/>
        </p:nvSpPr>
        <p:spPr>
          <a:xfrm>
            <a:off x="548640" y="1280160"/>
            <a:ext cx="11064240" cy="868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1371600"/>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ock-white.png"/>
          <p:cNvPicPr>
            <a:picLocks noChangeAspect="1"/>
          </p:cNvPicPr>
          <p:nvPr/>
        </p:nvPicPr>
        <p:blipFill>
          <a:blip r:embed="rId3"/>
          <a:stretch>
            <a:fillRect/>
          </a:stretch>
        </p:blipFill>
        <p:spPr>
          <a:xfrm>
            <a:off x="882396" y="1522476"/>
            <a:ext cx="384048" cy="384048"/>
          </a:xfrm>
          <a:prstGeom prst="rect">
            <a:avLst/>
          </a:prstGeom>
        </p:spPr>
      </p:pic>
      <p:sp>
        <p:nvSpPr>
          <p:cNvPr id="11" name="TextBox 10"/>
          <p:cNvSpPr txBox="1"/>
          <p:nvPr/>
        </p:nvSpPr>
        <p:spPr>
          <a:xfrm>
            <a:off x="1600200" y="1325880"/>
            <a:ext cx="3017520" cy="777240"/>
          </a:xfrm>
          <a:prstGeom prst="rect">
            <a:avLst/>
          </a:prstGeom>
          <a:noFill/>
        </p:spPr>
        <p:txBody>
          <a:bodyPr wrap="square" anchor="ctr" lIns="45720" rIns="45720" tIns="27432" bIns="27432">
            <a:spAutoFit/>
          </a:bodyPr>
          <a:lstStyle/>
          <a:p>
            <a:pPr algn="l"/>
            <a:r>
              <a:rPr sz="2100" b="1">
                <a:solidFill>
                  <a:srgbClr val="243B7A"/>
                </a:solidFill>
                <a:latin typeface="Calibri"/>
              </a:rPr>
              <a:t>Sign-in</a:t>
            </a:r>
          </a:p>
        </p:txBody>
      </p:sp>
      <p:sp>
        <p:nvSpPr>
          <p:cNvPr id="12" name="TextBox 11"/>
          <p:cNvSpPr txBox="1"/>
          <p:nvPr/>
        </p:nvSpPr>
        <p:spPr>
          <a:xfrm>
            <a:off x="4572000" y="1325880"/>
            <a:ext cx="6949440" cy="777240"/>
          </a:xfrm>
          <a:prstGeom prst="rect">
            <a:avLst/>
          </a:prstGeom>
          <a:noFill/>
        </p:spPr>
        <p:txBody>
          <a:bodyPr wrap="square" anchor="ctr" lIns="45720" rIns="45720" tIns="27432" bIns="27432">
            <a:spAutoFit/>
          </a:bodyPr>
          <a:lstStyle/>
          <a:p>
            <a:pPr algn="l"/>
            <a:r>
              <a:rPr sz="1600" b="0">
                <a:solidFill>
                  <a:srgbClr val="1F2937"/>
                </a:solidFill>
                <a:latin typeface="Calibri"/>
              </a:rPr>
              <a:t>Email one-time code. Each person has a role: Admin or Analyst.</a:t>
            </a:r>
          </a:p>
        </p:txBody>
      </p:sp>
      <p:sp>
        <p:nvSpPr>
          <p:cNvPr id="13" name="Rounded Rectangle 12"/>
          <p:cNvSpPr/>
          <p:nvPr/>
        </p:nvSpPr>
        <p:spPr>
          <a:xfrm>
            <a:off x="548640" y="2267712"/>
            <a:ext cx="11064240" cy="868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2359152"/>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ye-white.png"/>
          <p:cNvPicPr>
            <a:picLocks noChangeAspect="1"/>
          </p:cNvPicPr>
          <p:nvPr/>
        </p:nvPicPr>
        <p:blipFill>
          <a:blip r:embed="rId4"/>
          <a:stretch>
            <a:fillRect/>
          </a:stretch>
        </p:blipFill>
        <p:spPr>
          <a:xfrm>
            <a:off x="882396" y="2510028"/>
            <a:ext cx="384048" cy="384048"/>
          </a:xfrm>
          <a:prstGeom prst="rect">
            <a:avLst/>
          </a:prstGeom>
        </p:spPr>
      </p:pic>
      <p:sp>
        <p:nvSpPr>
          <p:cNvPr id="16" name="TextBox 15"/>
          <p:cNvSpPr txBox="1"/>
          <p:nvPr/>
        </p:nvSpPr>
        <p:spPr>
          <a:xfrm>
            <a:off x="1600200" y="2313432"/>
            <a:ext cx="3017520" cy="777240"/>
          </a:xfrm>
          <a:prstGeom prst="rect">
            <a:avLst/>
          </a:prstGeom>
          <a:noFill/>
        </p:spPr>
        <p:txBody>
          <a:bodyPr wrap="square" anchor="ctr" lIns="45720" rIns="45720" tIns="27432" bIns="27432">
            <a:spAutoFit/>
          </a:bodyPr>
          <a:lstStyle/>
          <a:p>
            <a:pPr algn="l"/>
            <a:r>
              <a:rPr sz="2100" b="1">
                <a:solidFill>
                  <a:srgbClr val="243B7A"/>
                </a:solidFill>
                <a:latin typeface="Calibri"/>
              </a:rPr>
              <a:t>Read-only data</a:t>
            </a:r>
          </a:p>
        </p:txBody>
      </p:sp>
      <p:sp>
        <p:nvSpPr>
          <p:cNvPr id="17" name="TextBox 16"/>
          <p:cNvSpPr txBox="1"/>
          <p:nvPr/>
        </p:nvSpPr>
        <p:spPr>
          <a:xfrm>
            <a:off x="4572000" y="2313432"/>
            <a:ext cx="6949440" cy="777240"/>
          </a:xfrm>
          <a:prstGeom prst="rect">
            <a:avLst/>
          </a:prstGeom>
          <a:noFill/>
        </p:spPr>
        <p:txBody>
          <a:bodyPr wrap="square" anchor="ctr" lIns="45720" rIns="45720" tIns="27432" bIns="27432">
            <a:spAutoFit/>
          </a:bodyPr>
          <a:lstStyle/>
          <a:p>
            <a:pPr algn="l"/>
            <a:r>
              <a:rPr sz="1600" b="0">
                <a:solidFill>
                  <a:srgbClr val="1F2937"/>
                </a:solidFill>
                <a:latin typeface="Calibri"/>
              </a:rPr>
              <a:t>The AI connects with a database account that can read but cannot change anything.</a:t>
            </a:r>
          </a:p>
        </p:txBody>
      </p:sp>
      <p:sp>
        <p:nvSpPr>
          <p:cNvPr id="18" name="Rounded Rectangle 17"/>
          <p:cNvSpPr/>
          <p:nvPr/>
        </p:nvSpPr>
        <p:spPr>
          <a:xfrm>
            <a:off x="548640" y="3255264"/>
            <a:ext cx="11064240" cy="868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31520" y="3346704"/>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earch-white.png"/>
          <p:cNvPicPr>
            <a:picLocks noChangeAspect="1"/>
          </p:cNvPicPr>
          <p:nvPr/>
        </p:nvPicPr>
        <p:blipFill>
          <a:blip r:embed="rId5"/>
          <a:stretch>
            <a:fillRect/>
          </a:stretch>
        </p:blipFill>
        <p:spPr>
          <a:xfrm>
            <a:off x="882396" y="3497580"/>
            <a:ext cx="384048" cy="384048"/>
          </a:xfrm>
          <a:prstGeom prst="rect">
            <a:avLst/>
          </a:prstGeom>
        </p:spPr>
      </p:pic>
      <p:sp>
        <p:nvSpPr>
          <p:cNvPr id="21" name="TextBox 20"/>
          <p:cNvSpPr txBox="1"/>
          <p:nvPr/>
        </p:nvSpPr>
        <p:spPr>
          <a:xfrm>
            <a:off x="1600200" y="3300984"/>
            <a:ext cx="3017520" cy="777240"/>
          </a:xfrm>
          <a:prstGeom prst="rect">
            <a:avLst/>
          </a:prstGeom>
          <a:noFill/>
        </p:spPr>
        <p:txBody>
          <a:bodyPr wrap="square" anchor="ctr" lIns="45720" rIns="45720" tIns="27432" bIns="27432">
            <a:spAutoFit/>
          </a:bodyPr>
          <a:lstStyle/>
          <a:p>
            <a:pPr algn="l"/>
            <a:r>
              <a:rPr sz="2100" b="1">
                <a:solidFill>
                  <a:srgbClr val="243B7A"/>
                </a:solidFill>
                <a:latin typeface="Calibri"/>
              </a:rPr>
              <a:t>Checked queries</a:t>
            </a:r>
          </a:p>
        </p:txBody>
      </p:sp>
      <p:sp>
        <p:nvSpPr>
          <p:cNvPr id="22" name="TextBox 21"/>
          <p:cNvSpPr txBox="1"/>
          <p:nvPr/>
        </p:nvSpPr>
        <p:spPr>
          <a:xfrm>
            <a:off x="4572000" y="3300984"/>
            <a:ext cx="6949440" cy="777240"/>
          </a:xfrm>
          <a:prstGeom prst="rect">
            <a:avLst/>
          </a:prstGeom>
          <a:noFill/>
        </p:spPr>
        <p:txBody>
          <a:bodyPr wrap="square" anchor="ctr" lIns="45720" rIns="45720" tIns="27432" bIns="27432">
            <a:spAutoFit/>
          </a:bodyPr>
          <a:lstStyle/>
          <a:p>
            <a:pPr algn="l"/>
            <a:r>
              <a:rPr sz="1600" b="0">
                <a:solidFill>
                  <a:srgbClr val="1F2937"/>
                </a:solidFill>
                <a:latin typeface="Calibri"/>
              </a:rPr>
              <a:t>Every query is inspected first. Only a single read request is allowed.</a:t>
            </a:r>
          </a:p>
        </p:txBody>
      </p:sp>
      <p:sp>
        <p:nvSpPr>
          <p:cNvPr id="23" name="Rounded Rectangle 22"/>
          <p:cNvSpPr/>
          <p:nvPr/>
        </p:nvSpPr>
        <p:spPr>
          <a:xfrm>
            <a:off x="548640" y="4242816"/>
            <a:ext cx="11064240" cy="868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4334256"/>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hield-white.png"/>
          <p:cNvPicPr>
            <a:picLocks noChangeAspect="1"/>
          </p:cNvPicPr>
          <p:nvPr/>
        </p:nvPicPr>
        <p:blipFill>
          <a:blip r:embed="rId6"/>
          <a:stretch>
            <a:fillRect/>
          </a:stretch>
        </p:blipFill>
        <p:spPr>
          <a:xfrm>
            <a:off x="882396" y="4485132"/>
            <a:ext cx="384048" cy="384048"/>
          </a:xfrm>
          <a:prstGeom prst="rect">
            <a:avLst/>
          </a:prstGeom>
        </p:spPr>
      </p:pic>
      <p:sp>
        <p:nvSpPr>
          <p:cNvPr id="26" name="TextBox 25"/>
          <p:cNvSpPr txBox="1"/>
          <p:nvPr/>
        </p:nvSpPr>
        <p:spPr>
          <a:xfrm>
            <a:off x="1600200" y="4288536"/>
            <a:ext cx="3017520" cy="777240"/>
          </a:xfrm>
          <a:prstGeom prst="rect">
            <a:avLst/>
          </a:prstGeom>
          <a:noFill/>
        </p:spPr>
        <p:txBody>
          <a:bodyPr wrap="square" anchor="ctr" lIns="45720" rIns="45720" tIns="27432" bIns="27432">
            <a:spAutoFit/>
          </a:bodyPr>
          <a:lstStyle/>
          <a:p>
            <a:pPr algn="l"/>
            <a:r>
              <a:rPr sz="2100" b="1">
                <a:solidFill>
                  <a:srgbClr val="243B7A"/>
                </a:solidFill>
                <a:latin typeface="Calibri"/>
              </a:rPr>
              <a:t>Locked box for charts</a:t>
            </a:r>
          </a:p>
        </p:txBody>
      </p:sp>
      <p:sp>
        <p:nvSpPr>
          <p:cNvPr id="27" name="TextBox 26"/>
          <p:cNvSpPr txBox="1"/>
          <p:nvPr/>
        </p:nvSpPr>
        <p:spPr>
          <a:xfrm>
            <a:off x="4572000" y="4288536"/>
            <a:ext cx="6949440" cy="777240"/>
          </a:xfrm>
          <a:prstGeom prst="rect">
            <a:avLst/>
          </a:prstGeom>
          <a:noFill/>
        </p:spPr>
        <p:txBody>
          <a:bodyPr wrap="square" anchor="ctr" lIns="45720" rIns="45720" tIns="27432" bIns="27432">
            <a:spAutoFit/>
          </a:bodyPr>
          <a:lstStyle/>
          <a:p>
            <a:pPr algn="l"/>
            <a:r>
              <a:rPr sz="1600" b="0">
                <a:solidFill>
                  <a:srgbClr val="1F2937"/>
                </a:solidFill>
                <a:latin typeface="Calibri"/>
              </a:rPr>
              <a:t>Chart code runs in an isolated space: no network, limited time and memory.</a:t>
            </a:r>
          </a:p>
        </p:txBody>
      </p:sp>
      <p:sp>
        <p:nvSpPr>
          <p:cNvPr id="28" name="Rounded Rectangle 27"/>
          <p:cNvSpPr/>
          <p:nvPr/>
        </p:nvSpPr>
        <p:spPr>
          <a:xfrm>
            <a:off x="548640" y="5230368"/>
            <a:ext cx="11064240" cy="868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1520" y="5321808"/>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report-white.png"/>
          <p:cNvPicPr>
            <a:picLocks noChangeAspect="1"/>
          </p:cNvPicPr>
          <p:nvPr/>
        </p:nvPicPr>
        <p:blipFill>
          <a:blip r:embed="rId7"/>
          <a:stretch>
            <a:fillRect/>
          </a:stretch>
        </p:blipFill>
        <p:spPr>
          <a:xfrm>
            <a:off x="882396" y="5472684"/>
            <a:ext cx="384048" cy="384048"/>
          </a:xfrm>
          <a:prstGeom prst="rect">
            <a:avLst/>
          </a:prstGeom>
        </p:spPr>
      </p:pic>
      <p:sp>
        <p:nvSpPr>
          <p:cNvPr id="31" name="TextBox 30"/>
          <p:cNvSpPr txBox="1"/>
          <p:nvPr/>
        </p:nvSpPr>
        <p:spPr>
          <a:xfrm>
            <a:off x="1600200" y="5276088"/>
            <a:ext cx="3017520" cy="777240"/>
          </a:xfrm>
          <a:prstGeom prst="rect">
            <a:avLst/>
          </a:prstGeom>
          <a:noFill/>
        </p:spPr>
        <p:txBody>
          <a:bodyPr wrap="square" anchor="ctr" lIns="45720" rIns="45720" tIns="27432" bIns="27432">
            <a:spAutoFit/>
          </a:bodyPr>
          <a:lstStyle/>
          <a:p>
            <a:pPr algn="l"/>
            <a:r>
              <a:rPr sz="2100" b="1">
                <a:solidFill>
                  <a:srgbClr val="243B7A"/>
                </a:solidFill>
                <a:latin typeface="Calibri"/>
              </a:rPr>
              <a:t>Full record</a:t>
            </a:r>
          </a:p>
        </p:txBody>
      </p:sp>
      <p:sp>
        <p:nvSpPr>
          <p:cNvPr id="32" name="TextBox 31"/>
          <p:cNvSpPr txBox="1"/>
          <p:nvPr/>
        </p:nvSpPr>
        <p:spPr>
          <a:xfrm>
            <a:off x="4572000" y="5276088"/>
            <a:ext cx="6949440" cy="777240"/>
          </a:xfrm>
          <a:prstGeom prst="rect">
            <a:avLst/>
          </a:prstGeom>
          <a:noFill/>
        </p:spPr>
        <p:txBody>
          <a:bodyPr wrap="square" anchor="ctr" lIns="45720" rIns="45720" tIns="27432" bIns="27432">
            <a:spAutoFit/>
          </a:bodyPr>
          <a:lstStyle/>
          <a:p>
            <a:pPr algn="l"/>
            <a:r>
              <a:rPr sz="1600" b="0">
                <a:solidFill>
                  <a:srgbClr val="1F2937"/>
                </a:solidFill>
                <a:latin typeface="Calibri"/>
              </a:rPr>
              <a:t>Every question, query and action is logged for audit.</a:t>
            </a:r>
          </a:p>
        </p:txBody>
      </p:sp>
      <p:sp>
        <p:nvSpPr>
          <p:cNvPr id="33" name="TextBox 32"/>
          <p:cNvSpPr txBox="1"/>
          <p:nvPr/>
        </p:nvSpPr>
        <p:spPr>
          <a:xfrm>
            <a:off x="548640" y="6144768"/>
            <a:ext cx="11064240" cy="274320"/>
          </a:xfrm>
          <a:prstGeom prst="rect">
            <a:avLst/>
          </a:prstGeom>
          <a:noFill/>
        </p:spPr>
        <p:txBody>
          <a:bodyPr wrap="square" anchor="t" lIns="45720" rIns="45720" tIns="27432" bIns="27432">
            <a:spAutoFit/>
          </a:bodyPr>
          <a:lstStyle/>
          <a:p>
            <a:pPr algn="l"/>
            <a:r>
              <a:rPr sz="1300" b="0">
                <a:solidFill>
                  <a:srgbClr val="4B5563"/>
                </a:solidFill>
                <a:latin typeface="Calibri"/>
              </a:rPr>
              <a:t>The only outside connection is the secure tunnel that lets officers reach the site.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What administrators see</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11</a:t>
            </a:r>
          </a:p>
        </p:txBody>
      </p:sp>
      <p:sp>
        <p:nvSpPr>
          <p:cNvPr id="8" name="Rounded Rectangle 7"/>
          <p:cNvSpPr/>
          <p:nvPr/>
        </p:nvSpPr>
        <p:spPr>
          <a:xfrm>
            <a:off x="502919" y="1325880"/>
            <a:ext cx="5577840" cy="3840479"/>
          </a:xfrm>
          <a:prstGeom prst="roundRect">
            <a:avLst>
              <a:gd name="adj" fmla="val 8000"/>
            </a:avLst>
          </a:prstGeom>
          <a:solidFill>
            <a:srgbClr val="FFFFFF"/>
          </a:solidFill>
          <a:ln w="15875">
            <a:solidFill>
              <a:srgbClr val="D5D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dmin-kb.png">
            <a:hlinkClick r:id="rId4"/>
          </p:cNvPr>
          <p:cNvPicPr>
            <a:picLocks noChangeAspect="1"/>
          </p:cNvPicPr>
          <p:nvPr/>
        </p:nvPicPr>
        <p:blipFill>
          <a:blip r:embed="rId3"/>
          <a:stretch>
            <a:fillRect/>
          </a:stretch>
        </p:blipFill>
        <p:spPr>
          <a:xfrm>
            <a:off x="772485" y="1371600"/>
            <a:ext cx="5038709" cy="3749039"/>
          </a:xfrm>
          <a:prstGeom prst="rect">
            <a:avLst/>
          </a:prstGeom>
        </p:spPr>
      </p:pic>
      <p:sp>
        <p:nvSpPr>
          <p:cNvPr id="10" name="Rounded Rectangle 9"/>
          <p:cNvSpPr/>
          <p:nvPr/>
        </p:nvSpPr>
        <p:spPr>
          <a:xfrm>
            <a:off x="6126480" y="1325880"/>
            <a:ext cx="5577840" cy="3840479"/>
          </a:xfrm>
          <a:prstGeom prst="roundRect">
            <a:avLst>
              <a:gd name="adj" fmla="val 8000"/>
            </a:avLst>
          </a:prstGeom>
          <a:solidFill>
            <a:srgbClr val="FFFFFF"/>
          </a:solidFill>
          <a:ln w="15875">
            <a:solidFill>
              <a:srgbClr val="D5D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dmin-health.png">
            <a:hlinkClick r:id="rId6"/>
          </p:cNvPr>
          <p:cNvPicPr>
            <a:picLocks noChangeAspect="1"/>
          </p:cNvPicPr>
          <p:nvPr/>
        </p:nvPicPr>
        <p:blipFill>
          <a:blip r:embed="rId5"/>
          <a:stretch>
            <a:fillRect/>
          </a:stretch>
        </p:blipFill>
        <p:spPr>
          <a:xfrm>
            <a:off x="6172200" y="2021477"/>
            <a:ext cx="5486400" cy="2449285"/>
          </a:xfrm>
          <a:prstGeom prst="rect">
            <a:avLst/>
          </a:prstGeom>
        </p:spPr>
      </p:pic>
      <p:sp>
        <p:nvSpPr>
          <p:cNvPr id="12" name="TextBox 11"/>
          <p:cNvSpPr txBox="1"/>
          <p:nvPr/>
        </p:nvSpPr>
        <p:spPr>
          <a:xfrm>
            <a:off x="548640" y="5349240"/>
            <a:ext cx="5486400" cy="914400"/>
          </a:xfrm>
          <a:prstGeom prst="rect">
            <a:avLst/>
          </a:prstGeom>
          <a:noFill/>
        </p:spPr>
        <p:txBody>
          <a:bodyPr wrap="square" anchor="t" lIns="45720" rIns="45720" tIns="27432" bIns="27432">
            <a:spAutoFit/>
          </a:bodyPr>
          <a:lstStyle/>
          <a:p>
            <a:pPr algn="l"/>
            <a:r>
              <a:rPr sz="1600" b="0">
                <a:solidFill>
                  <a:srgbClr val="1F2937"/>
                </a:solidFill>
                <a:latin typeface="Calibri"/>
              </a:rPr>
              <a:t>Knowledge base: upload a rule note, see every document the chat can quote, and withdraw one.</a:t>
            </a:r>
          </a:p>
        </p:txBody>
      </p:sp>
      <p:sp>
        <p:nvSpPr>
          <p:cNvPr id="13" name="TextBox 12"/>
          <p:cNvSpPr txBox="1"/>
          <p:nvPr/>
        </p:nvSpPr>
        <p:spPr>
          <a:xfrm>
            <a:off x="6172200" y="5349240"/>
            <a:ext cx="5486400" cy="914400"/>
          </a:xfrm>
          <a:prstGeom prst="rect">
            <a:avLst/>
          </a:prstGeom>
          <a:noFill/>
        </p:spPr>
        <p:txBody>
          <a:bodyPr wrap="square" anchor="t" lIns="45720" rIns="45720" tIns="27432" bIns="27432">
            <a:spAutoFit/>
          </a:bodyPr>
          <a:lstStyle/>
          <a:p>
            <a:pPr algn="l"/>
            <a:r>
              <a:rPr sz="1600" b="0">
                <a:solidFill>
                  <a:srgbClr val="1F2937"/>
                </a:solidFill>
                <a:latin typeface="Calibri"/>
              </a:rPr>
              <a:t>System health: whether the AI service is up, the queue, the server load, and how much each model was used.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How we built it, and how we tested it</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12</a:t>
            </a:r>
          </a:p>
        </p:txBody>
      </p:sp>
      <p:sp>
        <p:nvSpPr>
          <p:cNvPr id="8" name="Rounded Rectangle 7"/>
          <p:cNvSpPr/>
          <p:nvPr/>
        </p:nvSpPr>
        <p:spPr>
          <a:xfrm>
            <a:off x="411480" y="1463040"/>
            <a:ext cx="2148840" cy="356616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 y="1691640"/>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atabase-white.png"/>
          <p:cNvPicPr>
            <a:picLocks noChangeAspect="1"/>
          </p:cNvPicPr>
          <p:nvPr/>
        </p:nvPicPr>
        <p:blipFill>
          <a:blip r:embed="rId3"/>
          <a:stretch>
            <a:fillRect/>
          </a:stretch>
        </p:blipFill>
        <p:spPr>
          <a:xfrm>
            <a:off x="1293876" y="1842516"/>
            <a:ext cx="384048" cy="384048"/>
          </a:xfrm>
          <a:prstGeom prst="rect">
            <a:avLst/>
          </a:prstGeom>
        </p:spPr>
      </p:pic>
      <p:sp>
        <p:nvSpPr>
          <p:cNvPr id="11" name="TextBox 10"/>
          <p:cNvSpPr txBox="1"/>
          <p:nvPr/>
        </p:nvSpPr>
        <p:spPr>
          <a:xfrm>
            <a:off x="484632" y="2514600"/>
            <a:ext cx="2011680" cy="640080"/>
          </a:xfrm>
          <a:prstGeom prst="rect">
            <a:avLst/>
          </a:prstGeom>
          <a:noFill/>
        </p:spPr>
        <p:txBody>
          <a:bodyPr wrap="square" anchor="t" lIns="45720" rIns="45720" tIns="27432" bIns="27432">
            <a:spAutoFit/>
          </a:bodyPr>
          <a:lstStyle/>
          <a:p>
            <a:pPr algn="ctr"/>
            <a:r>
              <a:rPr sz="1700" b="1">
                <a:solidFill>
                  <a:srgbClr val="243B7A"/>
                </a:solidFill>
                <a:latin typeface="Calibri"/>
              </a:rPr>
              <a:t>Data bank</a:t>
            </a:r>
          </a:p>
        </p:txBody>
      </p:sp>
      <p:sp>
        <p:nvSpPr>
          <p:cNvPr id="12" name="TextBox 11"/>
          <p:cNvSpPr txBox="1"/>
          <p:nvPr/>
        </p:nvSpPr>
        <p:spPr>
          <a:xfrm>
            <a:off x="521208" y="3154680"/>
            <a:ext cx="1920240" cy="1828800"/>
          </a:xfrm>
          <a:prstGeom prst="rect">
            <a:avLst/>
          </a:prstGeom>
          <a:noFill/>
        </p:spPr>
        <p:txBody>
          <a:bodyPr wrap="square" anchor="t" lIns="45720" rIns="45720" tIns="27432" bIns="27432">
            <a:spAutoFit/>
          </a:bodyPr>
          <a:lstStyle/>
          <a:p>
            <a:pPr algn="ctr"/>
            <a:r>
              <a:rPr sz="1400" b="0">
                <a:solidFill>
                  <a:srgbClr val="1F2937"/>
                </a:solidFill>
                <a:latin typeface="Calibri"/>
              </a:rPr>
              <a:t>Department data loaded and cleaned. Rows that fail checks are set aside, not guessed.</a:t>
            </a:r>
          </a:p>
        </p:txBody>
      </p:sp>
      <p:sp>
        <p:nvSpPr>
          <p:cNvPr id="13" name="Rounded Rectangle 12"/>
          <p:cNvSpPr/>
          <p:nvPr/>
        </p:nvSpPr>
        <p:spPr>
          <a:xfrm>
            <a:off x="2697480" y="1463040"/>
            <a:ext cx="2148840" cy="356616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29000" y="1691640"/>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rain-white.png"/>
          <p:cNvPicPr>
            <a:picLocks noChangeAspect="1"/>
          </p:cNvPicPr>
          <p:nvPr/>
        </p:nvPicPr>
        <p:blipFill>
          <a:blip r:embed="rId4"/>
          <a:stretch>
            <a:fillRect/>
          </a:stretch>
        </p:blipFill>
        <p:spPr>
          <a:xfrm>
            <a:off x="3579876" y="1842516"/>
            <a:ext cx="384048" cy="384048"/>
          </a:xfrm>
          <a:prstGeom prst="rect">
            <a:avLst/>
          </a:prstGeom>
        </p:spPr>
      </p:pic>
      <p:sp>
        <p:nvSpPr>
          <p:cNvPr id="16" name="TextBox 15"/>
          <p:cNvSpPr txBox="1"/>
          <p:nvPr/>
        </p:nvSpPr>
        <p:spPr>
          <a:xfrm>
            <a:off x="2770632" y="2514600"/>
            <a:ext cx="2011680" cy="640080"/>
          </a:xfrm>
          <a:prstGeom prst="rect">
            <a:avLst/>
          </a:prstGeom>
          <a:noFill/>
        </p:spPr>
        <p:txBody>
          <a:bodyPr wrap="square" anchor="t" lIns="45720" rIns="45720" tIns="27432" bIns="27432">
            <a:spAutoFit/>
          </a:bodyPr>
          <a:lstStyle/>
          <a:p>
            <a:pPr algn="ctr"/>
            <a:r>
              <a:rPr sz="1700" b="1">
                <a:solidFill>
                  <a:srgbClr val="243B7A"/>
                </a:solidFill>
                <a:latin typeface="Calibri"/>
              </a:rPr>
              <a:t>Question engine</a:t>
            </a:r>
          </a:p>
        </p:txBody>
      </p:sp>
      <p:sp>
        <p:nvSpPr>
          <p:cNvPr id="17" name="TextBox 16"/>
          <p:cNvSpPr txBox="1"/>
          <p:nvPr/>
        </p:nvSpPr>
        <p:spPr>
          <a:xfrm>
            <a:off x="2807208" y="3154680"/>
            <a:ext cx="1920240" cy="1828800"/>
          </a:xfrm>
          <a:prstGeom prst="rect">
            <a:avLst/>
          </a:prstGeom>
          <a:noFill/>
        </p:spPr>
        <p:txBody>
          <a:bodyPr wrap="square" anchor="t" lIns="45720" rIns="45720" tIns="27432" bIns="27432">
            <a:spAutoFit/>
          </a:bodyPr>
          <a:lstStyle/>
          <a:p>
            <a:pPr algn="ctr"/>
            <a:r>
              <a:rPr sz="1400" b="0">
                <a:solidFill>
                  <a:srgbClr val="1F2937"/>
                </a:solidFill>
                <a:latin typeface="Calibri"/>
              </a:rPr>
              <a:t>Question to query to answer, with a retry when the first attempt fails.</a:t>
            </a:r>
          </a:p>
        </p:txBody>
      </p:sp>
      <p:sp>
        <p:nvSpPr>
          <p:cNvPr id="18" name="Rounded Rectangle 17"/>
          <p:cNvSpPr/>
          <p:nvPr/>
        </p:nvSpPr>
        <p:spPr>
          <a:xfrm>
            <a:off x="4983480" y="1463040"/>
            <a:ext cx="2148840" cy="356616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715000" y="1691640"/>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books-white.png"/>
          <p:cNvPicPr>
            <a:picLocks noChangeAspect="1"/>
          </p:cNvPicPr>
          <p:nvPr/>
        </p:nvPicPr>
        <p:blipFill>
          <a:blip r:embed="rId5"/>
          <a:stretch>
            <a:fillRect/>
          </a:stretch>
        </p:blipFill>
        <p:spPr>
          <a:xfrm>
            <a:off x="5865876" y="1842516"/>
            <a:ext cx="384048" cy="384048"/>
          </a:xfrm>
          <a:prstGeom prst="rect">
            <a:avLst/>
          </a:prstGeom>
        </p:spPr>
      </p:pic>
      <p:sp>
        <p:nvSpPr>
          <p:cNvPr id="21" name="TextBox 20"/>
          <p:cNvSpPr txBox="1"/>
          <p:nvPr/>
        </p:nvSpPr>
        <p:spPr>
          <a:xfrm>
            <a:off x="5056632" y="2514600"/>
            <a:ext cx="2011680" cy="640080"/>
          </a:xfrm>
          <a:prstGeom prst="rect">
            <a:avLst/>
          </a:prstGeom>
          <a:noFill/>
        </p:spPr>
        <p:txBody>
          <a:bodyPr wrap="square" anchor="t" lIns="45720" rIns="45720" tIns="27432" bIns="27432">
            <a:spAutoFit/>
          </a:bodyPr>
          <a:lstStyle/>
          <a:p>
            <a:pPr algn="ctr"/>
            <a:r>
              <a:rPr sz="1700" b="1">
                <a:solidFill>
                  <a:srgbClr val="243B7A"/>
                </a:solidFill>
                <a:latin typeface="Calibri"/>
              </a:rPr>
              <a:t>Knowledge library</a:t>
            </a:r>
          </a:p>
        </p:txBody>
      </p:sp>
      <p:sp>
        <p:nvSpPr>
          <p:cNvPr id="22" name="TextBox 21"/>
          <p:cNvSpPr txBox="1"/>
          <p:nvPr/>
        </p:nvSpPr>
        <p:spPr>
          <a:xfrm>
            <a:off x="5093208" y="3154680"/>
            <a:ext cx="1920240" cy="1828800"/>
          </a:xfrm>
          <a:prstGeom prst="rect">
            <a:avLst/>
          </a:prstGeom>
          <a:noFill/>
        </p:spPr>
        <p:txBody>
          <a:bodyPr wrap="square" anchor="t" lIns="45720" rIns="45720" tIns="27432" bIns="27432">
            <a:spAutoFit/>
          </a:bodyPr>
          <a:lstStyle/>
          <a:p>
            <a:pPr algn="ctr"/>
            <a:r>
              <a:rPr sz="1400" b="0">
                <a:solidFill>
                  <a:srgbClr val="1F2937"/>
                </a:solidFill>
                <a:latin typeface="Calibri"/>
              </a:rPr>
              <a:t>Published rules split into searchable sections.</a:t>
            </a:r>
          </a:p>
        </p:txBody>
      </p:sp>
      <p:sp>
        <p:nvSpPr>
          <p:cNvPr id="23" name="Rounded Rectangle 22"/>
          <p:cNvSpPr/>
          <p:nvPr/>
        </p:nvSpPr>
        <p:spPr>
          <a:xfrm>
            <a:off x="7269480" y="1463040"/>
            <a:ext cx="2148840" cy="356616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1000" y="1691640"/>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chat-white.png"/>
          <p:cNvPicPr>
            <a:picLocks noChangeAspect="1"/>
          </p:cNvPicPr>
          <p:nvPr/>
        </p:nvPicPr>
        <p:blipFill>
          <a:blip r:embed="rId6"/>
          <a:stretch>
            <a:fillRect/>
          </a:stretch>
        </p:blipFill>
        <p:spPr>
          <a:xfrm>
            <a:off x="8151875" y="1842516"/>
            <a:ext cx="384048" cy="384048"/>
          </a:xfrm>
          <a:prstGeom prst="rect">
            <a:avLst/>
          </a:prstGeom>
        </p:spPr>
      </p:pic>
      <p:sp>
        <p:nvSpPr>
          <p:cNvPr id="26" name="TextBox 25"/>
          <p:cNvSpPr txBox="1"/>
          <p:nvPr/>
        </p:nvSpPr>
        <p:spPr>
          <a:xfrm>
            <a:off x="7342631" y="2514600"/>
            <a:ext cx="2011680" cy="640080"/>
          </a:xfrm>
          <a:prstGeom prst="rect">
            <a:avLst/>
          </a:prstGeom>
          <a:noFill/>
        </p:spPr>
        <p:txBody>
          <a:bodyPr wrap="square" anchor="t" lIns="45720" rIns="45720" tIns="27432" bIns="27432">
            <a:spAutoFit/>
          </a:bodyPr>
          <a:lstStyle/>
          <a:p>
            <a:pPr algn="ctr"/>
            <a:r>
              <a:rPr sz="1700" b="1">
                <a:solidFill>
                  <a:srgbClr val="243B7A"/>
                </a:solidFill>
                <a:latin typeface="Calibri"/>
              </a:rPr>
              <a:t>Chat and Ask screens</a:t>
            </a:r>
          </a:p>
        </p:txBody>
      </p:sp>
      <p:sp>
        <p:nvSpPr>
          <p:cNvPr id="27" name="TextBox 26"/>
          <p:cNvSpPr txBox="1"/>
          <p:nvPr/>
        </p:nvSpPr>
        <p:spPr>
          <a:xfrm>
            <a:off x="7379208" y="3154680"/>
            <a:ext cx="1920240" cy="1828800"/>
          </a:xfrm>
          <a:prstGeom prst="rect">
            <a:avLst/>
          </a:prstGeom>
          <a:noFill/>
        </p:spPr>
        <p:txBody>
          <a:bodyPr wrap="square" anchor="t" lIns="45720" rIns="45720" tIns="27432" bIns="27432">
            <a:spAutoFit/>
          </a:bodyPr>
          <a:lstStyle/>
          <a:p>
            <a:pPr algn="ctr"/>
            <a:r>
              <a:rPr sz="1400" b="0">
                <a:solidFill>
                  <a:srgbClr val="1F2937"/>
                </a:solidFill>
                <a:latin typeface="Calibri"/>
              </a:rPr>
              <a:t>Web screens for officers and for administrators.</a:t>
            </a:r>
          </a:p>
        </p:txBody>
      </p:sp>
      <p:sp>
        <p:nvSpPr>
          <p:cNvPr id="28" name="Rounded Rectangle 27"/>
          <p:cNvSpPr/>
          <p:nvPr/>
        </p:nvSpPr>
        <p:spPr>
          <a:xfrm>
            <a:off x="9555480" y="1463040"/>
            <a:ext cx="2148840" cy="356616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87000" y="1691640"/>
            <a:ext cx="685800" cy="68580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heck-white.png"/>
          <p:cNvPicPr>
            <a:picLocks noChangeAspect="1"/>
          </p:cNvPicPr>
          <p:nvPr/>
        </p:nvPicPr>
        <p:blipFill>
          <a:blip r:embed="rId7"/>
          <a:stretch>
            <a:fillRect/>
          </a:stretch>
        </p:blipFill>
        <p:spPr>
          <a:xfrm>
            <a:off x="10437876" y="1842516"/>
            <a:ext cx="384048" cy="384048"/>
          </a:xfrm>
          <a:prstGeom prst="rect">
            <a:avLst/>
          </a:prstGeom>
        </p:spPr>
      </p:pic>
      <p:sp>
        <p:nvSpPr>
          <p:cNvPr id="31" name="TextBox 30"/>
          <p:cNvSpPr txBox="1"/>
          <p:nvPr/>
        </p:nvSpPr>
        <p:spPr>
          <a:xfrm>
            <a:off x="9628632" y="2514600"/>
            <a:ext cx="2011680" cy="640080"/>
          </a:xfrm>
          <a:prstGeom prst="rect">
            <a:avLst/>
          </a:prstGeom>
          <a:noFill/>
        </p:spPr>
        <p:txBody>
          <a:bodyPr wrap="square" anchor="t" lIns="45720" rIns="45720" tIns="27432" bIns="27432">
            <a:spAutoFit/>
          </a:bodyPr>
          <a:lstStyle/>
          <a:p>
            <a:pPr algn="ctr"/>
            <a:r>
              <a:rPr sz="1700" b="1">
                <a:solidFill>
                  <a:srgbClr val="243B7A"/>
                </a:solidFill>
                <a:latin typeface="Calibri"/>
              </a:rPr>
              <a:t>Real-question testing</a:t>
            </a:r>
          </a:p>
        </p:txBody>
      </p:sp>
      <p:sp>
        <p:nvSpPr>
          <p:cNvPr id="32" name="TextBox 31"/>
          <p:cNvSpPr txBox="1"/>
          <p:nvPr/>
        </p:nvSpPr>
        <p:spPr>
          <a:xfrm>
            <a:off x="9665207" y="3154680"/>
            <a:ext cx="1920240" cy="1828800"/>
          </a:xfrm>
          <a:prstGeom prst="rect">
            <a:avLst/>
          </a:prstGeom>
          <a:noFill/>
        </p:spPr>
        <p:txBody>
          <a:bodyPr wrap="square" anchor="t" lIns="45720" rIns="45720" tIns="27432" bIns="27432">
            <a:spAutoFit/>
          </a:bodyPr>
          <a:lstStyle/>
          <a:p>
            <a:pPr algn="ctr"/>
            <a:r>
              <a:rPr sz="1400" b="0">
                <a:solidFill>
                  <a:srgbClr val="1F2937"/>
                </a:solidFill>
                <a:latin typeface="Calibri"/>
              </a:rPr>
              <a:t>Each demo question was run live and the answer checked against the source.</a:t>
            </a:r>
          </a:p>
        </p:txBody>
      </p:sp>
      <p:sp>
        <p:nvSpPr>
          <p:cNvPr id="33" name="TextBox 32"/>
          <p:cNvSpPr txBox="1"/>
          <p:nvPr/>
        </p:nvSpPr>
        <p:spPr>
          <a:xfrm>
            <a:off x="548640" y="5303520"/>
            <a:ext cx="11064240" cy="914400"/>
          </a:xfrm>
          <a:prstGeom prst="rect">
            <a:avLst/>
          </a:prstGeom>
          <a:noFill/>
        </p:spPr>
        <p:txBody>
          <a:bodyPr wrap="square" anchor="t" lIns="45720" rIns="45720" tIns="27432" bIns="27432">
            <a:spAutoFit/>
          </a:bodyPr>
          <a:lstStyle/>
          <a:p>
            <a:pPr algn="l"/>
            <a:r>
              <a:rPr sz="1700" b="0">
                <a:solidFill>
                  <a:srgbClr val="1F2937"/>
                </a:solidFill>
                <a:latin typeface="Calibri"/>
              </a:rPr>
              <a:t>The automated tests cover the safety checks, the data loaders and the chat flow. Live testing against real questions found problems the tests could not, and each one was fixed and recorded.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What we learned, and the limits today</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13</a:t>
            </a:r>
          </a:p>
        </p:txBody>
      </p:sp>
      <p:sp>
        <p:nvSpPr>
          <p:cNvPr id="8" name="Rounded Rectangle 7"/>
          <p:cNvSpPr/>
          <p:nvPr/>
        </p:nvSpPr>
        <p:spPr>
          <a:xfrm>
            <a:off x="548640" y="1280160"/>
            <a:ext cx="5440680" cy="493776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371600"/>
            <a:ext cx="5029200" cy="457200"/>
          </a:xfrm>
          <a:prstGeom prst="rect">
            <a:avLst/>
          </a:prstGeom>
          <a:noFill/>
        </p:spPr>
        <p:txBody>
          <a:bodyPr wrap="square" anchor="t" lIns="45720" rIns="45720" tIns="27432" bIns="27432">
            <a:spAutoFit/>
          </a:bodyPr>
          <a:lstStyle/>
          <a:p>
            <a:pPr algn="l"/>
            <a:r>
              <a:rPr sz="2200" b="1">
                <a:solidFill>
                  <a:srgbClr val="243B7A"/>
                </a:solidFill>
                <a:latin typeface="Calibri"/>
              </a:rPr>
              <a:t>What we learned</a:t>
            </a:r>
          </a:p>
        </p:txBody>
      </p:sp>
      <p:sp>
        <p:nvSpPr>
          <p:cNvPr id="10" name="TextBox 9"/>
          <p:cNvSpPr txBox="1"/>
          <p:nvPr/>
        </p:nvSpPr>
        <p:spPr>
          <a:xfrm>
            <a:off x="777240" y="1965960"/>
            <a:ext cx="5029200" cy="457200"/>
          </a:xfrm>
          <a:prstGeom prst="rect">
            <a:avLst/>
          </a:prstGeom>
          <a:noFill/>
        </p:spPr>
        <p:txBody>
          <a:bodyPr wrap="square" anchor="t" lIns="45720" rIns="45720" tIns="27432" bIns="27432">
            <a:spAutoFit/>
          </a:bodyPr>
          <a:lstStyle/>
          <a:p>
            <a:pPr algn="l">
              <a:spcAft>
                <a:spcPts val="1000"/>
              </a:spcAft>
            </a:pPr>
            <a:r>
              <a:rPr sz="1500" b="0">
                <a:solidFill>
                  <a:srgbClr val="1F2937"/>
                </a:solidFill>
                <a:latin typeface="Calibri"/>
              </a:rPr>
              <a:t>A language model can give a confident wrong answer. We added checks so an empty result is reported as empty.</a:t>
            </a:r>
          </a:p>
          <a:p>
            <a:pPr algn="l">
              <a:spcAft>
                <a:spcPts val="1000"/>
              </a:spcAft>
            </a:pPr>
            <a:r>
              <a:rPr sz="1500" b="0">
                <a:solidFill>
                  <a:srgbClr val="1F2937"/>
                </a:solidFill>
                <a:latin typeface="Calibri"/>
              </a:rPr>
              <a:t>District revenue after 2018 in the NITI workbooks is booked at the central treasury in Lucknow. We cross-checked against shop-level revenue and now point the system to the correct source.</a:t>
            </a:r>
          </a:p>
          <a:p>
            <a:pPr algn="l">
              <a:spcAft>
                <a:spcPts val="1000"/>
              </a:spcAft>
            </a:pPr>
            <a:r>
              <a:rPr sz="1500" b="0">
                <a:solidFill>
                  <a:srgbClr val="1F2937"/>
                </a:solidFill>
                <a:latin typeface="Calibri"/>
              </a:rPr>
              <a:t>Money conversions are done in code. A model got one crore figure wrong by ten times.</a:t>
            </a:r>
          </a:p>
        </p:txBody>
      </p:sp>
      <p:sp>
        <p:nvSpPr>
          <p:cNvPr id="11" name="Rounded Rectangle 10"/>
          <p:cNvSpPr/>
          <p:nvPr/>
        </p:nvSpPr>
        <p:spPr>
          <a:xfrm>
            <a:off x="6172200" y="1280160"/>
            <a:ext cx="5440680" cy="493776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371600"/>
            <a:ext cx="5029200" cy="457200"/>
          </a:xfrm>
          <a:prstGeom prst="rect">
            <a:avLst/>
          </a:prstGeom>
          <a:noFill/>
        </p:spPr>
        <p:txBody>
          <a:bodyPr wrap="square" anchor="t" lIns="45720" rIns="45720" tIns="27432" bIns="27432">
            <a:spAutoFit/>
          </a:bodyPr>
          <a:lstStyle/>
          <a:p>
            <a:pPr algn="l"/>
            <a:r>
              <a:rPr sz="2200" b="1">
                <a:solidFill>
                  <a:srgbClr val="8A6300"/>
                </a:solidFill>
                <a:latin typeface="Calibri"/>
              </a:rPr>
              <a:t>Limits today</a:t>
            </a:r>
          </a:p>
        </p:txBody>
      </p:sp>
      <p:sp>
        <p:nvSpPr>
          <p:cNvPr id="13" name="TextBox 12"/>
          <p:cNvSpPr txBox="1"/>
          <p:nvPr/>
        </p:nvSpPr>
        <p:spPr>
          <a:xfrm>
            <a:off x="6400800" y="1965960"/>
            <a:ext cx="5029200" cy="457200"/>
          </a:xfrm>
          <a:prstGeom prst="rect">
            <a:avLst/>
          </a:prstGeom>
          <a:noFill/>
        </p:spPr>
        <p:txBody>
          <a:bodyPr wrap="square" anchor="t" lIns="45720" rIns="45720" tIns="27432" bIns="27432">
            <a:spAutoFit/>
          </a:bodyPr>
          <a:lstStyle/>
          <a:p>
            <a:pPr algn="l">
              <a:spcAft>
                <a:spcPts val="1000"/>
              </a:spcAft>
            </a:pPr>
            <a:r>
              <a:rPr sz="1500" b="0">
                <a:solidFill>
                  <a:srgbClr val="1F2937"/>
                </a:solidFill>
                <a:latin typeface="Calibri"/>
              </a:rPr>
              <a:t>The server has no graphics card, so an answer takes one to three minutes.</a:t>
            </a:r>
          </a:p>
          <a:p>
            <a:pPr algn="l">
              <a:spcAft>
                <a:spcPts val="1000"/>
              </a:spcAft>
            </a:pPr>
            <a:r>
              <a:rPr sz="1500" b="0">
                <a:solidFill>
                  <a:srgbClr val="1F2937"/>
                </a:solidFill>
                <a:latin typeface="Calibri"/>
              </a:rPr>
              <a:t>Shop-level monthly detail is loaded for Lucknow only (August 2026).</a:t>
            </a:r>
          </a:p>
          <a:p>
            <a:pPr algn="l">
              <a:spcAft>
                <a:spcPts val="1000"/>
              </a:spcAft>
            </a:pPr>
            <a:r>
              <a:rPr sz="1500" b="0">
                <a:solidFill>
                  <a:srgbClr val="1F2937"/>
                </a:solidFill>
                <a:latin typeface="Calibri"/>
              </a:rPr>
              <a:t>Shop-level Bhang data has no source yet.</a:t>
            </a:r>
          </a:p>
          <a:p>
            <a:pPr algn="l">
              <a:spcAft>
                <a:spcPts val="1000"/>
              </a:spcAft>
            </a:pPr>
            <a:r>
              <a:rPr sz="1500" b="0">
                <a:solidFill>
                  <a:srgbClr val="1F2937"/>
                </a:solidFill>
                <a:latin typeface="Calibri"/>
              </a:rPr>
              <a:t>Answers should be treated as a fast first reading, to be checked against the source for formal use.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What comes next</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14</a:t>
            </a:r>
          </a:p>
        </p:txBody>
      </p:sp>
      <p:sp>
        <p:nvSpPr>
          <p:cNvPr id="8" name="Rounded Rectangle 7"/>
          <p:cNvSpPr/>
          <p:nvPr/>
        </p:nvSpPr>
        <p:spPr>
          <a:xfrm>
            <a:off x="548640" y="1371600"/>
            <a:ext cx="5440680" cy="2148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59" y="164592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erver-white.png"/>
          <p:cNvPicPr>
            <a:picLocks noChangeAspect="1"/>
          </p:cNvPicPr>
          <p:nvPr/>
        </p:nvPicPr>
        <p:blipFill>
          <a:blip r:embed="rId3"/>
          <a:stretch>
            <a:fillRect/>
          </a:stretch>
        </p:blipFill>
        <p:spPr>
          <a:xfrm>
            <a:off x="983894" y="1806854"/>
            <a:ext cx="409651" cy="409651"/>
          </a:xfrm>
          <a:prstGeom prst="rect">
            <a:avLst/>
          </a:prstGeom>
        </p:spPr>
      </p:pic>
      <p:sp>
        <p:nvSpPr>
          <p:cNvPr id="11" name="TextBox 10"/>
          <p:cNvSpPr txBox="1"/>
          <p:nvPr/>
        </p:nvSpPr>
        <p:spPr>
          <a:xfrm>
            <a:off x="1783080" y="1645920"/>
            <a:ext cx="4023360" cy="548640"/>
          </a:xfrm>
          <a:prstGeom prst="rect">
            <a:avLst/>
          </a:prstGeom>
          <a:noFill/>
        </p:spPr>
        <p:txBody>
          <a:bodyPr wrap="square" anchor="ctr" lIns="45720" rIns="45720" tIns="27432" bIns="27432">
            <a:spAutoFit/>
          </a:bodyPr>
          <a:lstStyle/>
          <a:p>
            <a:pPr algn="l"/>
            <a:r>
              <a:rPr sz="2200" b="1">
                <a:solidFill>
                  <a:srgbClr val="243B7A"/>
                </a:solidFill>
                <a:latin typeface="Calibri"/>
              </a:rPr>
              <a:t>Faster hardware</a:t>
            </a:r>
          </a:p>
        </p:txBody>
      </p:sp>
      <p:sp>
        <p:nvSpPr>
          <p:cNvPr id="12" name="TextBox 11"/>
          <p:cNvSpPr txBox="1"/>
          <p:nvPr/>
        </p:nvSpPr>
        <p:spPr>
          <a:xfrm>
            <a:off x="822959" y="2468880"/>
            <a:ext cx="4937760" cy="1005840"/>
          </a:xfrm>
          <a:prstGeom prst="rect">
            <a:avLst/>
          </a:prstGeom>
          <a:noFill/>
        </p:spPr>
        <p:txBody>
          <a:bodyPr wrap="square" anchor="t" lIns="45720" rIns="45720" tIns="27432" bIns="27432">
            <a:spAutoFit/>
          </a:bodyPr>
          <a:lstStyle/>
          <a:p>
            <a:pPr algn="l"/>
            <a:r>
              <a:rPr sz="1600" b="0">
                <a:solidFill>
                  <a:srgbClr val="1F2937"/>
                </a:solidFill>
                <a:latin typeface="Calibri"/>
              </a:rPr>
              <a:t>A dedicated server with a graphics card brings answers down to seconds.</a:t>
            </a:r>
          </a:p>
        </p:txBody>
      </p:sp>
      <p:sp>
        <p:nvSpPr>
          <p:cNvPr id="13" name="Rounded Rectangle 12"/>
          <p:cNvSpPr/>
          <p:nvPr/>
        </p:nvSpPr>
        <p:spPr>
          <a:xfrm>
            <a:off x="6172200" y="1371600"/>
            <a:ext cx="5440680" cy="2148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46520" y="1645920"/>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atabase-white.png"/>
          <p:cNvPicPr>
            <a:picLocks noChangeAspect="1"/>
          </p:cNvPicPr>
          <p:nvPr/>
        </p:nvPicPr>
        <p:blipFill>
          <a:blip r:embed="rId4"/>
          <a:stretch>
            <a:fillRect/>
          </a:stretch>
        </p:blipFill>
        <p:spPr>
          <a:xfrm>
            <a:off x="6607454" y="1806854"/>
            <a:ext cx="409651" cy="409651"/>
          </a:xfrm>
          <a:prstGeom prst="rect">
            <a:avLst/>
          </a:prstGeom>
        </p:spPr>
      </p:pic>
      <p:sp>
        <p:nvSpPr>
          <p:cNvPr id="16" name="TextBox 15"/>
          <p:cNvSpPr txBox="1"/>
          <p:nvPr/>
        </p:nvSpPr>
        <p:spPr>
          <a:xfrm>
            <a:off x="7406640" y="1645920"/>
            <a:ext cx="4023360" cy="548640"/>
          </a:xfrm>
          <a:prstGeom prst="rect">
            <a:avLst/>
          </a:prstGeom>
          <a:noFill/>
        </p:spPr>
        <p:txBody>
          <a:bodyPr wrap="square" anchor="ctr" lIns="45720" rIns="45720" tIns="27432" bIns="27432">
            <a:spAutoFit/>
          </a:bodyPr>
          <a:lstStyle/>
          <a:p>
            <a:pPr algn="l"/>
            <a:r>
              <a:rPr sz="2200" b="1">
                <a:solidFill>
                  <a:srgbClr val="243B7A"/>
                </a:solidFill>
                <a:latin typeface="Calibri"/>
              </a:rPr>
              <a:t>More data</a:t>
            </a:r>
          </a:p>
        </p:txBody>
      </p:sp>
      <p:sp>
        <p:nvSpPr>
          <p:cNvPr id="17" name="TextBox 16"/>
          <p:cNvSpPr txBox="1"/>
          <p:nvPr/>
        </p:nvSpPr>
        <p:spPr>
          <a:xfrm>
            <a:off x="6446520" y="2468880"/>
            <a:ext cx="4937760" cy="1005840"/>
          </a:xfrm>
          <a:prstGeom prst="rect">
            <a:avLst/>
          </a:prstGeom>
          <a:noFill/>
        </p:spPr>
        <p:txBody>
          <a:bodyPr wrap="square" anchor="t" lIns="45720" rIns="45720" tIns="27432" bIns="27432">
            <a:spAutoFit/>
          </a:bodyPr>
          <a:lstStyle/>
          <a:p>
            <a:pPr algn="l"/>
            <a:r>
              <a:rPr sz="1600" b="0">
                <a:solidFill>
                  <a:srgbClr val="1F2937"/>
                </a:solidFill>
                <a:latin typeface="Calibri"/>
              </a:rPr>
              <a:t>Monthly feeds for every district, and the missing sources such as Bhang shops.</a:t>
            </a:r>
          </a:p>
        </p:txBody>
      </p:sp>
      <p:sp>
        <p:nvSpPr>
          <p:cNvPr id="18" name="Rounded Rectangle 17"/>
          <p:cNvSpPr/>
          <p:nvPr/>
        </p:nvSpPr>
        <p:spPr>
          <a:xfrm>
            <a:off x="548640" y="3749039"/>
            <a:ext cx="5440680" cy="2148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2959" y="4023359"/>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doc-white.png"/>
          <p:cNvPicPr>
            <a:picLocks noChangeAspect="1"/>
          </p:cNvPicPr>
          <p:nvPr/>
        </p:nvPicPr>
        <p:blipFill>
          <a:blip r:embed="rId5"/>
          <a:stretch>
            <a:fillRect/>
          </a:stretch>
        </p:blipFill>
        <p:spPr>
          <a:xfrm>
            <a:off x="983894" y="4184294"/>
            <a:ext cx="409651" cy="409651"/>
          </a:xfrm>
          <a:prstGeom prst="rect">
            <a:avLst/>
          </a:prstGeom>
        </p:spPr>
      </p:pic>
      <p:sp>
        <p:nvSpPr>
          <p:cNvPr id="21" name="TextBox 20"/>
          <p:cNvSpPr txBox="1"/>
          <p:nvPr/>
        </p:nvSpPr>
        <p:spPr>
          <a:xfrm>
            <a:off x="1783080" y="4023359"/>
            <a:ext cx="4023360" cy="548640"/>
          </a:xfrm>
          <a:prstGeom prst="rect">
            <a:avLst/>
          </a:prstGeom>
          <a:noFill/>
        </p:spPr>
        <p:txBody>
          <a:bodyPr wrap="square" anchor="ctr" lIns="45720" rIns="45720" tIns="27432" bIns="27432">
            <a:spAutoFit/>
          </a:bodyPr>
          <a:lstStyle/>
          <a:p>
            <a:pPr algn="l"/>
            <a:r>
              <a:rPr sz="2200" b="1">
                <a:solidFill>
                  <a:srgbClr val="243B7A"/>
                </a:solidFill>
                <a:latin typeface="Calibri"/>
              </a:rPr>
              <a:t>Saved analyses and reports</a:t>
            </a:r>
          </a:p>
        </p:txBody>
      </p:sp>
      <p:sp>
        <p:nvSpPr>
          <p:cNvPr id="22" name="TextBox 21"/>
          <p:cNvSpPr txBox="1"/>
          <p:nvPr/>
        </p:nvSpPr>
        <p:spPr>
          <a:xfrm>
            <a:off x="822959" y="4846320"/>
            <a:ext cx="4937760" cy="1005840"/>
          </a:xfrm>
          <a:prstGeom prst="rect">
            <a:avLst/>
          </a:prstGeom>
          <a:noFill/>
        </p:spPr>
        <p:txBody>
          <a:bodyPr wrap="square" anchor="t" lIns="45720" rIns="45720" tIns="27432" bIns="27432">
            <a:spAutoFit/>
          </a:bodyPr>
          <a:lstStyle/>
          <a:p>
            <a:pPr algn="l"/>
            <a:r>
              <a:rPr sz="1600" b="0">
                <a:solidFill>
                  <a:srgbClr val="1F2937"/>
                </a:solidFill>
                <a:latin typeface="Calibri"/>
              </a:rPr>
              <a:t>Re-run a favourite question each month and export a report with the data date on it.</a:t>
            </a:r>
          </a:p>
        </p:txBody>
      </p:sp>
      <p:sp>
        <p:nvSpPr>
          <p:cNvPr id="23" name="Rounded Rectangle 22"/>
          <p:cNvSpPr/>
          <p:nvPr/>
        </p:nvSpPr>
        <p:spPr>
          <a:xfrm>
            <a:off x="6172200" y="3749039"/>
            <a:ext cx="5440680" cy="214884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46520" y="4023359"/>
            <a:ext cx="731520" cy="73152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users-white.png"/>
          <p:cNvPicPr>
            <a:picLocks noChangeAspect="1"/>
          </p:cNvPicPr>
          <p:nvPr/>
        </p:nvPicPr>
        <p:blipFill>
          <a:blip r:embed="rId6"/>
          <a:stretch>
            <a:fillRect/>
          </a:stretch>
        </p:blipFill>
        <p:spPr>
          <a:xfrm>
            <a:off x="6607454" y="4184294"/>
            <a:ext cx="409651" cy="409651"/>
          </a:xfrm>
          <a:prstGeom prst="rect">
            <a:avLst/>
          </a:prstGeom>
        </p:spPr>
      </p:pic>
      <p:sp>
        <p:nvSpPr>
          <p:cNvPr id="26" name="TextBox 25"/>
          <p:cNvSpPr txBox="1"/>
          <p:nvPr/>
        </p:nvSpPr>
        <p:spPr>
          <a:xfrm>
            <a:off x="7406640" y="4023359"/>
            <a:ext cx="4023360" cy="548640"/>
          </a:xfrm>
          <a:prstGeom prst="rect">
            <a:avLst/>
          </a:prstGeom>
          <a:noFill/>
        </p:spPr>
        <p:txBody>
          <a:bodyPr wrap="square" anchor="ctr" lIns="45720" rIns="45720" tIns="27432" bIns="27432">
            <a:spAutoFit/>
          </a:bodyPr>
          <a:lstStyle/>
          <a:p>
            <a:pPr algn="l"/>
            <a:r>
              <a:rPr sz="2200" b="1">
                <a:solidFill>
                  <a:srgbClr val="243B7A"/>
                </a:solidFill>
                <a:latin typeface="Calibri"/>
              </a:rPr>
              <a:t>Wider access</a:t>
            </a:r>
          </a:p>
        </p:txBody>
      </p:sp>
      <p:sp>
        <p:nvSpPr>
          <p:cNvPr id="27" name="TextBox 26"/>
          <p:cNvSpPr txBox="1"/>
          <p:nvPr/>
        </p:nvSpPr>
        <p:spPr>
          <a:xfrm>
            <a:off x="6446520" y="4846320"/>
            <a:ext cx="4937760" cy="1005840"/>
          </a:xfrm>
          <a:prstGeom prst="rect">
            <a:avLst/>
          </a:prstGeom>
          <a:noFill/>
        </p:spPr>
        <p:txBody>
          <a:bodyPr wrap="square" anchor="t" lIns="45720" rIns="45720" tIns="27432" bIns="27432">
            <a:spAutoFit/>
          </a:bodyPr>
          <a:lstStyle/>
          <a:p>
            <a:pPr algn="l"/>
            <a:r>
              <a:rPr sz="1600" b="0">
                <a:solidFill>
                  <a:srgbClr val="1F2937"/>
                </a:solidFill>
                <a:latin typeface="Calibri"/>
              </a:rPr>
              <a:t>Roles for district and division officers, with their own question history.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EAF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64008"/>
          </a:xfrm>
          <a:prstGeom prst="rect">
            <a:avLst/>
          </a:prstGeom>
          <a:solidFill>
            <a:srgbClr val="E0B1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0424160" cy="694944"/>
          </a:xfrm>
          <a:prstGeom prst="rect">
            <a:avLst/>
          </a:prstGeom>
          <a:noFill/>
        </p:spPr>
        <p:txBody>
          <a:bodyPr wrap="square" anchor="ctr" lIns="45720" rIns="45720" tIns="27432" bIns="27432">
            <a:spAutoFit/>
          </a:bodyPr>
          <a:lstStyle/>
          <a:p>
            <a:pPr algn="l"/>
            <a:r>
              <a:rPr sz="3000" b="1">
                <a:solidFill>
                  <a:srgbClr val="243B7A"/>
                </a:solidFill>
                <a:latin typeface="Calibri"/>
              </a:rPr>
              <a:t>The decision we are asking for</a:t>
            </a:r>
          </a:p>
        </p:txBody>
      </p:sp>
      <p:pic>
        <p:nvPicPr>
          <p:cNvPr id="5" name="Picture 4" descr="emblem-dark.png"/>
          <p:cNvPicPr>
            <a:picLocks noChangeAspect="1"/>
          </p:cNvPicPr>
          <p:nvPr/>
        </p:nvPicPr>
        <p:blipFill>
          <a:blip r:embed="rId2"/>
          <a:stretch>
            <a:fillRect/>
          </a:stretch>
        </p:blipFill>
        <p:spPr>
          <a:xfrm>
            <a:off x="11247120" y="91440"/>
            <a:ext cx="731520" cy="731520"/>
          </a:xfrm>
          <a:prstGeom prst="rect">
            <a:avLst/>
          </a:prstGeom>
        </p:spPr>
      </p:pic>
      <p:sp>
        <p:nvSpPr>
          <p:cNvPr id="6" name="TextBox 5"/>
          <p:cNvSpPr txBox="1"/>
          <p:nvPr/>
        </p:nvSpPr>
        <p:spPr>
          <a:xfrm>
            <a:off x="548640" y="6455664"/>
            <a:ext cx="8229600" cy="274320"/>
          </a:xfrm>
          <a:prstGeom prst="rect">
            <a:avLst/>
          </a:prstGeom>
          <a:noFill/>
        </p:spPr>
        <p:txBody>
          <a:bodyPr wrap="square" anchor="t" lIns="45720" rIns="45720" tIns="27432" bIns="27432">
            <a:spAutoFit/>
          </a:bodyPr>
          <a:lstStyle/>
          <a:p>
            <a:pPr algn="l"/>
            <a:r>
              <a:rPr sz="1000" b="0">
                <a:solidFill>
                  <a:srgbClr val="4B5563"/>
                </a:solidFill>
                <a:latin typeface="Calibri"/>
              </a:rPr>
              <a:t>Government of Uttar Pradesh  |  Department of Excise  |  Ask the Data: proof of concept</a:t>
            </a:r>
          </a:p>
        </p:txBody>
      </p:sp>
      <p:sp>
        <p:nvSpPr>
          <p:cNvPr id="7" name="TextBox 6"/>
          <p:cNvSpPr txBox="1"/>
          <p:nvPr/>
        </p:nvSpPr>
        <p:spPr>
          <a:xfrm>
            <a:off x="10972800" y="6455664"/>
            <a:ext cx="731520" cy="274320"/>
          </a:xfrm>
          <a:prstGeom prst="rect">
            <a:avLst/>
          </a:prstGeom>
          <a:noFill/>
        </p:spPr>
        <p:txBody>
          <a:bodyPr wrap="square" anchor="t" lIns="45720" rIns="45720" tIns="27432" bIns="27432">
            <a:spAutoFit/>
          </a:bodyPr>
          <a:lstStyle/>
          <a:p>
            <a:pPr algn="r"/>
            <a:r>
              <a:rPr sz="1000" b="0">
                <a:solidFill>
                  <a:srgbClr val="4B5563"/>
                </a:solidFill>
                <a:latin typeface="Calibri"/>
              </a:rPr>
              <a:t>15</a:t>
            </a:r>
          </a:p>
        </p:txBody>
      </p:sp>
      <p:sp>
        <p:nvSpPr>
          <p:cNvPr id="8" name="Rounded Rectangle 7"/>
          <p:cNvSpPr/>
          <p:nvPr/>
        </p:nvSpPr>
        <p:spPr>
          <a:xfrm>
            <a:off x="548640" y="1371600"/>
            <a:ext cx="11064240" cy="2011680"/>
          </a:xfrm>
          <a:prstGeom prst="roundRect">
            <a:avLst>
              <a:gd name="adj" fmla="val 8000"/>
            </a:avLst>
          </a:prstGeom>
          <a:solidFill>
            <a:srgbClr val="EAF0FB"/>
          </a:solidFill>
          <a:ln w="15875">
            <a:solidFill>
              <a:srgbClr val="D0DB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1737360"/>
            <a:ext cx="822960" cy="822960"/>
          </a:xfrm>
          <a:prstGeom prst="ellipse">
            <a:avLst/>
          </a:prstGeom>
          <a:solidFill>
            <a:srgbClr val="3E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ulb-white.png"/>
          <p:cNvPicPr>
            <a:picLocks noChangeAspect="1"/>
          </p:cNvPicPr>
          <p:nvPr/>
        </p:nvPicPr>
        <p:blipFill>
          <a:blip r:embed="rId3"/>
          <a:stretch>
            <a:fillRect/>
          </a:stretch>
        </p:blipFill>
        <p:spPr>
          <a:xfrm>
            <a:off x="1004011" y="1918411"/>
            <a:ext cx="460857" cy="460857"/>
          </a:xfrm>
          <a:prstGeom prst="rect">
            <a:avLst/>
          </a:prstGeom>
        </p:spPr>
      </p:pic>
      <p:sp>
        <p:nvSpPr>
          <p:cNvPr id="11" name="TextBox 10"/>
          <p:cNvSpPr txBox="1"/>
          <p:nvPr/>
        </p:nvSpPr>
        <p:spPr>
          <a:xfrm>
            <a:off x="1920240" y="1554480"/>
            <a:ext cx="9509760" cy="1737360"/>
          </a:xfrm>
          <a:prstGeom prst="rect">
            <a:avLst/>
          </a:prstGeom>
          <a:noFill/>
        </p:spPr>
        <p:txBody>
          <a:bodyPr wrap="square" anchor="t" lIns="45720" rIns="45720" tIns="27432" bIns="27432">
            <a:spAutoFit/>
          </a:bodyPr>
          <a:lstStyle/>
          <a:p>
            <a:pPr algn="l">
              <a:spcAft>
                <a:spcPts val="800"/>
              </a:spcAft>
            </a:pPr>
            <a:r>
              <a:rPr sz="2000" b="1">
                <a:solidFill>
                  <a:srgbClr val="1F2937"/>
                </a:solidFill>
                <a:latin typeface="Calibri"/>
              </a:rPr>
              <a:t>This proof of concept shows that officers can get sourced answers from the department's own data in minutes, on the department's own server.</a:t>
            </a:r>
          </a:p>
          <a:p>
            <a:pPr algn="l">
              <a:spcAft>
                <a:spcPts val="800"/>
              </a:spcAft>
            </a:pPr>
            <a:r>
              <a:rPr sz="2000" b="1">
                <a:solidFill>
                  <a:srgbClr val="1F2937"/>
                </a:solidFill>
                <a:latin typeface="Calibri"/>
              </a:rPr>
              <a:t>We ask the Cabinet and the Chief Secretary for a decision on the next step.</a:t>
            </a:r>
          </a:p>
        </p:txBody>
      </p:sp>
      <p:sp>
        <p:nvSpPr>
          <p:cNvPr id="12" name="TextBox 11"/>
          <p:cNvSpPr txBox="1"/>
          <p:nvPr/>
        </p:nvSpPr>
        <p:spPr>
          <a:xfrm>
            <a:off x="548640" y="3749039"/>
            <a:ext cx="11064240" cy="457200"/>
          </a:xfrm>
          <a:prstGeom prst="rect">
            <a:avLst/>
          </a:prstGeom>
          <a:noFill/>
        </p:spPr>
        <p:txBody>
          <a:bodyPr wrap="square" anchor="t" lIns="45720" rIns="45720" tIns="27432" bIns="27432">
            <a:spAutoFit/>
          </a:bodyPr>
          <a:lstStyle/>
          <a:p>
            <a:pPr algn="l"/>
            <a:r>
              <a:rPr sz="2200" b="1">
                <a:solidFill>
                  <a:srgbClr val="243B7A"/>
                </a:solidFill>
                <a:latin typeface="Calibri"/>
              </a:rPr>
              <a:t>Proposed next steps</a:t>
            </a:r>
          </a:p>
        </p:txBody>
      </p:sp>
      <p:sp>
        <p:nvSpPr>
          <p:cNvPr id="13" name="TextBox 12"/>
          <p:cNvSpPr txBox="1"/>
          <p:nvPr/>
        </p:nvSpPr>
        <p:spPr>
          <a:xfrm>
            <a:off x="548640" y="4297680"/>
            <a:ext cx="11064240" cy="457200"/>
          </a:xfrm>
          <a:prstGeom prst="rect">
            <a:avLst/>
          </a:prstGeom>
          <a:noFill/>
        </p:spPr>
        <p:txBody>
          <a:bodyPr wrap="square" anchor="t" lIns="45720" rIns="45720" tIns="27432" bIns="27432">
            <a:spAutoFit/>
          </a:bodyPr>
          <a:lstStyle/>
          <a:p>
            <a:pPr algn="l">
              <a:spcAft>
                <a:spcPts val="800"/>
              </a:spcAft>
            </a:pPr>
            <a:r>
              <a:rPr sz="1800" b="0">
                <a:solidFill>
                  <a:srgbClr val="1F2937"/>
                </a:solidFill>
                <a:latin typeface="Calibri"/>
              </a:rPr>
              <a:t>1.  A pilot with a small group of district and division officers.</a:t>
            </a:r>
          </a:p>
          <a:p>
            <a:pPr algn="l">
              <a:spcAft>
                <a:spcPts val="800"/>
              </a:spcAft>
            </a:pPr>
            <a:r>
              <a:rPr sz="1800" b="0">
                <a:solidFill>
                  <a:srgbClr val="1F2937"/>
                </a:solidFill>
                <a:latin typeface="Calibri"/>
              </a:rPr>
              <a:t>2.  A dedicated server with a graphics card.</a:t>
            </a:r>
          </a:p>
          <a:p>
            <a:pPr algn="l">
              <a:spcAft>
                <a:spcPts val="800"/>
              </a:spcAft>
            </a:pPr>
            <a:r>
              <a:rPr sz="1800" b="0">
                <a:solidFill>
                  <a:srgbClr val="1F2937"/>
                </a:solidFill>
                <a:latin typeface="Calibri"/>
              </a:rPr>
              <a:t>3.  Monthly data feeds from the source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