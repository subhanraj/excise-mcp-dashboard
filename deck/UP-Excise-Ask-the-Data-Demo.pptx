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working proof of concept, not a mock-up. Everything shown in the demo slides came from the live system running in the department's office, answering real questions against real department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in the department's own terms. Examples to mention: a district total needed before a review meeting; a rule position needed alongside a figure.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entry points, one engine. Ask is for a single well-formed question. Chat is for exploring. The knowledge library lets the same chat quote the department's published rules.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picture to remember. The key point for this audience: the AI does not invent figures. It writes a search; the database returns the numbers. The query is always displayed.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screenshot to open it full size. Read the question aloud, then point to the total and the two parts. This question was chosen because it has a split and a total. Earlier versions gave only one combined number; we fixed that so each part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screenshot to open it full size. Point at the chart, then the "Show query" control under the answer. The chart toggle in the message box asks for a chart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row counts loaded so far. The data bank is a copy; the source systems are untouched. More sources can be added without changing how officers ask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models are open weights, run through Ollama on the office server. Neither is a DeepSeek model. The server has no GPU today, which is why answers take one to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either screenshot to open it full size. Administrators also have screens for users, the activity log, data loading runs and a data dictionary where a plain-language note can be attached to any table or column to guide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that the build followed a written plan with milestones, and that every live failure found in testing is documented. Honest testing is part of the case for trusting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open about limits is deliberate. The cabinet will ask what can go wrong; this slide answers before they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hyperlink" Target="images/slide-05-shop-count.pn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hyperlink" Target="images/slide-06a-top-district-revenue.png" TargetMode="External"/><Relationship Id="rId5" Type="http://schemas.openxmlformats.org/officeDocument/2006/relationships/image" Target="../media/image12.png"/><Relationship Id="rId6" Type="http://schemas.openxmlformats.org/officeDocument/2006/relationships/hyperlink" Target="images/slide-06b-beer-revenue.png" TargetMode="Externa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hyperlink" Target="images/slide-07-chat-top-district.png"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17.png"/><Relationship Id="rId8" Type="http://schemas.openxmlformats.org/officeDocument/2006/relationships/image" Target="../media/image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7.png"/><Relationship Id="rId7" Type="http://schemas.openxmlformats.org/officeDocument/2006/relationships/image" Target="../media/image2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hyperlink" Target="images/slide-11a-admin-knowledge-base.png" TargetMode="External"/><Relationship Id="rId5" Type="http://schemas.openxmlformats.org/officeDocument/2006/relationships/image" Target="../media/image24.png"/><Relationship Id="rId6" Type="http://schemas.openxmlformats.org/officeDocument/2006/relationships/hyperlink" Target="images/slide-11b-admin-system-health.png" TargetMode="Externa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8.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blem-dark.png"/>
          <p:cNvPicPr>
            <a:picLocks noChangeAspect="1"/>
          </p:cNvPicPr>
          <p:nvPr/>
        </p:nvPicPr>
        <p:blipFill>
          <a:blip r:embed="rId2"/>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anchor="t" lIns="45720" rIns="45720" tIns="27432" bIns="27432">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anchor="t" lIns="45720" rIns="45720" tIns="27432" bIns="27432">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anchor="t" lIns="45720" rIns="45720" tIns="27432" bIns="27432">
            <a:spAutoFit/>
          </a:bodyPr>
          <a:lstStyle/>
          <a:p>
            <a:pPr algn="l"/>
            <a:r>
              <a:rPr sz="2200" b="0" lang="hi-IN">
                <a:solidFill>
                  <a:srgbClr val="1F2937"/>
                </a:solidFill>
                <a:latin typeface="Nirmala UI"/>
                <a:ea typeface="Nirmala UI"/>
                <a:cs typeface="Nirmala UI"/>
              </a:rPr>
              <a:t>उत्तर प्रदेश आबकारी विभाग</a:t>
            </a:r>
          </a:p>
        </p:txBody>
      </p:sp>
      <p:sp>
        <p:nvSpPr>
          <p:cNvPr id="8" name="TextBox 7"/>
          <p:cNvSpPr txBox="1"/>
          <p:nvPr/>
        </p:nvSpPr>
        <p:spPr>
          <a:xfrm>
            <a:off x="731520" y="2743200"/>
            <a:ext cx="10515600" cy="1097280"/>
          </a:xfrm>
          <a:prstGeom prst="rect">
            <a:avLst/>
          </a:prstGeom>
          <a:noFill/>
        </p:spPr>
        <p:txBody>
          <a:bodyPr wrap="square" anchor="t" lIns="45720" rIns="45720" tIns="27432" bIns="27432">
            <a:spAutoFit/>
          </a:bodyPr>
          <a:lstStyle/>
          <a:p>
            <a:pPr algn="l"/>
            <a:r>
              <a:rPr sz="6000" b="1">
                <a:solidFill>
                  <a:srgbClr val="243B7A"/>
                </a:solidFill>
                <a:latin typeface="Calibri"/>
              </a:rPr>
              <a:t>Ask the Data</a:t>
            </a:r>
          </a:p>
        </p:txBody>
      </p:sp>
      <p:sp>
        <p:nvSpPr>
          <p:cNvPr id="9" name="TextBox 8"/>
          <p:cNvSpPr txBox="1"/>
          <p:nvPr/>
        </p:nvSpPr>
        <p:spPr>
          <a:xfrm>
            <a:off x="731520" y="3794760"/>
            <a:ext cx="7498079" cy="1280160"/>
          </a:xfrm>
          <a:prstGeom prst="rect">
            <a:avLst/>
          </a:prstGeom>
          <a:noFill/>
        </p:spPr>
        <p:txBody>
          <a:bodyPr wrap="square" anchor="t" lIns="45720" rIns="45720" tIns="27432" bIns="27432">
            <a:spAutoFit/>
          </a:bodyPr>
          <a:lstStyle/>
          <a:p>
            <a:pPr algn="l"/>
            <a:r>
              <a:rPr sz="2400" b="0">
                <a:solidFill>
                  <a:srgbClr val="1F2937"/>
                </a:solidFill>
                <a:latin typeface="Calibri"/>
              </a:rPr>
              <a:t>Questions in plain language, answered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anchor="t" lIns="45720" rIns="45720" tIns="27432" bIns="27432">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heet-white.png"/>
          <p:cNvPicPr>
            <a:picLocks noChangeAspect="1"/>
          </p:cNvPicPr>
          <p:nvPr/>
        </p:nvPicPr>
        <p:blipFill>
          <a:blip r:embed="rId3"/>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lock-white.png"/>
          <p:cNvPicPr>
            <a:picLocks noChangeAspect="1"/>
          </p:cNvPicPr>
          <p:nvPr/>
        </p:nvPicPr>
        <p:blipFill>
          <a:blip r:embed="rId4"/>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An officer asks, an analyst finds the files, builds the table and sends it back. A new angle on the same question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ooks-white.png"/>
          <p:cNvPicPr>
            <a:picLocks noChangeAspect="1"/>
          </p:cNvPicPr>
          <p:nvPr/>
        </p:nvPicPr>
        <p:blipFill>
          <a:blip r:embed="rId5"/>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anchor="t" lIns="45720" rIns="45720" tIns="27432" bIns="27432">
            <a:spAutoFit/>
          </a:bodyPr>
          <a:lstStyle/>
          <a:p>
            <a:pPr algn="l"/>
            <a:r>
              <a:rPr sz="2000" b="1">
                <a:solidFill>
                  <a:srgbClr val="1F2937"/>
                </a:solidFill>
                <a:latin typeface="Calibri"/>
              </a:rPr>
              <a:t>An officer who needs a number for a meeting today should be able to get it today, with the source shown, without waiting for a report to be prepared.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anchor="t" lIns="45720" rIns="45720" tIns="27432" bIns="27432">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question-white.png"/>
          <p:cNvPicPr>
            <a:picLocks noChangeAspect="1"/>
          </p:cNvPicPr>
          <p:nvPr/>
        </p:nvPicPr>
        <p:blipFill>
          <a:blip r:embed="rId3"/>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white.png"/>
          <p:cNvPicPr>
            <a:picLocks noChangeAspect="1"/>
          </p:cNvPicPr>
          <p:nvPr/>
        </p:nvPicPr>
        <p:blipFill>
          <a:blip r:embed="rId4"/>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s-white.png"/>
          <p:cNvPicPr>
            <a:picLocks noChangeAspect="1"/>
          </p:cNvPicPr>
          <p:nvPr/>
        </p:nvPicPr>
        <p:blipFill>
          <a:blip r:embed="rId5"/>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anchor="t" lIns="45720" rIns="45720" tIns="27432" bIns="27432">
            <a:spAutoFit/>
          </a:bodyPr>
          <a:lstStyle/>
          <a:p>
            <a:pPr algn="l"/>
            <a:r>
              <a:rPr sz="1900" b="1">
                <a:solidFill>
                  <a:srgbClr val="243B7A"/>
                </a:solidFill>
                <a:latin typeface="Calibri"/>
              </a:rPr>
              <a:t>It runs on the departmental server, completely local. 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How an answer is made</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4</a:t>
            </a:r>
          </a:p>
        </p:txBody>
      </p:sp>
      <p:sp>
        <p:nvSpPr>
          <p:cNvPr id="8" name="Rounded Rectangle 7"/>
          <p:cNvSpPr/>
          <p:nvPr/>
        </p:nvSpPr>
        <p:spPr>
          <a:xfrm>
            <a:off x="50292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8988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uestion-white.png"/>
          <p:cNvPicPr>
            <a:picLocks noChangeAspect="1"/>
          </p:cNvPicPr>
          <p:nvPr/>
        </p:nvPicPr>
        <p:blipFill>
          <a:blip r:embed="rId3"/>
          <a:stretch>
            <a:fillRect/>
          </a:stretch>
        </p:blipFill>
        <p:spPr>
          <a:xfrm>
            <a:off x="1560880" y="1954072"/>
            <a:ext cx="435254" cy="435254"/>
          </a:xfrm>
          <a:prstGeom prst="rect">
            <a:avLst/>
          </a:prstGeom>
        </p:spPr>
      </p:pic>
      <p:sp>
        <p:nvSpPr>
          <p:cNvPr id="11" name="TextBox 10"/>
          <p:cNvSpPr txBox="1"/>
          <p:nvPr/>
        </p:nvSpPr>
        <p:spPr>
          <a:xfrm>
            <a:off x="59436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1  You ask</a:t>
            </a:r>
          </a:p>
        </p:txBody>
      </p:sp>
      <p:sp>
        <p:nvSpPr>
          <p:cNvPr id="12" name="TextBox 11"/>
          <p:cNvSpPr txBox="1"/>
          <p:nvPr/>
        </p:nvSpPr>
        <p:spPr>
          <a:xfrm>
            <a:off x="64008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Type the question the way you would put it to a colleague.</a:t>
            </a:r>
          </a:p>
        </p:txBody>
      </p:sp>
      <p:sp>
        <p:nvSpPr>
          <p:cNvPr id="13" name="Right Arrow 12"/>
          <p:cNvSpPr/>
          <p:nvPr/>
        </p:nvSpPr>
        <p:spPr>
          <a:xfrm>
            <a:off x="304495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1596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rain-white.png"/>
          <p:cNvPicPr>
            <a:picLocks noChangeAspect="1"/>
          </p:cNvPicPr>
          <p:nvPr/>
        </p:nvPicPr>
        <p:blipFill>
          <a:blip r:embed="rId4"/>
          <a:stretch>
            <a:fillRect/>
          </a:stretch>
        </p:blipFill>
        <p:spPr>
          <a:xfrm>
            <a:off x="4486960" y="1954072"/>
            <a:ext cx="435254" cy="435254"/>
          </a:xfrm>
          <a:prstGeom prst="rect">
            <a:avLst/>
          </a:prstGeom>
        </p:spPr>
      </p:pic>
      <p:sp>
        <p:nvSpPr>
          <p:cNvPr id="17" name="TextBox 16"/>
          <p:cNvSpPr txBox="1"/>
          <p:nvPr/>
        </p:nvSpPr>
        <p:spPr>
          <a:xfrm>
            <a:off x="352044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2  The system understands</a:t>
            </a:r>
          </a:p>
        </p:txBody>
      </p:sp>
      <p:sp>
        <p:nvSpPr>
          <p:cNvPr id="18" name="TextBox 17"/>
          <p:cNvSpPr txBox="1"/>
          <p:nvPr/>
        </p:nvSpPr>
        <p:spPr>
          <a:xfrm>
            <a:off x="356616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An AI model turns the question into a precise search of the data.</a:t>
            </a:r>
          </a:p>
        </p:txBody>
      </p:sp>
      <p:sp>
        <p:nvSpPr>
          <p:cNvPr id="19" name="Right Arrow 18"/>
          <p:cNvSpPr/>
          <p:nvPr/>
        </p:nvSpPr>
        <p:spPr>
          <a:xfrm>
            <a:off x="5971031"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204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atabase-white.png"/>
          <p:cNvPicPr>
            <a:picLocks noChangeAspect="1"/>
          </p:cNvPicPr>
          <p:nvPr/>
        </p:nvPicPr>
        <p:blipFill>
          <a:blip r:embed="rId5"/>
          <a:stretch>
            <a:fillRect/>
          </a:stretch>
        </p:blipFill>
        <p:spPr>
          <a:xfrm>
            <a:off x="7413040" y="1954072"/>
            <a:ext cx="435254" cy="435254"/>
          </a:xfrm>
          <a:prstGeom prst="rect">
            <a:avLst/>
          </a:prstGeom>
        </p:spPr>
      </p:pic>
      <p:sp>
        <p:nvSpPr>
          <p:cNvPr id="23" name="TextBox 22"/>
          <p:cNvSpPr txBox="1"/>
          <p:nvPr/>
        </p:nvSpPr>
        <p:spPr>
          <a:xfrm>
            <a:off x="644652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3  The data answers</a:t>
            </a:r>
          </a:p>
        </p:txBody>
      </p:sp>
      <p:sp>
        <p:nvSpPr>
          <p:cNvPr id="24" name="TextBox 23"/>
          <p:cNvSpPr txBox="1"/>
          <p:nvPr/>
        </p:nvSpPr>
        <p:spPr>
          <a:xfrm>
            <a:off x="649224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The search runs against the department's data bank, read-only.</a:t>
            </a:r>
          </a:p>
        </p:txBody>
      </p:sp>
      <p:sp>
        <p:nvSpPr>
          <p:cNvPr id="25" name="Right Arrow 24"/>
          <p:cNvSpPr/>
          <p:nvPr/>
        </p:nvSpPr>
        <p:spPr>
          <a:xfrm>
            <a:off x="889711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28116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6812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art-white.png"/>
          <p:cNvPicPr>
            <a:picLocks noChangeAspect="1"/>
          </p:cNvPicPr>
          <p:nvPr/>
        </p:nvPicPr>
        <p:blipFill>
          <a:blip r:embed="rId6"/>
          <a:stretch>
            <a:fillRect/>
          </a:stretch>
        </p:blipFill>
        <p:spPr>
          <a:xfrm>
            <a:off x="10339120" y="1954072"/>
            <a:ext cx="435254" cy="435254"/>
          </a:xfrm>
          <a:prstGeom prst="rect">
            <a:avLst/>
          </a:prstGeom>
        </p:spPr>
      </p:pic>
      <p:sp>
        <p:nvSpPr>
          <p:cNvPr id="29" name="TextBox 28"/>
          <p:cNvSpPr txBox="1"/>
          <p:nvPr/>
        </p:nvSpPr>
        <p:spPr>
          <a:xfrm>
            <a:off x="937260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4  You see the result</a:t>
            </a:r>
          </a:p>
        </p:txBody>
      </p:sp>
      <p:sp>
        <p:nvSpPr>
          <p:cNvPr id="30" name="TextBox 29"/>
          <p:cNvSpPr txBox="1"/>
          <p:nvPr/>
        </p:nvSpPr>
        <p:spPr>
          <a:xfrm>
            <a:off x="941832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A figure, a chart, a short summary and the exact query used.</a:t>
            </a:r>
          </a:p>
        </p:txBody>
      </p:sp>
      <p:sp>
        <p:nvSpPr>
          <p:cNvPr id="31" name="Rounded Rectangle 30"/>
          <p:cNvSpPr/>
          <p:nvPr/>
        </p:nvSpPr>
        <p:spPr>
          <a:xfrm>
            <a:off x="502920" y="5257800"/>
            <a:ext cx="11155680" cy="9601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5303520"/>
            <a:ext cx="10698480" cy="868680"/>
          </a:xfrm>
          <a:prstGeom prst="rect">
            <a:avLst/>
          </a:prstGeom>
          <a:noFill/>
        </p:spPr>
        <p:txBody>
          <a:bodyPr wrap="square" anchor="ctr" lIns="45720" rIns="45720" tIns="27432" bIns="27432">
            <a:spAutoFit/>
          </a:bodyPr>
          <a:lstStyle/>
          <a:p>
            <a:pPr algn="l"/>
            <a:r>
              <a:rPr sz="1900" b="1">
                <a:solidFill>
                  <a:srgbClr val="243B7A"/>
                </a:solidFill>
                <a:latin typeface="Calibri"/>
              </a:rPr>
              <a:t>Every answer shows its working. The query is visible and can be copied, so an officer or an auditor can check where a number came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5</a:t>
            </a:r>
          </a:p>
        </p:txBody>
      </p:sp>
      <p:sp>
        <p:nvSpPr>
          <p:cNvPr id="8" name="TextBox 7"/>
          <p:cNvSpPr txBox="1"/>
          <p:nvPr/>
        </p:nvSpPr>
        <p:spPr>
          <a:xfrm>
            <a:off x="548640" y="1143000"/>
            <a:ext cx="3931920" cy="822960"/>
          </a:xfrm>
          <a:prstGeom prst="rect">
            <a:avLst/>
          </a:prstGeom>
          <a:noFill/>
        </p:spPr>
        <p:txBody>
          <a:bodyPr wrap="square" anchor="t" lIns="45720" rIns="45720" tIns="27432" bIns="27432">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anchor="t" lIns="45720" rIns="45720" tIns="27432" bIns="27432">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total is counted by the database itself, not added up by the AI.</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sk-1-view.png">
            <a:hlinkClick r:id="rId4"/>
          </p:cNvPr>
          <p:cNvPicPr>
            <a:picLocks noChangeAspect="1"/>
          </p:cNvPicPr>
          <p:nvPr/>
        </p:nvPicPr>
        <p:blipFill>
          <a:blip r:embed="rId3"/>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6</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sk-2-view.png">
            <a:hlinkClick r:id="rId4"/>
          </p:cNvPr>
          <p:cNvPicPr>
            <a:picLocks noChangeAspect="1"/>
          </p:cNvPicPr>
          <p:nvPr/>
        </p:nvPicPr>
        <p:blipFill>
          <a:blip r:embed="rId3"/>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sk-3-view.png">
            <a:hlinkClick r:id="rId6"/>
          </p:cNvPr>
          <p:cNvPicPr>
            <a:picLocks noChangeAspect="1"/>
          </p:cNvPicPr>
          <p:nvPr/>
        </p:nvPicPr>
        <p:blipFill>
          <a:blip r:embed="rId5"/>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anchor="t" lIns="45720" rIns="45720" tIns="27432" bIns="27432">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anchor="t" lIns="45720" rIns="45720" tIns="27432" bIns="27432">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anchor="t" lIns="45720" rIns="45720" tIns="27432" bIns="27432">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anchor="t" lIns="45720" rIns="45720" tIns="27432" bIns="27432">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a conversation with a chart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7</a:t>
            </a:r>
          </a:p>
        </p:txBody>
      </p:sp>
      <p:sp>
        <p:nvSpPr>
          <p:cNvPr id="8" name="TextBox 7"/>
          <p:cNvSpPr txBox="1"/>
          <p:nvPr/>
        </p:nvSpPr>
        <p:spPr>
          <a:xfrm>
            <a:off x="548640" y="1143000"/>
            <a:ext cx="3931920" cy="822960"/>
          </a:xfrm>
          <a:prstGeom prst="rect">
            <a:avLst/>
          </a:prstGeom>
          <a:noFill/>
        </p:spPr>
        <p:txBody>
          <a:bodyPr wrap="square" anchor="t" lIns="45720" rIns="45720" tIns="27432" bIns="27432">
            <a:spAutoFit/>
          </a:bodyPr>
          <a:lstStyle/>
          <a:p>
            <a:pPr algn="l"/>
            <a:r>
              <a:rPr sz="1800" b="1">
                <a:solidFill>
                  <a:srgbClr val="243B7A"/>
                </a:solidFill>
                <a:latin typeface="Calibri"/>
              </a:rPr>
              <a:t>"Which district generated the highest revenue in FY2025-26?"</a:t>
            </a:r>
          </a:p>
        </p:txBody>
      </p:sp>
      <p:sp>
        <p:nvSpPr>
          <p:cNvPr id="9" name="TextBox 8"/>
          <p:cNvSpPr txBox="1"/>
          <p:nvPr/>
        </p:nvSpPr>
        <p:spPr>
          <a:xfrm>
            <a:off x="548640" y="2148840"/>
            <a:ext cx="3931920" cy="457200"/>
          </a:xfrm>
          <a:prstGeom prst="rect">
            <a:avLst/>
          </a:prstGeom>
          <a:noFill/>
        </p:spPr>
        <p:txBody>
          <a:bodyPr wrap="square" anchor="t" lIns="45720" rIns="45720" tIns="27432" bIns="27432">
            <a:spAutoFit/>
          </a:bodyPr>
          <a:lstStyle/>
          <a:p>
            <a:pPr algn="l">
              <a:spcAft>
                <a:spcPts val="1200"/>
              </a:spcAft>
            </a:pPr>
            <a:r>
              <a:rPr sz="1600" b="0">
                <a:solidFill>
                  <a:srgbClr val="1F2937"/>
                </a:solidFill>
                <a:latin typeface="Calibri"/>
              </a:rPr>
              <a:t>The same question in Chat: the answer first, then the chart.</a:t>
            </a:r>
          </a:p>
          <a:p>
            <a:pPr algn="l">
              <a:spcAft>
                <a:spcPts val="1200"/>
              </a:spcAft>
            </a:pPr>
            <a:r>
              <a:rPr sz="1600" b="0">
                <a:solidFill>
                  <a:srgbClr val="1F2937"/>
                </a:solidFill>
                <a:latin typeface="Calibri"/>
              </a:rPr>
              <a:t>Lucknow is highest at ₹2,860.80 crore, from all 75 districts.</a:t>
            </a:r>
          </a:p>
          <a:p>
            <a:pPr algn="l">
              <a:spcAft>
                <a:spcPts val="1200"/>
              </a:spcAft>
            </a:pPr>
            <a:r>
              <a:rPr sz="1600" b="0">
                <a:solidFill>
                  <a:srgbClr val="1F2937"/>
                </a:solidFill>
                <a:latin typeface="Calibri"/>
              </a:rPr>
              <a:t>The chart downloads as PNG, SVG or PDF, and the whole conversation exports as a PDF.</a:t>
            </a:r>
          </a:p>
          <a:p>
            <a:pPr algn="l">
              <a:spcAft>
                <a:spcPts val="1200"/>
              </a:spcAft>
            </a:pPr>
            <a:r>
              <a:rPr sz="1600" b="0">
                <a:solidFill>
                  <a:srgbClr val="1F2937"/>
                </a:solidFill>
                <a:latin typeface="Calibri"/>
              </a:rPr>
              <a:t>The query behind the answer stays one click away.</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3-view.png">
            <a:hlinkClick r:id="rId4"/>
          </p:cNvPr>
          <p:cNvPicPr>
            <a:picLocks noChangeAspect="1"/>
          </p:cNvPicPr>
          <p:nvPr/>
        </p:nvPicPr>
        <p:blipFill>
          <a:blip r:embed="rId3"/>
          <a:stretch>
            <a:fillRect/>
          </a:stretch>
        </p:blipFill>
        <p:spPr>
          <a:xfrm>
            <a:off x="5297604" y="1188720"/>
            <a:ext cx="5772550"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data behind the answers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8</a:t>
            </a:r>
          </a:p>
        </p:txBody>
      </p:sp>
      <p:sp>
        <p:nvSpPr>
          <p:cNvPr id="8" name="Rounded Rectangle 7"/>
          <p:cNvSpPr/>
          <p:nvPr/>
        </p:nvSpPr>
        <p:spPr>
          <a:xfrm>
            <a:off x="548640"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eipt-white.png"/>
          <p:cNvPicPr>
            <a:picLocks noChangeAspect="1"/>
          </p:cNvPicPr>
          <p:nvPr/>
        </p:nvPicPr>
        <p:blipFill>
          <a:blip r:embed="rId3"/>
          <a:stretch>
            <a:fillRect/>
          </a:stretch>
        </p:blipFill>
        <p:spPr>
          <a:xfrm>
            <a:off x="918057" y="1741017"/>
            <a:ext cx="358444" cy="358444"/>
          </a:xfrm>
          <a:prstGeom prst="rect">
            <a:avLst/>
          </a:prstGeom>
        </p:spPr>
      </p:pic>
      <p:sp>
        <p:nvSpPr>
          <p:cNvPr id="11" name="TextBox 10"/>
          <p:cNvSpPr txBox="1"/>
          <p:nvPr/>
        </p:nvSpPr>
        <p:spPr>
          <a:xfrm>
            <a:off x="1554480"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9,322</a:t>
            </a:r>
          </a:p>
        </p:txBody>
      </p:sp>
      <p:sp>
        <p:nvSpPr>
          <p:cNvPr id="12" name="TextBox 11"/>
          <p:cNvSpPr txBox="1"/>
          <p:nvPr/>
        </p:nvSpPr>
        <p:spPr>
          <a:xfrm>
            <a:off x="777240"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dispatch records for Lucknow, August 2026, from the Integrated Excise Supply Chain Management System</a:t>
            </a:r>
          </a:p>
        </p:txBody>
      </p:sp>
      <p:sp>
        <p:nvSpPr>
          <p:cNvPr id="13" name="Rounded Rectangle 12"/>
          <p:cNvSpPr/>
          <p:nvPr/>
        </p:nvSpPr>
        <p:spPr>
          <a:xfrm>
            <a:off x="429767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2627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in-white.png"/>
          <p:cNvPicPr>
            <a:picLocks noChangeAspect="1"/>
          </p:cNvPicPr>
          <p:nvPr/>
        </p:nvPicPr>
        <p:blipFill>
          <a:blip r:embed="rId4"/>
          <a:stretch>
            <a:fillRect/>
          </a:stretch>
        </p:blipFill>
        <p:spPr>
          <a:xfrm>
            <a:off x="4667097" y="1741017"/>
            <a:ext cx="358444" cy="358444"/>
          </a:xfrm>
          <a:prstGeom prst="rect">
            <a:avLst/>
          </a:prstGeom>
        </p:spPr>
      </p:pic>
      <p:sp>
        <p:nvSpPr>
          <p:cNvPr id="16" name="TextBox 15"/>
          <p:cNvSpPr txBox="1"/>
          <p:nvPr/>
        </p:nvSpPr>
        <p:spPr>
          <a:xfrm>
            <a:off x="5303519"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28,405</a:t>
            </a:r>
          </a:p>
        </p:txBody>
      </p:sp>
      <p:sp>
        <p:nvSpPr>
          <p:cNvPr id="17" name="TextBox 16"/>
          <p:cNvSpPr txBox="1"/>
          <p:nvPr/>
        </p:nvSpPr>
        <p:spPr>
          <a:xfrm>
            <a:off x="4526279"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shops with FY2025-26 revenue, across all 75 districts</a:t>
            </a:r>
          </a:p>
        </p:txBody>
      </p:sp>
      <p:sp>
        <p:nvSpPr>
          <p:cNvPr id="18" name="Rounded Rectangle 17"/>
          <p:cNvSpPr/>
          <p:nvPr/>
        </p:nvSpPr>
        <p:spPr>
          <a:xfrm>
            <a:off x="804671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1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pee-white.png"/>
          <p:cNvPicPr>
            <a:picLocks noChangeAspect="1"/>
          </p:cNvPicPr>
          <p:nvPr/>
        </p:nvPicPr>
        <p:blipFill>
          <a:blip r:embed="rId5"/>
          <a:stretch>
            <a:fillRect/>
          </a:stretch>
        </p:blipFill>
        <p:spPr>
          <a:xfrm>
            <a:off x="8416137" y="1741017"/>
            <a:ext cx="358444" cy="358444"/>
          </a:xfrm>
          <a:prstGeom prst="rect">
            <a:avLst/>
          </a:prstGeom>
        </p:spPr>
      </p:pic>
      <p:sp>
        <p:nvSpPr>
          <p:cNvPr id="21" name="TextBox 20"/>
          <p:cNvSpPr txBox="1"/>
          <p:nvPr/>
        </p:nvSpPr>
        <p:spPr>
          <a:xfrm>
            <a:off x="9052559"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3,455</a:t>
            </a:r>
          </a:p>
        </p:txBody>
      </p:sp>
      <p:sp>
        <p:nvSpPr>
          <p:cNvPr id="22" name="TextBox 21"/>
          <p:cNvSpPr txBox="1"/>
          <p:nvPr/>
        </p:nvSpPr>
        <p:spPr>
          <a:xfrm>
            <a:off x="8275319"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district revenue records from the Rajkosh and Koshwani portal data</a:t>
            </a:r>
          </a:p>
        </p:txBody>
      </p:sp>
      <p:sp>
        <p:nvSpPr>
          <p:cNvPr id="23" name="Rounded Rectangle 22"/>
          <p:cNvSpPr/>
          <p:nvPr/>
        </p:nvSpPr>
        <p:spPr>
          <a:xfrm>
            <a:off x="548640"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77240"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rt-white.png"/>
          <p:cNvPicPr>
            <a:picLocks noChangeAspect="1"/>
          </p:cNvPicPr>
          <p:nvPr/>
        </p:nvPicPr>
        <p:blipFill>
          <a:blip r:embed="rId6"/>
          <a:stretch>
            <a:fillRect/>
          </a:stretch>
        </p:blipFill>
        <p:spPr>
          <a:xfrm>
            <a:off x="918057" y="3981297"/>
            <a:ext cx="358444" cy="358444"/>
          </a:xfrm>
          <a:prstGeom prst="rect">
            <a:avLst/>
          </a:prstGeom>
        </p:spPr>
      </p:pic>
      <p:sp>
        <p:nvSpPr>
          <p:cNvPr id="26" name="TextBox 25"/>
          <p:cNvSpPr txBox="1"/>
          <p:nvPr/>
        </p:nvSpPr>
        <p:spPr>
          <a:xfrm>
            <a:off x="1554480"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3,812</a:t>
            </a:r>
          </a:p>
        </p:txBody>
      </p:sp>
      <p:sp>
        <p:nvSpPr>
          <p:cNvPr id="27" name="TextBox 26"/>
          <p:cNvSpPr txBox="1"/>
          <p:nvPr/>
        </p:nvSpPr>
        <p:spPr>
          <a:xfrm>
            <a:off x="777240"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sales-volume records by liquor type and year</a:t>
            </a:r>
          </a:p>
        </p:txBody>
      </p:sp>
      <p:sp>
        <p:nvSpPr>
          <p:cNvPr id="28" name="Rounded Rectangle 27"/>
          <p:cNvSpPr/>
          <p:nvPr/>
        </p:nvSpPr>
        <p:spPr>
          <a:xfrm>
            <a:off x="429767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2627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hield-white.png"/>
          <p:cNvPicPr>
            <a:picLocks noChangeAspect="1"/>
          </p:cNvPicPr>
          <p:nvPr/>
        </p:nvPicPr>
        <p:blipFill>
          <a:blip r:embed="rId7"/>
          <a:stretch>
            <a:fillRect/>
          </a:stretch>
        </p:blipFill>
        <p:spPr>
          <a:xfrm>
            <a:off x="4667097" y="3981297"/>
            <a:ext cx="358444" cy="358444"/>
          </a:xfrm>
          <a:prstGeom prst="rect">
            <a:avLst/>
          </a:prstGeom>
        </p:spPr>
      </p:pic>
      <p:sp>
        <p:nvSpPr>
          <p:cNvPr id="31" name="TextBox 30"/>
          <p:cNvSpPr txBox="1"/>
          <p:nvPr/>
        </p:nvSpPr>
        <p:spPr>
          <a:xfrm>
            <a:off x="5303519"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11,124</a:t>
            </a:r>
          </a:p>
        </p:txBody>
      </p:sp>
      <p:sp>
        <p:nvSpPr>
          <p:cNvPr id="32" name="TextBox 31"/>
          <p:cNvSpPr txBox="1"/>
          <p:nvPr/>
        </p:nvSpPr>
        <p:spPr>
          <a:xfrm>
            <a:off x="4526279"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enforcement records: raids, seizures, convictions</a:t>
            </a:r>
          </a:p>
        </p:txBody>
      </p:sp>
      <p:sp>
        <p:nvSpPr>
          <p:cNvPr id="33" name="Rounded Rectangle 32"/>
          <p:cNvSpPr/>
          <p:nvPr/>
        </p:nvSpPr>
        <p:spPr>
          <a:xfrm>
            <a:off x="804671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531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books-white.png"/>
          <p:cNvPicPr>
            <a:picLocks noChangeAspect="1"/>
          </p:cNvPicPr>
          <p:nvPr/>
        </p:nvPicPr>
        <p:blipFill>
          <a:blip r:embed="rId8"/>
          <a:stretch>
            <a:fillRect/>
          </a:stretch>
        </p:blipFill>
        <p:spPr>
          <a:xfrm>
            <a:off x="8416137" y="3981297"/>
            <a:ext cx="358444" cy="358444"/>
          </a:xfrm>
          <a:prstGeom prst="rect">
            <a:avLst/>
          </a:prstGeom>
        </p:spPr>
      </p:pic>
      <p:sp>
        <p:nvSpPr>
          <p:cNvPr id="36" name="TextBox 35"/>
          <p:cNvSpPr txBox="1"/>
          <p:nvPr/>
        </p:nvSpPr>
        <p:spPr>
          <a:xfrm>
            <a:off x="9052559"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330+</a:t>
            </a:r>
          </a:p>
        </p:txBody>
      </p:sp>
      <p:sp>
        <p:nvSpPr>
          <p:cNvPr id="37" name="TextBox 36"/>
          <p:cNvSpPr txBox="1"/>
          <p:nvPr/>
        </p:nvSpPr>
        <p:spPr>
          <a:xfrm>
            <a:off x="8275319"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acts, rules and policy documents in the knowledge library</a:t>
            </a:r>
          </a:p>
        </p:txBody>
      </p:sp>
      <p:sp>
        <p:nvSpPr>
          <p:cNvPr id="38" name="TextBox 37"/>
          <p:cNvSpPr txBox="1"/>
          <p:nvPr/>
        </p:nvSpPr>
        <p:spPr>
          <a:xfrm>
            <a:off x="548640" y="5897880"/>
            <a:ext cx="11064240" cy="457200"/>
          </a:xfrm>
          <a:prstGeom prst="rect">
            <a:avLst/>
          </a:prstGeom>
          <a:noFill/>
        </p:spPr>
        <p:txBody>
          <a:bodyPr wrap="square" anchor="t" lIns="45720" rIns="45720" tIns="27432" bIns="27432">
            <a:spAutoFit/>
          </a:bodyPr>
          <a:lstStyle/>
          <a:p>
            <a:pPr algn="l"/>
            <a:r>
              <a:rPr sz="1600" b="1">
                <a:solidFill>
                  <a:srgbClr val="243B7A"/>
                </a:solidFill>
                <a:latin typeface="Calibri"/>
              </a:rPr>
              <a:t>All of it is held on the department's own server, in a database the AI can read but never change.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AI models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9</a:t>
            </a:r>
          </a:p>
        </p:txBody>
      </p:sp>
      <p:sp>
        <p:nvSpPr>
          <p:cNvPr id="8" name="TextBox 7"/>
          <p:cNvSpPr txBox="1"/>
          <p:nvPr/>
        </p:nvSpPr>
        <p:spPr>
          <a:xfrm>
            <a:off x="548640" y="1143000"/>
            <a:ext cx="11064240" cy="640080"/>
          </a:xfrm>
          <a:prstGeom prst="rect">
            <a:avLst/>
          </a:prstGeom>
          <a:noFill/>
        </p:spPr>
        <p:txBody>
          <a:bodyPr wrap="square" anchor="t" lIns="45720" rIns="45720" tIns="27432" bIns="27432">
            <a:spAutoFit/>
          </a:bodyPr>
          <a:lstStyle/>
          <a:p>
            <a:pPr algn="l"/>
            <a:r>
              <a:rPr sz="1900" b="0">
                <a:solidFill>
                  <a:srgbClr val="1F2937"/>
                </a:solidFill>
                <a:latin typeface="Calibri"/>
              </a:rPr>
              <a:t>Two open-source models run on the office server. Each has one job. Nothing is sent to an outside service.</a:t>
            </a:r>
          </a:p>
        </p:txBody>
      </p:sp>
      <p:sp>
        <p:nvSpPr>
          <p:cNvPr id="9" name="Rounded Rectangle 8"/>
          <p:cNvSpPr/>
          <p:nvPr/>
        </p:nvSpPr>
        <p:spPr>
          <a:xfrm>
            <a:off x="54864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white.png"/>
          <p:cNvPicPr>
            <a:picLocks noChangeAspect="1"/>
          </p:cNvPicPr>
          <p:nvPr/>
        </p:nvPicPr>
        <p:blipFill>
          <a:blip r:embed="rId3"/>
          <a:stretch>
            <a:fillRect/>
          </a:stretch>
        </p:blipFill>
        <p:spPr>
          <a:xfrm>
            <a:off x="983894" y="2401214"/>
            <a:ext cx="409651" cy="409651"/>
          </a:xfrm>
          <a:prstGeom prst="rect">
            <a:avLst/>
          </a:prstGeom>
        </p:spPr>
      </p:pic>
      <p:sp>
        <p:nvSpPr>
          <p:cNvPr id="12" name="TextBox 11"/>
          <p:cNvSpPr txBox="1"/>
          <p:nvPr/>
        </p:nvSpPr>
        <p:spPr>
          <a:xfrm>
            <a:off x="1737360" y="2194560"/>
            <a:ext cx="4023360" cy="502920"/>
          </a:xfrm>
          <a:prstGeom prst="rect">
            <a:avLst/>
          </a:prstGeom>
          <a:noFill/>
        </p:spPr>
        <p:txBody>
          <a:bodyPr wrap="square" anchor="t" lIns="45720" rIns="45720" tIns="27432" bIns="27432">
            <a:spAutoFit/>
          </a:bodyPr>
          <a:lstStyle/>
          <a:p>
            <a:pPr algn="l"/>
            <a:r>
              <a:rPr sz="2200" b="1">
                <a:solidFill>
                  <a:srgbClr val="243B7A"/>
                </a:solidFill>
                <a:latin typeface="Calibri"/>
              </a:rPr>
              <a:t>Llama 3.1  (8 billion)</a:t>
            </a:r>
          </a:p>
        </p:txBody>
      </p:sp>
      <p:sp>
        <p:nvSpPr>
          <p:cNvPr id="13" name="TextBox 12"/>
          <p:cNvSpPr txBox="1"/>
          <p:nvPr/>
        </p:nvSpPr>
        <p:spPr>
          <a:xfrm>
            <a:off x="1737360" y="2697480"/>
            <a:ext cx="4023360" cy="365760"/>
          </a:xfrm>
          <a:prstGeom prst="rect">
            <a:avLst/>
          </a:prstGeom>
          <a:noFill/>
        </p:spPr>
        <p:txBody>
          <a:bodyPr wrap="square" anchor="t" lIns="45720" rIns="45720" tIns="27432" bIns="27432">
            <a:spAutoFit/>
          </a:bodyPr>
          <a:lstStyle/>
          <a:p>
            <a:pPr algn="l"/>
            <a:r>
              <a:rPr sz="1500" b="0">
                <a:solidFill>
                  <a:srgbClr val="8A6300"/>
                </a:solidFill>
                <a:latin typeface="Calibri"/>
              </a:rPr>
              <a:t>The conversationalist</a:t>
            </a:r>
          </a:p>
        </p:txBody>
      </p:sp>
      <p:sp>
        <p:nvSpPr>
          <p:cNvPr id="14" name="TextBox 13"/>
          <p:cNvSpPr txBox="1"/>
          <p:nvPr/>
        </p:nvSpPr>
        <p:spPr>
          <a:xfrm>
            <a:off x="822959" y="3337560"/>
            <a:ext cx="4846320" cy="1371600"/>
          </a:xfrm>
          <a:prstGeom prst="rect">
            <a:avLst/>
          </a:prstGeom>
          <a:noFill/>
        </p:spPr>
        <p:txBody>
          <a:bodyPr wrap="square" anchor="t" lIns="45720" rIns="45720" tIns="27432" bIns="27432">
            <a:spAutoFit/>
          </a:bodyPr>
          <a:lstStyle/>
          <a:p>
            <a:pPr algn="l"/>
            <a:r>
              <a:rPr sz="1700" b="0">
                <a:solidFill>
                  <a:srgbClr val="1F2937"/>
                </a:solidFill>
                <a:latin typeface="Calibri"/>
              </a:rPr>
              <a:t>Talks with the officer, decides when to look something up, and writes the plain-language summary.</a:t>
            </a:r>
          </a:p>
        </p:txBody>
      </p:sp>
      <p:sp>
        <p:nvSpPr>
          <p:cNvPr id="15" name="Rounded Rectangle 14"/>
          <p:cNvSpPr/>
          <p:nvPr/>
        </p:nvSpPr>
        <p:spPr>
          <a:xfrm>
            <a:off x="617220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46520"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pu-white.png"/>
          <p:cNvPicPr>
            <a:picLocks noChangeAspect="1"/>
          </p:cNvPicPr>
          <p:nvPr/>
        </p:nvPicPr>
        <p:blipFill>
          <a:blip r:embed="rId4"/>
          <a:stretch>
            <a:fillRect/>
          </a:stretch>
        </p:blipFill>
        <p:spPr>
          <a:xfrm>
            <a:off x="6607454" y="2401214"/>
            <a:ext cx="409651" cy="409651"/>
          </a:xfrm>
          <a:prstGeom prst="rect">
            <a:avLst/>
          </a:prstGeom>
        </p:spPr>
      </p:pic>
      <p:sp>
        <p:nvSpPr>
          <p:cNvPr id="18" name="TextBox 17"/>
          <p:cNvSpPr txBox="1"/>
          <p:nvPr/>
        </p:nvSpPr>
        <p:spPr>
          <a:xfrm>
            <a:off x="7360920" y="2194560"/>
            <a:ext cx="4023360" cy="502920"/>
          </a:xfrm>
          <a:prstGeom prst="rect">
            <a:avLst/>
          </a:prstGeom>
          <a:noFill/>
        </p:spPr>
        <p:txBody>
          <a:bodyPr wrap="square" anchor="t" lIns="45720" rIns="45720" tIns="27432" bIns="27432">
            <a:spAutoFit/>
          </a:bodyPr>
          <a:lstStyle/>
          <a:p>
            <a:pPr algn="l"/>
            <a:r>
              <a:rPr sz="2200" b="1">
                <a:solidFill>
                  <a:srgbClr val="243B7A"/>
                </a:solidFill>
                <a:latin typeface="Calibri"/>
              </a:rPr>
              <a:t>Qwen 2.5 Coder  (7 billion)</a:t>
            </a:r>
          </a:p>
        </p:txBody>
      </p:sp>
      <p:sp>
        <p:nvSpPr>
          <p:cNvPr id="19" name="TextBox 18"/>
          <p:cNvSpPr txBox="1"/>
          <p:nvPr/>
        </p:nvSpPr>
        <p:spPr>
          <a:xfrm>
            <a:off x="7360920" y="2697480"/>
            <a:ext cx="4023360" cy="365760"/>
          </a:xfrm>
          <a:prstGeom prst="rect">
            <a:avLst/>
          </a:prstGeom>
          <a:noFill/>
        </p:spPr>
        <p:txBody>
          <a:bodyPr wrap="square" anchor="t" lIns="45720" rIns="45720" tIns="27432" bIns="27432">
            <a:spAutoFit/>
          </a:bodyPr>
          <a:lstStyle/>
          <a:p>
            <a:pPr algn="l"/>
            <a:r>
              <a:rPr sz="1500" b="0">
                <a:solidFill>
                  <a:srgbClr val="8A6300"/>
                </a:solidFill>
                <a:latin typeface="Calibri"/>
              </a:rPr>
              <a:t>The specialist</a:t>
            </a:r>
          </a:p>
        </p:txBody>
      </p:sp>
      <p:sp>
        <p:nvSpPr>
          <p:cNvPr id="20" name="TextBox 19"/>
          <p:cNvSpPr txBox="1"/>
          <p:nvPr/>
        </p:nvSpPr>
        <p:spPr>
          <a:xfrm>
            <a:off x="6446520" y="3337560"/>
            <a:ext cx="4846320" cy="1371600"/>
          </a:xfrm>
          <a:prstGeom prst="rect">
            <a:avLst/>
          </a:prstGeom>
          <a:noFill/>
        </p:spPr>
        <p:txBody>
          <a:bodyPr wrap="square" anchor="t" lIns="45720" rIns="45720" tIns="27432" bIns="27432">
            <a:spAutoFit/>
          </a:bodyPr>
          <a:lstStyle/>
          <a:p>
            <a:pPr algn="l"/>
            <a:r>
              <a:rPr sz="1700" b="0">
                <a:solidFill>
                  <a:srgbClr val="1F2937"/>
                </a:solidFill>
                <a:latin typeface="Calibri"/>
              </a:rPr>
              <a:t>Writes the database search and the chart code. It sees the data layout, not the officer's chat.</a:t>
            </a:r>
          </a:p>
        </p:txBody>
      </p:sp>
      <p:sp>
        <p:nvSpPr>
          <p:cNvPr id="21" name="Rounded Rectangle 20"/>
          <p:cNvSpPr/>
          <p:nvPr/>
        </p:nvSpPr>
        <p:spPr>
          <a:xfrm>
            <a:off x="548640" y="5029200"/>
            <a:ext cx="11064240" cy="11887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074920"/>
            <a:ext cx="10607040" cy="1097280"/>
          </a:xfrm>
          <a:prstGeom prst="rect">
            <a:avLst/>
          </a:prstGeom>
          <a:noFill/>
        </p:spPr>
        <p:txBody>
          <a:bodyPr wrap="square" anchor="ctr" lIns="45720" rIns="45720" tIns="27432" bIns="27432">
            <a:spAutoFit/>
          </a:bodyPr>
          <a:lstStyle/>
          <a:p>
            <a:pPr algn="l">
              <a:spcAft>
                <a:spcPts val="400"/>
              </a:spcAft>
            </a:pPr>
            <a:r>
              <a:rPr sz="1700" b="1">
                <a:solidFill>
                  <a:srgbClr val="243B7A"/>
                </a:solidFill>
                <a:latin typeface="Calibri"/>
              </a:rPr>
              <a:t>Why two models: a conversational model and a code-writing model are each better at their own task.</a:t>
            </a:r>
          </a:p>
          <a:p>
            <a:pPr algn="l">
              <a:spcAft>
                <a:spcPts val="400"/>
              </a:spcAft>
            </a:pPr>
            <a:r>
              <a:rPr sz="1700" b="1">
                <a:solidFill>
                  <a:srgbClr val="243B7A"/>
                </a:solidFill>
                <a:latin typeface="Calibri"/>
              </a:rPr>
              <a:t>Why local: the department's questions and figures never leave the building.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10</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ock-white.png"/>
          <p:cNvPicPr>
            <a:picLocks noChangeAspect="1"/>
          </p:cNvPicPr>
          <p:nvPr/>
        </p:nvPicPr>
        <p:blipFill>
          <a:blip r:embed="rId3"/>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eye-white.png"/>
          <p:cNvPicPr>
            <a:picLocks noChangeAspect="1"/>
          </p:cNvPicPr>
          <p:nvPr/>
        </p:nvPicPr>
        <p:blipFill>
          <a:blip r:embed="rId4"/>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earch-white.png"/>
          <p:cNvPicPr>
            <a:picLocks noChangeAspect="1"/>
          </p:cNvPicPr>
          <p:nvPr/>
        </p:nvPicPr>
        <p:blipFill>
          <a:blip r:embed="rId5"/>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white.png"/>
          <p:cNvPicPr>
            <a:picLocks noChangeAspect="1"/>
          </p:cNvPicPr>
          <p:nvPr/>
        </p:nvPicPr>
        <p:blipFill>
          <a:blip r:embed="rId6"/>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port-white.png"/>
          <p:cNvPicPr>
            <a:picLocks noChangeAspect="1"/>
          </p:cNvPicPr>
          <p:nvPr/>
        </p:nvPicPr>
        <p:blipFill>
          <a:blip r:embed="rId7"/>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Every question, query and action is logged for audit.</a:t>
            </a:r>
          </a:p>
        </p:txBody>
      </p:sp>
      <p:sp>
        <p:nvSpPr>
          <p:cNvPr id="33" name="TextBox 32"/>
          <p:cNvSpPr txBox="1"/>
          <p:nvPr/>
        </p:nvSpPr>
        <p:spPr>
          <a:xfrm>
            <a:off x="548640" y="6144768"/>
            <a:ext cx="11064240" cy="274320"/>
          </a:xfrm>
          <a:prstGeom prst="rect">
            <a:avLst/>
          </a:prstGeom>
          <a:noFill/>
        </p:spPr>
        <p:txBody>
          <a:bodyPr wrap="square" anchor="t" lIns="45720" rIns="45720" tIns="27432" bIns="27432">
            <a:spAutoFit/>
          </a:bodyPr>
          <a:lstStyle/>
          <a:p>
            <a:pPr algn="l"/>
            <a:r>
              <a:rPr sz="1300" b="0">
                <a:solidFill>
                  <a:srgbClr val="4B5563"/>
                </a:solidFill>
                <a:latin typeface="Calibri"/>
              </a:rPr>
              <a:t>The only outside connection is the secure tunnel that lets officers reach the 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administrators see</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11</a:t>
            </a:r>
          </a:p>
        </p:txBody>
      </p:sp>
      <p:sp>
        <p:nvSpPr>
          <p:cNvPr id="8" name="Rounded Rectangle 7"/>
          <p:cNvSpPr/>
          <p:nvPr/>
        </p:nvSpPr>
        <p:spPr>
          <a:xfrm>
            <a:off x="502919"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min-kb.png">
            <a:hlinkClick r:id="rId4"/>
          </p:cNvPr>
          <p:cNvPicPr>
            <a:picLocks noChangeAspect="1"/>
          </p:cNvPicPr>
          <p:nvPr/>
        </p:nvPicPr>
        <p:blipFill>
          <a:blip r:embed="rId3"/>
          <a:stretch>
            <a:fillRect/>
          </a:stretch>
        </p:blipFill>
        <p:spPr>
          <a:xfrm>
            <a:off x="772485" y="1371600"/>
            <a:ext cx="5038709" cy="3749039"/>
          </a:xfrm>
          <a:prstGeom prst="rect">
            <a:avLst/>
          </a:prstGeom>
        </p:spPr>
      </p:pic>
      <p:sp>
        <p:nvSpPr>
          <p:cNvPr id="10" name="Rounded Rectangle 9"/>
          <p:cNvSpPr/>
          <p:nvPr/>
        </p:nvSpPr>
        <p:spPr>
          <a:xfrm>
            <a:off x="6126480"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dmin-health.png">
            <a:hlinkClick r:id="rId6"/>
          </p:cNvPr>
          <p:cNvPicPr>
            <a:picLocks noChangeAspect="1"/>
          </p:cNvPicPr>
          <p:nvPr/>
        </p:nvPicPr>
        <p:blipFill>
          <a:blip r:embed="rId5"/>
          <a:stretch>
            <a:fillRect/>
          </a:stretch>
        </p:blipFill>
        <p:spPr>
          <a:xfrm>
            <a:off x="6172200" y="2021477"/>
            <a:ext cx="5486400" cy="2449285"/>
          </a:xfrm>
          <a:prstGeom prst="rect">
            <a:avLst/>
          </a:prstGeom>
        </p:spPr>
      </p:pic>
      <p:sp>
        <p:nvSpPr>
          <p:cNvPr id="12" name="TextBox 11"/>
          <p:cNvSpPr txBox="1"/>
          <p:nvPr/>
        </p:nvSpPr>
        <p:spPr>
          <a:xfrm>
            <a:off x="548640" y="5349240"/>
            <a:ext cx="5486400" cy="914400"/>
          </a:xfrm>
          <a:prstGeom prst="rect">
            <a:avLst/>
          </a:prstGeom>
          <a:noFill/>
        </p:spPr>
        <p:txBody>
          <a:bodyPr wrap="square" anchor="t" lIns="45720" rIns="45720" tIns="27432" bIns="27432">
            <a:spAutoFit/>
          </a:bodyPr>
          <a:lstStyle/>
          <a:p>
            <a:pPr algn="l"/>
            <a:r>
              <a:rPr sz="1600" b="0">
                <a:solidFill>
                  <a:srgbClr val="1F2937"/>
                </a:solidFill>
                <a:latin typeface="Calibri"/>
              </a:rPr>
              <a:t>Knowledge base: upload a rule note, see every document the chat can quote, and withdraw one.</a:t>
            </a:r>
          </a:p>
        </p:txBody>
      </p:sp>
      <p:sp>
        <p:nvSpPr>
          <p:cNvPr id="13" name="TextBox 12"/>
          <p:cNvSpPr txBox="1"/>
          <p:nvPr/>
        </p:nvSpPr>
        <p:spPr>
          <a:xfrm>
            <a:off x="6172200" y="5349240"/>
            <a:ext cx="5486400" cy="914400"/>
          </a:xfrm>
          <a:prstGeom prst="rect">
            <a:avLst/>
          </a:prstGeom>
          <a:noFill/>
        </p:spPr>
        <p:txBody>
          <a:bodyPr wrap="square" anchor="t" lIns="45720" rIns="45720" tIns="27432" bIns="27432">
            <a:spAutoFit/>
          </a:bodyPr>
          <a:lstStyle/>
          <a:p>
            <a:pPr algn="l"/>
            <a:r>
              <a:rPr sz="1600" b="0">
                <a:solidFill>
                  <a:srgbClr val="1F2937"/>
                </a:solidFill>
                <a:latin typeface="Calibri"/>
              </a:rPr>
              <a:t>System health: whether the AI service is up, the queue, the server load, and how much each model was used.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How we built it, and how we tested it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12</a:t>
            </a:r>
          </a:p>
        </p:txBody>
      </p:sp>
      <p:sp>
        <p:nvSpPr>
          <p:cNvPr id="8" name="Rounded Rectangle 7"/>
          <p:cNvSpPr/>
          <p:nvPr/>
        </p:nvSpPr>
        <p:spPr>
          <a:xfrm>
            <a:off x="411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3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3"/>
          <a:stretch>
            <a:fillRect/>
          </a:stretch>
        </p:blipFill>
        <p:spPr>
          <a:xfrm>
            <a:off x="1293876" y="1842516"/>
            <a:ext cx="384048" cy="384048"/>
          </a:xfrm>
          <a:prstGeom prst="rect">
            <a:avLst/>
          </a:prstGeom>
        </p:spPr>
      </p:pic>
      <p:sp>
        <p:nvSpPr>
          <p:cNvPr id="11" name="TextBox 10"/>
          <p:cNvSpPr txBox="1"/>
          <p:nvPr/>
        </p:nvSpPr>
        <p:spPr>
          <a:xfrm>
            <a:off x="484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Data bank</a:t>
            </a:r>
          </a:p>
        </p:txBody>
      </p:sp>
      <p:sp>
        <p:nvSpPr>
          <p:cNvPr id="12" name="TextBox 11"/>
          <p:cNvSpPr txBox="1"/>
          <p:nvPr/>
        </p:nvSpPr>
        <p:spPr>
          <a:xfrm>
            <a:off x="521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Department data loaded and cleaned. Rows that fail checks are set aside, not guessed.</a:t>
            </a:r>
          </a:p>
        </p:txBody>
      </p:sp>
      <p:sp>
        <p:nvSpPr>
          <p:cNvPr id="13" name="Rounded Rectangle 12"/>
          <p:cNvSpPr/>
          <p:nvPr/>
        </p:nvSpPr>
        <p:spPr>
          <a:xfrm>
            <a:off x="2697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29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rain-white.png"/>
          <p:cNvPicPr>
            <a:picLocks noChangeAspect="1"/>
          </p:cNvPicPr>
          <p:nvPr/>
        </p:nvPicPr>
        <p:blipFill>
          <a:blip r:embed="rId4"/>
          <a:stretch>
            <a:fillRect/>
          </a:stretch>
        </p:blipFill>
        <p:spPr>
          <a:xfrm>
            <a:off x="3579876" y="1842516"/>
            <a:ext cx="384048" cy="384048"/>
          </a:xfrm>
          <a:prstGeom prst="rect">
            <a:avLst/>
          </a:prstGeom>
        </p:spPr>
      </p:pic>
      <p:sp>
        <p:nvSpPr>
          <p:cNvPr id="16" name="TextBox 15"/>
          <p:cNvSpPr txBox="1"/>
          <p:nvPr/>
        </p:nvSpPr>
        <p:spPr>
          <a:xfrm>
            <a:off x="2770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Question engine</a:t>
            </a:r>
          </a:p>
        </p:txBody>
      </p:sp>
      <p:sp>
        <p:nvSpPr>
          <p:cNvPr id="17" name="TextBox 16"/>
          <p:cNvSpPr txBox="1"/>
          <p:nvPr/>
        </p:nvSpPr>
        <p:spPr>
          <a:xfrm>
            <a:off x="2807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Question to query to answer, with a retry when the first attempt fails.</a:t>
            </a:r>
          </a:p>
        </p:txBody>
      </p:sp>
      <p:sp>
        <p:nvSpPr>
          <p:cNvPr id="18" name="Rounded Rectangle 17"/>
          <p:cNvSpPr/>
          <p:nvPr/>
        </p:nvSpPr>
        <p:spPr>
          <a:xfrm>
            <a:off x="4983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15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ooks-white.png"/>
          <p:cNvPicPr>
            <a:picLocks noChangeAspect="1"/>
          </p:cNvPicPr>
          <p:nvPr/>
        </p:nvPicPr>
        <p:blipFill>
          <a:blip r:embed="rId5"/>
          <a:stretch>
            <a:fillRect/>
          </a:stretch>
        </p:blipFill>
        <p:spPr>
          <a:xfrm>
            <a:off x="5865876" y="1842516"/>
            <a:ext cx="384048" cy="384048"/>
          </a:xfrm>
          <a:prstGeom prst="rect">
            <a:avLst/>
          </a:prstGeom>
        </p:spPr>
      </p:pic>
      <p:sp>
        <p:nvSpPr>
          <p:cNvPr id="21" name="TextBox 20"/>
          <p:cNvSpPr txBox="1"/>
          <p:nvPr/>
        </p:nvSpPr>
        <p:spPr>
          <a:xfrm>
            <a:off x="5056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Knowledge library</a:t>
            </a:r>
          </a:p>
        </p:txBody>
      </p:sp>
      <p:sp>
        <p:nvSpPr>
          <p:cNvPr id="22" name="TextBox 21"/>
          <p:cNvSpPr txBox="1"/>
          <p:nvPr/>
        </p:nvSpPr>
        <p:spPr>
          <a:xfrm>
            <a:off x="5093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Published rules split into searchable sections.</a:t>
            </a:r>
          </a:p>
        </p:txBody>
      </p:sp>
      <p:sp>
        <p:nvSpPr>
          <p:cNvPr id="23" name="Rounded Rectangle 22"/>
          <p:cNvSpPr/>
          <p:nvPr/>
        </p:nvSpPr>
        <p:spPr>
          <a:xfrm>
            <a:off x="7269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1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t-white.png"/>
          <p:cNvPicPr>
            <a:picLocks noChangeAspect="1"/>
          </p:cNvPicPr>
          <p:nvPr/>
        </p:nvPicPr>
        <p:blipFill>
          <a:blip r:embed="rId6"/>
          <a:stretch>
            <a:fillRect/>
          </a:stretch>
        </p:blipFill>
        <p:spPr>
          <a:xfrm>
            <a:off x="8151875" y="1842516"/>
            <a:ext cx="384048" cy="384048"/>
          </a:xfrm>
          <a:prstGeom prst="rect">
            <a:avLst/>
          </a:prstGeom>
        </p:spPr>
      </p:pic>
      <p:sp>
        <p:nvSpPr>
          <p:cNvPr id="26" name="TextBox 25"/>
          <p:cNvSpPr txBox="1"/>
          <p:nvPr/>
        </p:nvSpPr>
        <p:spPr>
          <a:xfrm>
            <a:off x="7342631"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Chat and Ask screens</a:t>
            </a:r>
          </a:p>
        </p:txBody>
      </p:sp>
      <p:sp>
        <p:nvSpPr>
          <p:cNvPr id="27" name="TextBox 26"/>
          <p:cNvSpPr txBox="1"/>
          <p:nvPr/>
        </p:nvSpPr>
        <p:spPr>
          <a:xfrm>
            <a:off x="7379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Web screens for officers and for administrators.</a:t>
            </a:r>
          </a:p>
        </p:txBody>
      </p:sp>
      <p:sp>
        <p:nvSpPr>
          <p:cNvPr id="28" name="Rounded Rectangle 27"/>
          <p:cNvSpPr/>
          <p:nvPr/>
        </p:nvSpPr>
        <p:spPr>
          <a:xfrm>
            <a:off x="9555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87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white.png"/>
          <p:cNvPicPr>
            <a:picLocks noChangeAspect="1"/>
          </p:cNvPicPr>
          <p:nvPr/>
        </p:nvPicPr>
        <p:blipFill>
          <a:blip r:embed="rId7"/>
          <a:stretch>
            <a:fillRect/>
          </a:stretch>
        </p:blipFill>
        <p:spPr>
          <a:xfrm>
            <a:off x="10437876" y="1842516"/>
            <a:ext cx="384048" cy="384048"/>
          </a:xfrm>
          <a:prstGeom prst="rect">
            <a:avLst/>
          </a:prstGeom>
        </p:spPr>
      </p:pic>
      <p:sp>
        <p:nvSpPr>
          <p:cNvPr id="31" name="TextBox 30"/>
          <p:cNvSpPr txBox="1"/>
          <p:nvPr/>
        </p:nvSpPr>
        <p:spPr>
          <a:xfrm>
            <a:off x="9628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Real-question testing</a:t>
            </a:r>
          </a:p>
        </p:txBody>
      </p:sp>
      <p:sp>
        <p:nvSpPr>
          <p:cNvPr id="32" name="TextBox 31"/>
          <p:cNvSpPr txBox="1"/>
          <p:nvPr/>
        </p:nvSpPr>
        <p:spPr>
          <a:xfrm>
            <a:off x="9665207"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Each demo question was run live and the answer checked against the source.</a:t>
            </a:r>
          </a:p>
        </p:txBody>
      </p:sp>
      <p:sp>
        <p:nvSpPr>
          <p:cNvPr id="33" name="TextBox 32"/>
          <p:cNvSpPr txBox="1"/>
          <p:nvPr/>
        </p:nvSpPr>
        <p:spPr>
          <a:xfrm>
            <a:off x="548640" y="5303520"/>
            <a:ext cx="11064240" cy="914400"/>
          </a:xfrm>
          <a:prstGeom prst="rect">
            <a:avLst/>
          </a:prstGeom>
          <a:noFill/>
        </p:spPr>
        <p:txBody>
          <a:bodyPr wrap="square" anchor="t" lIns="45720" rIns="45720" tIns="27432" bIns="27432">
            <a:spAutoFit/>
          </a:bodyPr>
          <a:lstStyle/>
          <a:p>
            <a:pPr algn="l"/>
            <a:r>
              <a:rPr sz="1700" b="0">
                <a:solidFill>
                  <a:srgbClr val="1F2937"/>
                </a:solidFill>
                <a:latin typeface="Calibri"/>
              </a:rPr>
              <a:t>The automated tests cover the safety checks, the data loaders and the chat flow. Live testing against real questions found problems the tests could not, and each one was fixed and recorded.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we learned, and the limits today</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13</a:t>
            </a:r>
          </a:p>
        </p:txBody>
      </p:sp>
      <p:sp>
        <p:nvSpPr>
          <p:cNvPr id="8" name="Rounded Rectangle 7"/>
          <p:cNvSpPr/>
          <p:nvPr/>
        </p:nvSpPr>
        <p:spPr>
          <a:xfrm>
            <a:off x="54864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71600"/>
            <a:ext cx="5029200" cy="457200"/>
          </a:xfrm>
          <a:prstGeom prst="rect">
            <a:avLst/>
          </a:prstGeom>
          <a:noFill/>
        </p:spPr>
        <p:txBody>
          <a:bodyPr wrap="square" anchor="t" lIns="45720" rIns="45720" tIns="27432" bIns="27432">
            <a:spAutoFit/>
          </a:bodyPr>
          <a:lstStyle/>
          <a:p>
            <a:pPr algn="l"/>
            <a:r>
              <a:rPr sz="2200" b="1">
                <a:solidFill>
                  <a:srgbClr val="243B7A"/>
                </a:solidFill>
                <a:latin typeface="Calibri"/>
              </a:rPr>
              <a:t>What we learned</a:t>
            </a:r>
          </a:p>
        </p:txBody>
      </p:sp>
      <p:sp>
        <p:nvSpPr>
          <p:cNvPr id="10" name="TextBox 9"/>
          <p:cNvSpPr txBox="1"/>
          <p:nvPr/>
        </p:nvSpPr>
        <p:spPr>
          <a:xfrm>
            <a:off x="777240" y="1965960"/>
            <a:ext cx="5029200" cy="457200"/>
          </a:xfrm>
          <a:prstGeom prst="rect">
            <a:avLst/>
          </a:prstGeom>
          <a:noFill/>
        </p:spPr>
        <p:txBody>
          <a:bodyPr wrap="square" anchor="t" lIns="45720" rIns="45720" tIns="27432" bIns="27432">
            <a:spAutoFit/>
          </a:bodyPr>
          <a:lstStyle/>
          <a:p>
            <a:pPr algn="l">
              <a:spcAft>
                <a:spcPts val="1000"/>
              </a:spcAft>
            </a:pPr>
            <a:r>
              <a:rPr sz="1500" b="0">
                <a:solidFill>
                  <a:srgbClr val="1F2937"/>
                </a:solidFill>
                <a:latin typeface="Calibri"/>
              </a:rPr>
              <a:t>A language model can give a confident wrong answer. We added checks so an empty result is reported as empty.</a:t>
            </a:r>
          </a:p>
          <a:p>
            <a:pPr algn="l">
              <a:spcAft>
                <a:spcPts val="1000"/>
              </a:spcAft>
            </a:pPr>
            <a:r>
              <a:rPr sz="1500" b="0">
                <a:solidFill>
                  <a:srgbClr val="1F2937"/>
                </a:solidFill>
                <a:latin typeface="Calibri"/>
              </a:rPr>
              <a:t>District revenue after 2018 in the Rajkosh and Koshwani portal data is booked at the central treasury in Lucknow. We cross-checked against shop-level revenue and now point the system to the correct source.</a:t>
            </a:r>
          </a:p>
          <a:p>
            <a:pPr algn="l">
              <a:spcAft>
                <a:spcPts val="1000"/>
              </a:spcAft>
            </a:pPr>
            <a:r>
              <a:rPr sz="1500" b="0">
                <a:solidFill>
                  <a:srgbClr val="1F2937"/>
                </a:solidFill>
                <a:latin typeface="Calibri"/>
              </a:rPr>
              <a:t>Money conversions are done in code. A model got one crore figure wrong by ten times.</a:t>
            </a:r>
          </a:p>
        </p:txBody>
      </p:sp>
      <p:sp>
        <p:nvSpPr>
          <p:cNvPr id="11" name="Rounded Rectangle 10"/>
          <p:cNvSpPr/>
          <p:nvPr/>
        </p:nvSpPr>
        <p:spPr>
          <a:xfrm>
            <a:off x="617220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5029200" cy="457200"/>
          </a:xfrm>
          <a:prstGeom prst="rect">
            <a:avLst/>
          </a:prstGeom>
          <a:noFill/>
        </p:spPr>
        <p:txBody>
          <a:bodyPr wrap="square" anchor="t" lIns="45720" rIns="45720" tIns="27432" bIns="27432">
            <a:spAutoFit/>
          </a:bodyPr>
          <a:lstStyle/>
          <a:p>
            <a:pPr algn="l"/>
            <a:r>
              <a:rPr sz="2200" b="1">
                <a:solidFill>
                  <a:srgbClr val="8A6300"/>
                </a:solidFill>
                <a:latin typeface="Calibri"/>
              </a:rPr>
              <a:t>Limits today</a:t>
            </a:r>
          </a:p>
        </p:txBody>
      </p:sp>
      <p:sp>
        <p:nvSpPr>
          <p:cNvPr id="13" name="TextBox 12"/>
          <p:cNvSpPr txBox="1"/>
          <p:nvPr/>
        </p:nvSpPr>
        <p:spPr>
          <a:xfrm>
            <a:off x="6400800" y="1965960"/>
            <a:ext cx="5029200" cy="457200"/>
          </a:xfrm>
          <a:prstGeom prst="rect">
            <a:avLst/>
          </a:prstGeom>
          <a:noFill/>
        </p:spPr>
        <p:txBody>
          <a:bodyPr wrap="square" anchor="t" lIns="45720" rIns="45720" tIns="27432" bIns="27432">
            <a:spAutoFit/>
          </a:bodyPr>
          <a:lstStyle/>
          <a:p>
            <a:pPr algn="l">
              <a:spcAft>
                <a:spcPts val="1000"/>
              </a:spcAft>
            </a:pPr>
            <a:r>
              <a:rPr sz="1500" b="0">
                <a:solidFill>
                  <a:srgbClr val="1F2937"/>
                </a:solidFill>
                <a:latin typeface="Calibri"/>
              </a:rPr>
              <a:t>The server has no graphics card, so an answer takes one to three minutes.</a:t>
            </a:r>
          </a:p>
          <a:p>
            <a:pPr algn="l">
              <a:spcAft>
                <a:spcPts val="1000"/>
              </a:spcAft>
            </a:pPr>
            <a:r>
              <a:rPr sz="1500" b="0">
                <a:solidFill>
                  <a:srgbClr val="1F2937"/>
                </a:solidFill>
                <a:latin typeface="Calibri"/>
              </a:rPr>
              <a:t>Shop-level monthly detail is loaded for Lucknow only (August 2026).</a:t>
            </a:r>
          </a:p>
          <a:p>
            <a:pPr algn="l">
              <a:spcAft>
                <a:spcPts val="1000"/>
              </a:spcAft>
            </a:pPr>
            <a:r>
              <a:rPr sz="1500" b="0">
                <a:solidFill>
                  <a:srgbClr val="1F2937"/>
                </a:solidFill>
                <a:latin typeface="Calibri"/>
              </a:rPr>
              <a:t>Shop-level Bhang data has no source yet.</a:t>
            </a:r>
          </a:p>
          <a:p>
            <a:pPr algn="l">
              <a:spcAft>
                <a:spcPts val="1000"/>
              </a:spcAft>
            </a:pPr>
            <a:r>
              <a:rPr sz="1500" b="0">
                <a:solidFill>
                  <a:srgbClr val="1F2937"/>
                </a:solidFill>
                <a:latin typeface="Calibri"/>
              </a:rPr>
              <a:t>Answers should be treated as a fast first reading, to be checked against the source for formal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14</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rver-white.png"/>
          <p:cNvPicPr>
            <a:picLocks noChangeAspect="1"/>
          </p:cNvPicPr>
          <p:nvPr/>
        </p:nvPicPr>
        <p:blipFill>
          <a:blip r:embed="rId3"/>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database-white.png"/>
          <p:cNvPicPr>
            <a:picLocks noChangeAspect="1"/>
          </p:cNvPicPr>
          <p:nvPr/>
        </p:nvPicPr>
        <p:blipFill>
          <a:blip r:embed="rId4"/>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oc-white.png"/>
          <p:cNvPicPr>
            <a:picLocks noChangeAspect="1"/>
          </p:cNvPicPr>
          <p:nvPr/>
        </p:nvPicPr>
        <p:blipFill>
          <a:blip r:embed="rId5"/>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users-white.png"/>
          <p:cNvPicPr>
            <a:picLocks noChangeAspect="1"/>
          </p:cNvPicPr>
          <p:nvPr/>
        </p:nvPicPr>
        <p:blipFill>
          <a:blip r:embed="rId6"/>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15</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lb-white.png"/>
          <p:cNvPicPr>
            <a:picLocks noChangeAspect="1"/>
          </p:cNvPicPr>
          <p:nvPr/>
        </p:nvPicPr>
        <p:blipFill>
          <a:blip r:embed="rId3"/>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anchor="t" lIns="45720" rIns="45720" tIns="27432" bIns="27432">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Cabinet and the Chief Secretary for a decision on the next step.</a:t>
            </a:r>
          </a:p>
        </p:txBody>
      </p:sp>
      <p:sp>
        <p:nvSpPr>
          <p:cNvPr id="12" name="TextBox 11"/>
          <p:cNvSpPr txBox="1"/>
          <p:nvPr/>
        </p:nvSpPr>
        <p:spPr>
          <a:xfrm>
            <a:off x="548640" y="3749039"/>
            <a:ext cx="11064240" cy="457200"/>
          </a:xfrm>
          <a:prstGeom prst="rect">
            <a:avLst/>
          </a:prstGeom>
          <a:noFill/>
        </p:spPr>
        <p:txBody>
          <a:bodyPr wrap="square" anchor="t" lIns="45720" rIns="45720" tIns="27432" bIns="27432">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anchor="t" lIns="45720" rIns="45720" tIns="27432" bIns="27432">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