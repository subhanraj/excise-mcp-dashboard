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0" r:id="rId6"/>
    <p:sldId id="261" r:id="rId7"/>
    <p:sldId id="265" r:id="rId11"/>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11"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3798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is a working proof of concept, not a mock-up. Everything in the demo slides came from the live system running in the department's office. It answered real questions against real department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scene in the department's own terms. Two examples to mention: a district total needed before a review meeting, and a rule position needed alongside a figure.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built three entry points on one engine. Ask takes a single well-formed question. Chat is for exploring. The knowledge library lets the same chat quote the department's published rules.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Read the question aloud, then point to the total and the two parts. This question was chosen because it has a split and a total. Earlier versions gave one combined number; we fixed that so each part is shown.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images/slide-05-shop-count.png" TargetMode="External"/><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images/slide-06a-top-district-revenue.png" TargetMode="External"/><Relationship Id="rId5" Type="http://schemas.openxmlformats.org/officeDocument/2006/relationships/image" Target="../media/image11.png"/><Relationship Id="rId6" Type="http://schemas.openxmlformats.org/officeDocument/2006/relationships/hyperlink" Target="images/slide-06b-beer-revenue.png" TargetMode="External"/><Relationship Id="rId7"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 Id="rId8"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8.png"/><Relationship Id="rId6" Type="http://schemas.openxmlformats.org/officeDocument/2006/relationships/image" Target="../media/image27.png"/><Relationship Id="rId7"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emblem-dark.png"/>
          <p:cNvPicPr>
            <a:picLocks noChangeAspect="1"/>
          </p:cNvPicPr>
          <p:nvPr/>
        </p:nvPicPr>
        <p:blipFill>
          <a:blip r:embed="rId3"/>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lIns="45720" tIns="27432" rIns="45720" bIns="27432" anchor="t">
            <a:spAutoFit/>
          </a:bodyPr>
          <a:lstStyle/>
          <a:p>
            <a:pPr algn="l"/>
            <a:r>
              <a:rPr sz="2200" b="0">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lIns="45720" tIns="27432" rIns="45720" bIns="27432" anchor="t">
            <a:spAutoFit/>
          </a:bodyPr>
          <a:lstStyle/>
          <a:p>
            <a:pPr algn="l"/>
            <a:r>
              <a:rPr sz="3600" b="1">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lIns="45720" tIns="27432" rIns="45720" bIns="27432" anchor="t">
            <a:spAutoFit/>
          </a:bodyPr>
          <a:lstStyle/>
          <a:p>
            <a:pPr algn="l"/>
            <a:r>
              <a:rPr lang="hi-IN" sz="2200" b="0">
                <a:solidFill>
                  <a:srgbClr val="1F2937"/>
                </a:solidFill>
                <a:latin typeface="Nirmala UI"/>
                <a:ea typeface="Nirmala UI"/>
                <a:cs typeface="Nirmala UI"/>
              </a:rPr>
              <a:t>उत्तर प्रदेश आबकारी विभाग</a:t>
            </a:r>
          </a:p>
        </p:txBody>
      </p:sp>
      <p:sp>
        <p:nvSpPr>
          <p:cNvPr id="8" name="Title"/>
          <p:cNvSpPr/>
          <p:nvPr>
            <p:ph type="ctrTitle"/>
          </p:nvPr>
        </p:nvSpPr>
        <p:spPr>
          <a:xfrm>
            <a:off x="731520" y="2743200"/>
            <a:ext cx="10515600" cy="1097280"/>
          </a:xfrm>
          <a:prstGeom prst="rect">
            <a:avLst/>
          </a:prstGeom>
          <a:noFill/>
        </p:spPr>
        <p:txBody>
          <a:bodyPr wrap="square" lIns="45720" tIns="27432" rIns="45720" bIns="27432" anchor="t">
            <a:spAutoFit/>
          </a:bodyPr>
          <a:lstStyle/>
          <a:p>
            <a:pPr algn="l"/>
            <a:r>
              <a:rPr sz="6000" b="1">
                <a:solidFill>
                  <a:srgbClr val="243B7A"/>
                </a:solidFill>
                <a:latin typeface="Calibri"/>
              </a:rPr>
              <a:t>Ask the Data</a:t>
            </a:r>
          </a:p>
        </p:txBody>
      </p:sp>
      <p:sp>
        <p:nvSpPr>
          <p:cNvPr id="9" name="TextBox 8"/>
          <p:cNvSpPr txBox="1"/>
          <p:nvPr/>
        </p:nvSpPr>
        <p:spPr>
          <a:xfrm>
            <a:off x="731520" y="3794760"/>
            <a:ext cx="8229600" cy="1463040"/>
          </a:xfrm>
          <a:prstGeom prst="rect">
            <a:avLst/>
          </a:prstGeom>
          <a:noFill/>
        </p:spPr>
        <p:txBody>
          <a:bodyPr wrap="square" lIns="45720" tIns="27432" rIns="45720" bIns="27432" anchor="t">
            <a:spAutoFit/>
          </a:bodyPr>
          <a:lstStyle/>
          <a:p>
            <a:pPr algn="l">
              <a:spcAft>
                <a:spcPts val="600"/>
              </a:spcAft>
            </a:pPr>
            <a:r>
              <a:rPr sz="2400" b="0">
                <a:solidFill>
                  <a:srgbClr val="1F2937"/>
                </a:solidFill>
                <a:latin typeface="Calibri"/>
              </a:rPr>
              <a:t>Ask a question in plain language.</a:t>
            </a:r>
          </a:p>
          <a:p>
            <a:pPr algn="l">
              <a:spcAft>
                <a:spcPts val="600"/>
              </a:spcAft>
            </a:pPr>
            <a:r>
              <a:rPr sz="2400" b="0">
                <a:solidFill>
                  <a:srgbClr val="1F2937"/>
                </a:solidFill>
                <a:latin typeface="Calibri"/>
              </a:rPr>
              <a:t>The answer comes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lIns="45720" tIns="27432" rIns="45720" bIns="27432" anchor="t">
            <a:spAutoFit/>
          </a:bodyPr>
          <a:lstStyle/>
          <a:p>
            <a:pPr algn="l"/>
            <a:r>
              <a:rPr sz="1800" b="0">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eet-white.png"/>
          <p:cNvPicPr>
            <a:picLocks noChangeAspect="1"/>
          </p:cNvPicPr>
          <p:nvPr/>
        </p:nvPicPr>
        <p:blipFill>
          <a:blip r:embed="rId4"/>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lock-white.png"/>
          <p:cNvPicPr>
            <a:picLocks noChangeAspect="1"/>
          </p:cNvPicPr>
          <p:nvPr/>
        </p:nvPicPr>
        <p:blipFill>
          <a:blip r:embed="rId5"/>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An officer asks, an analyst finds the files, builds the table and sends it back. A new angle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lIns="45720" tIns="27432" rIns="45720" bIns="27432" anchor="t">
            <a:spAutoFit/>
          </a:bodyPr>
          <a:lstStyle/>
          <a:p>
            <a:pPr algn="l"/>
            <a:r>
              <a:rPr sz="2200" b="1">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lIns="45720" tIns="27432" rIns="45720" bIns="27432" anchor="t">
            <a:spAutoFit/>
          </a:bodyPr>
          <a:lstStyle/>
          <a:p>
            <a:pPr algn="l"/>
            <a:r>
              <a:rPr sz="1600" b="0">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lIns="45720" tIns="27432" rIns="45720" bIns="27432" anchor="t">
            <a:spAutoFit/>
          </a:bodyPr>
          <a:lstStyle/>
          <a:p>
            <a:pPr algn="l"/>
            <a:r>
              <a:rPr sz="2000" b="1">
                <a:solidFill>
                  <a:srgbClr val="1F2937"/>
                </a:solidFill>
                <a:latin typeface="Calibri"/>
              </a:rPr>
              <a:t>An officer who needs a number for a meeting today should get it today, with its source, without waiting for a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this proof of concept does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lIns="45720" tIns="27432" rIns="45720" bIns="27432" anchor="t">
            <a:spAutoFit/>
          </a:bodyPr>
          <a:lstStyle/>
          <a:p>
            <a:pPr algn="l"/>
            <a:r>
              <a:rPr sz="2000" b="0">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question-white.png"/>
          <p:cNvPicPr>
            <a:picLocks noChangeAspect="1"/>
          </p:cNvPicPr>
          <p:nvPr/>
        </p:nvPicPr>
        <p:blipFill>
          <a:blip r:embed="rId4"/>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hat-white.png"/>
          <p:cNvPicPr>
            <a:picLocks noChangeAspect="1"/>
          </p:cNvPicPr>
          <p:nvPr/>
        </p:nvPicPr>
        <p:blipFill>
          <a:blip r:embed="rId5"/>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books-white.png"/>
          <p:cNvPicPr>
            <a:picLocks noChangeAspect="1"/>
          </p:cNvPicPr>
          <p:nvPr/>
        </p:nvPicPr>
        <p:blipFill>
          <a:blip r:embed="rId6"/>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lIns="45720" tIns="27432" rIns="45720" bIns="27432" anchor="ctr">
            <a:spAutoFit/>
          </a:bodyPr>
          <a:lstStyle/>
          <a:p>
            <a:pPr algn="l"/>
            <a:r>
              <a:rPr sz="2400" b="1">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lIns="45720" tIns="27432" rIns="45720" bIns="27432" anchor="t">
            <a:spAutoFit/>
          </a:bodyPr>
          <a:lstStyle/>
          <a:p>
            <a:pPr algn="l"/>
            <a:r>
              <a:rPr sz="1700" b="0">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lIns="45720" tIns="27432" rIns="45720" bIns="27432" anchor="t">
            <a:spAutoFit/>
          </a:bodyPr>
          <a:lstStyle/>
          <a:p>
            <a:pPr algn="l">
              <a:spcAft>
                <a:spcPts val="400"/>
              </a:spcAft>
            </a:pPr>
            <a:r>
              <a:rPr sz="1900" b="1">
                <a:solidFill>
                  <a:srgbClr val="243B7A"/>
                </a:solidFill>
                <a:latin typeface="Calibri"/>
              </a:rPr>
              <a:t>It runs on the departmental server, completely local.</a:t>
            </a:r>
          </a:p>
          <a:p>
            <a:pPr algn="l">
              <a:spcAft>
                <a:spcPts val="400"/>
              </a:spcAft>
            </a:pPr>
            <a:r>
              <a:rPr sz="1900" b="1">
                <a:solidFill>
                  <a:srgbClr val="243B7A"/>
                </a:solidFill>
                <a:latin typeface="Calibri"/>
              </a:rPr>
              <a:t>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4</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a:solidFill>
                  <a:srgbClr val="1F2937"/>
                </a:solidFill>
                <a:latin typeface="Calibri"/>
              </a:rPr>
              <a:t>Total: 1,006 shops.</a:t>
            </a:r>
          </a:p>
          <a:p>
            <a:pPr algn="l">
              <a:spcAft>
                <a:spcPts val="1200"/>
              </a:spcAft>
            </a:pPr>
            <a:r>
              <a:rPr sz="1600" b="0">
                <a:solidFill>
                  <a:srgbClr val="1F2937"/>
                </a:solidFill>
                <a:latin typeface="Calibri"/>
              </a:rPr>
              <a:t>Split: 589 country liquor and 417 composite.</a:t>
            </a:r>
          </a:p>
          <a:p>
            <a:pPr algn="l">
              <a:spcAft>
                <a:spcPts val="1200"/>
              </a:spcAft>
            </a:pPr>
            <a:r>
              <a:rPr sz="1600" b="0">
                <a:solidFill>
                  <a:srgbClr val="1F2937"/>
                </a:solidFill>
                <a:latin typeface="Calibri"/>
              </a:rPr>
              <a:t>The database counts the total; the AI does not add it up.</a:t>
            </a:r>
          </a:p>
          <a:p>
            <a:pPr algn="l">
              <a:spcAft>
                <a:spcPts val="1200"/>
              </a:spcAft>
            </a:pPr>
            <a:r>
              <a:rPr sz="1600" b="0">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1-view.png">
            <a:hlinkClick r:id="rId4"/>
          </p:cNvPr>
          <p:cNvPicPr>
            <a:picLocks noChangeAspect="1"/>
          </p:cNvPicPr>
          <p:nvPr/>
        </p:nvPicPr>
        <p:blipFill>
          <a:blip r:embed="rId5"/>
          <a:stretch>
            <a:fillRect/>
          </a:stretch>
        </p:blipFill>
        <p:spPr>
          <a:xfrm>
            <a:off x="5666938" y="1188720"/>
            <a:ext cx="5033882" cy="50749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5</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sk-2-view.png">
            <a:hlinkClick r:id="rId4"/>
          </p:cNvPr>
          <p:cNvPicPr>
            <a:picLocks noChangeAspect="1"/>
          </p:cNvPicPr>
          <p:nvPr/>
        </p:nvPicPr>
        <p:blipFill>
          <a:blip r:embed="rId5"/>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3-view.png">
            <a:hlinkClick r:id="rId6"/>
          </p:cNvPr>
          <p:cNvPicPr>
            <a:picLocks noChangeAspect="1"/>
          </p:cNvPicPr>
          <p:nvPr/>
        </p:nvPicPr>
        <p:blipFill>
          <a:blip r:embed="rId7"/>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lIns="45720" tIns="27432" rIns="45720" bIns="27432" anchor="t">
            <a:spAutoFit/>
          </a:bodyPr>
          <a:lstStyle/>
          <a:p>
            <a:pPr algn="l"/>
            <a:r>
              <a:rPr sz="1500" b="1">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lIns="45720" tIns="27432" rIns="45720" bIns="27432" anchor="t">
            <a:spAutoFit/>
          </a:bodyPr>
          <a:lstStyle/>
          <a:p>
            <a:pPr algn="l"/>
            <a:r>
              <a:rPr sz="1600" b="0">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Safety and control</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6</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ck-white.png"/>
          <p:cNvPicPr>
            <a:picLocks noChangeAspect="1"/>
          </p:cNvPicPr>
          <p:nvPr/>
        </p:nvPicPr>
        <p:blipFill>
          <a:blip r:embed="rId4"/>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ye-white.png"/>
          <p:cNvPicPr>
            <a:picLocks noChangeAspect="1"/>
          </p:cNvPicPr>
          <p:nvPr/>
        </p:nvPicPr>
        <p:blipFill>
          <a:blip r:embed="rId5"/>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earch-white.png"/>
          <p:cNvPicPr>
            <a:picLocks noChangeAspect="1"/>
          </p:cNvPicPr>
          <p:nvPr/>
        </p:nvPicPr>
        <p:blipFill>
          <a:blip r:embed="rId6"/>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shield-white.png"/>
          <p:cNvPicPr>
            <a:picLocks noChangeAspect="1"/>
          </p:cNvPicPr>
          <p:nvPr/>
        </p:nvPicPr>
        <p:blipFill>
          <a:blip r:embed="rId7"/>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report-white.png"/>
          <p:cNvPicPr>
            <a:picLocks noChangeAspect="1"/>
          </p:cNvPicPr>
          <p:nvPr/>
        </p:nvPicPr>
        <p:blipFill>
          <a:blip r:embed="rId8"/>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lIns="45720" tIns="27432" rIns="45720" bIns="27432" anchor="ctr">
            <a:spAutoFit/>
          </a:bodyPr>
          <a:lstStyle/>
          <a:p>
            <a:pPr algn="l"/>
            <a:r>
              <a:rPr sz="2100" b="1">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lIns="45720" tIns="27432" rIns="45720" bIns="27432" anchor="ctr">
            <a:spAutoFit/>
          </a:bodyPr>
          <a:lstStyle/>
          <a:p>
            <a:pPr algn="l"/>
            <a:r>
              <a:rPr sz="1600" b="0">
                <a:solidFill>
                  <a:srgbClr val="1F2937"/>
                </a:solidFill>
                <a:latin typeface="Calibri"/>
              </a:rPr>
              <a:t>Every question, query and action is logged for audit.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What comes next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7</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erver-white.png"/>
          <p:cNvPicPr>
            <a:picLocks noChangeAspect="1"/>
          </p:cNvPicPr>
          <p:nvPr/>
        </p:nvPicPr>
        <p:blipFill>
          <a:blip r:embed="rId4"/>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database-white.png"/>
          <p:cNvPicPr>
            <a:picLocks noChangeAspect="1"/>
          </p:cNvPicPr>
          <p:nvPr/>
        </p:nvPicPr>
        <p:blipFill>
          <a:blip r:embed="rId5"/>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doc-white.png"/>
          <p:cNvPicPr>
            <a:picLocks noChangeAspect="1"/>
          </p:cNvPicPr>
          <p:nvPr/>
        </p:nvPicPr>
        <p:blipFill>
          <a:blip r:embed="rId6"/>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sers-white.png"/>
          <p:cNvPicPr>
            <a:picLocks noChangeAspect="1"/>
          </p:cNvPicPr>
          <p:nvPr/>
        </p:nvPicPr>
        <p:blipFill>
          <a:blip r:embed="rId7"/>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lIns="45720" tIns="27432" rIns="45720" bIns="27432" anchor="ctr">
            <a:spAutoFit/>
          </a:bodyPr>
          <a:lstStyle/>
          <a:p>
            <a:pPr algn="l"/>
            <a:r>
              <a:rPr sz="2200" b="1">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lIns="45720" tIns="27432" rIns="45720" bIns="27432" anchor="t">
            <a:spAutoFit/>
          </a:bodyPr>
          <a:lstStyle/>
          <a:p>
            <a:pPr algn="l"/>
            <a:r>
              <a:rPr sz="1600" b="0">
                <a:solidFill>
                  <a:srgbClr val="1F2937"/>
                </a:solidFill>
                <a:latin typeface="Calibri"/>
              </a:rPr>
              <a:t>Roles for district and division officers, with their own question history.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a:solidFill>
                  <a:srgbClr val="243B7A"/>
                </a:solidFill>
                <a:latin typeface="Calibri"/>
              </a:rPr>
              <a:t>The decision we are asking for</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a:solidFill>
                  <a:srgbClr val="4B5563"/>
                </a:solidFill>
                <a:latin typeface="Calibri"/>
              </a:rPr>
              <a:t>8</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bulb-white.png"/>
          <p:cNvPicPr>
            <a:picLocks noChangeAspect="1"/>
          </p:cNvPicPr>
          <p:nvPr/>
        </p:nvPicPr>
        <p:blipFill>
          <a:blip r:embed="rId4"/>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lIns="45720" tIns="27432" rIns="45720" bIns="27432" anchor="t">
            <a:spAutoFit/>
          </a:bodyPr>
          <a:lstStyle/>
          <a:p>
            <a:pPr algn="l">
              <a:spcAft>
                <a:spcPts val="800"/>
              </a:spcAft>
            </a:pPr>
            <a:r>
              <a:rPr sz="2000" b="1">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lIns="45720" tIns="27432" rIns="45720" bIns="27432" anchor="t">
            <a:spAutoFit/>
          </a:bodyPr>
          <a:lstStyle/>
          <a:p>
            <a:pPr algn="l"/>
            <a:r>
              <a:rPr sz="2200" b="1">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lIns="45720" tIns="27432" rIns="45720" bIns="27432" anchor="t">
            <a:spAutoFit/>
          </a:bodyPr>
          <a:lstStyle/>
          <a:p>
            <a:pPr algn="l">
              <a:spcAft>
                <a:spcPts val="800"/>
              </a:spcAft>
            </a:pPr>
            <a:r>
              <a:rPr sz="1800" b="0">
                <a:solidFill>
                  <a:srgbClr val="1F2937"/>
                </a:solidFill>
                <a:latin typeface="Calibri"/>
              </a:rPr>
              <a:t>1.  A pilot with a small group of district and division officers.</a:t>
            </a:r>
          </a:p>
          <a:p>
            <a:pPr algn="l">
              <a:spcAft>
                <a:spcPts val="800"/>
              </a:spcAft>
            </a:pPr>
            <a:r>
              <a:rPr sz="1800" b="0">
                <a:solidFill>
                  <a:srgbClr val="1F2937"/>
                </a:solidFill>
                <a:latin typeface="Calibri"/>
              </a:rPr>
              <a:t>2.  A high-performance GPU compute node.</a:t>
            </a:r>
          </a:p>
          <a:p>
            <a:pPr algn="l">
              <a:spcAft>
                <a:spcPts val="800"/>
              </a:spcAft>
            </a:pPr>
            <a:r>
              <a:rPr sz="1800" b="0">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2159</Words>
  <Application>Microsoft Office PowerPoint</Application>
  <PresentationFormat>Widescreen</PresentationFormat>
  <Paragraphs>173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Subhan Raj</cp:lastModifiedBy>
  <cp:revision>2</cp:revision>
  <dcterms:created xsi:type="dcterms:W3CDTF">2013-01-27T09:14:16Z</dcterms:created>
  <dcterms:modified xsi:type="dcterms:W3CDTF">2026-10-12T10:08:39Z</dcterms:modified>
  <cp:category/>
</cp:coreProperties>
</file>