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6"/>
    <p:sldId id="261" r:id="rId7"/>
    <p:sldId id="265" r:id="rId11"/>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11"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379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is a working proof of concept, not a mock-up. Everything in the demo slides came from the live system running in the department's office. It answered real questions against real department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scene in the department's own terms. Two examples to mention: a district total needed before a review meeting, and a rule position needed alongside a figure.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three entry points on one engine. Ask takes a single well-formed question. Chat is for exploring. The knowledge library lets the same chat quote the department's published rules.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the screenshot to open it full size. Read the question aloud, then point to the total and the two parts. This question was chosen because it has a split and a total. Earlier versions gave one combined number; we fixed that so each part is shown.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either screenshot to open it full size. Money is shown in rupees with lakh and crore, never in dollars. The system converts the figures in code, not by asking the AI to do the arithmetic, after an early version got a crore conversion wrong.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layer works on its own: if one failed, the next would still stop a harmful action. Be ready for the question "can it change our data?" The answer is no: the database itself refuses any write from this account.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items come from the project plan. Saved analyses and offline reading are planned, not built.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DECISION REQUEST: to be written after the review with the project lead. Replace the next steps above with the specific approval being sought.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images/slide-05-shop-count.png" TargetMode="External"/><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images/slide-06a-top-district-revenue.png" TargetMode="External"/><Relationship Id="rId5" Type="http://schemas.openxmlformats.org/officeDocument/2006/relationships/image" Target="../media/image11.png"/><Relationship Id="rId6" Type="http://schemas.openxmlformats.org/officeDocument/2006/relationships/hyperlink" Target="images/slide-06b-beer-revenue.png" TargetMode="External"/><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8.png"/><Relationship Id="rId6" Type="http://schemas.openxmlformats.org/officeDocument/2006/relationships/image" Target="../media/image27.png"/><Relationship Id="rId7"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E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0" y="1097280"/>
            <a:ext cx="12191695" cy="5760720"/>
          </a:xfrm>
          <a:custGeom>
            <a:avLst/>
            <a:gdLst/>
            <a:ahLst/>
            <a:cxnLst/>
            <a:rect l="l" t="t" r="r" b="b"/>
            <a:pathLst>
              <a:path w="12191695" h="5760720">
                <a:moveTo>
                  <a:pt x="0" y="5760720"/>
                </a:moveTo>
                <a:lnTo>
                  <a:pt x="12191695" y="0"/>
                </a:lnTo>
                <a:lnTo>
                  <a:pt x="12191695" y="5760720"/>
                </a:lnTo>
                <a:close/>
              </a:path>
            </a:pathLst>
          </a:custGeom>
          <a:solidFill>
            <a:srgbClr val="C9D9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mblem-dark.png"/>
          <p:cNvPicPr>
            <a:picLocks noChangeAspect="1"/>
          </p:cNvPicPr>
          <p:nvPr/>
        </p:nvPicPr>
        <p:blipFill>
          <a:blip r:embed="rId3"/>
          <a:stretch>
            <a:fillRect/>
          </a:stretch>
        </p:blipFill>
        <p:spPr>
          <a:xfrm>
            <a:off x="731520" y="640080"/>
            <a:ext cx="1463040" cy="1463040"/>
          </a:xfrm>
          <a:prstGeom prst="rect">
            <a:avLst/>
          </a:prstGeom>
        </p:spPr>
      </p:pic>
      <p:sp>
        <p:nvSpPr>
          <p:cNvPr id="5" name="TextBox 4"/>
          <p:cNvSpPr txBox="1"/>
          <p:nvPr/>
        </p:nvSpPr>
        <p:spPr>
          <a:xfrm>
            <a:off x="2560320" y="685800"/>
            <a:ext cx="8686800" cy="457200"/>
          </a:xfrm>
          <a:prstGeom prst="rect">
            <a:avLst/>
          </a:prstGeom>
          <a:noFill/>
        </p:spPr>
        <p:txBody>
          <a:bodyPr wrap="square" lIns="45720" tIns="27432" rIns="45720" bIns="27432" anchor="t">
            <a:spAutoFit/>
          </a:bodyPr>
          <a:lstStyle/>
          <a:p>
            <a:pPr algn="l"/>
            <a:r>
              <a:rPr sz="2200" b="0" lang="en-IN">
                <a:solidFill>
                  <a:srgbClr val="1F2937"/>
                </a:solidFill>
                <a:latin typeface="Calibri"/>
              </a:rPr>
              <a:t>Government of Uttar Pradesh</a:t>
            </a:r>
          </a:p>
        </p:txBody>
      </p:sp>
      <p:sp>
        <p:nvSpPr>
          <p:cNvPr id="6" name="TextBox 5"/>
          <p:cNvSpPr txBox="1"/>
          <p:nvPr/>
        </p:nvSpPr>
        <p:spPr>
          <a:xfrm>
            <a:off x="2560320" y="1143000"/>
            <a:ext cx="8686800" cy="640080"/>
          </a:xfrm>
          <a:prstGeom prst="rect">
            <a:avLst/>
          </a:prstGeom>
          <a:noFill/>
        </p:spPr>
        <p:txBody>
          <a:bodyPr wrap="square" lIns="45720" tIns="27432" rIns="45720" bIns="27432" anchor="t">
            <a:spAutoFit/>
          </a:bodyPr>
          <a:lstStyle/>
          <a:p>
            <a:pPr algn="l"/>
            <a:r>
              <a:rPr sz="3600" b="1" lang="en-IN">
                <a:solidFill>
                  <a:srgbClr val="243B7A"/>
                </a:solidFill>
                <a:latin typeface="Calibri"/>
              </a:rPr>
              <a:t>Department of Excise</a:t>
            </a:r>
          </a:p>
        </p:txBody>
      </p:sp>
      <p:sp>
        <p:nvSpPr>
          <p:cNvPr id="7" name="TextBox 6"/>
          <p:cNvSpPr txBox="1"/>
          <p:nvPr/>
        </p:nvSpPr>
        <p:spPr>
          <a:xfrm>
            <a:off x="2560320" y="1783080"/>
            <a:ext cx="8686800" cy="457200"/>
          </a:xfrm>
          <a:prstGeom prst="rect">
            <a:avLst/>
          </a:prstGeom>
          <a:noFill/>
        </p:spPr>
        <p:txBody>
          <a:bodyPr wrap="square" lIns="45720" tIns="27432" rIns="45720" bIns="27432" anchor="t">
            <a:spAutoFit/>
          </a:bodyPr>
          <a:lstStyle/>
          <a:p>
            <a:pPr algn="l"/>
            <a:r>
              <a:rPr lang="hi-IN" sz="2200" b="0">
                <a:solidFill>
                  <a:srgbClr val="1F2937"/>
                </a:solidFill>
                <a:latin typeface="Nirmala UI"/>
                <a:ea typeface="Nirmala UI"/>
                <a:cs typeface="Nirmala UI"/>
              </a:rPr>
              <a:t>उत्तर प्रदेश आबकारी विभाग</a:t>
            </a:r>
          </a:p>
        </p:txBody>
      </p:sp>
      <p:sp>
        <p:nvSpPr>
          <p:cNvPr id="8" name="Title"/>
          <p:cNvSpPr/>
          <p:nvPr>
            <p:ph type="ctrTitle"/>
          </p:nvPr>
        </p:nvSpPr>
        <p:spPr>
          <a:xfrm>
            <a:off x="731520" y="2743200"/>
            <a:ext cx="10515600" cy="1097280"/>
          </a:xfrm>
          <a:prstGeom prst="rect">
            <a:avLst/>
          </a:prstGeom>
          <a:noFill/>
        </p:spPr>
        <p:txBody>
          <a:bodyPr wrap="square" lIns="45720" tIns="27432" rIns="45720" bIns="27432" anchor="t">
            <a:spAutoFit/>
          </a:bodyPr>
          <a:lstStyle/>
          <a:p>
            <a:pPr algn="l"/>
            <a:r>
              <a:rPr sz="6000" b="1" lang="en-IN">
                <a:solidFill>
                  <a:srgbClr val="243B7A"/>
                </a:solidFill>
                <a:latin typeface="Calibri"/>
              </a:rPr>
              <a:t>Ask the Data</a:t>
            </a:r>
          </a:p>
        </p:txBody>
      </p:sp>
      <p:sp>
        <p:nvSpPr>
          <p:cNvPr id="9" name="TextBox 8"/>
          <p:cNvSpPr txBox="1"/>
          <p:nvPr/>
        </p:nvSpPr>
        <p:spPr>
          <a:xfrm>
            <a:off x="731520" y="3794760"/>
            <a:ext cx="8229600" cy="1463040"/>
          </a:xfrm>
          <a:prstGeom prst="rect">
            <a:avLst/>
          </a:prstGeom>
          <a:noFill/>
        </p:spPr>
        <p:txBody>
          <a:bodyPr wrap="square" lIns="45720" tIns="27432" rIns="45720" bIns="27432" anchor="t">
            <a:spAutoFit/>
          </a:bodyPr>
          <a:lstStyle/>
          <a:p>
            <a:pPr algn="l">
              <a:spcAft>
                <a:spcPts val="600"/>
              </a:spcAft>
            </a:pPr>
            <a:r>
              <a:rPr sz="2400" b="0" lang="en-IN">
                <a:solidFill>
                  <a:srgbClr val="1F2937"/>
                </a:solidFill>
                <a:latin typeface="Calibri"/>
              </a:rPr>
              <a:t>Ask a question in plain language.</a:t>
            </a:r>
          </a:p>
          <a:p>
            <a:pPr algn="l">
              <a:spcAft>
                <a:spcPts val="600"/>
              </a:spcAft>
            </a:pPr>
            <a:r>
              <a:rPr sz="2400" b="0" lang="en-IN">
                <a:solidFill>
                  <a:srgbClr val="1F2937"/>
                </a:solidFill>
                <a:latin typeface="Calibri"/>
              </a:rPr>
              <a:t>The answer comes from the department's own figures and rules, on the department's own server.</a:t>
            </a:r>
          </a:p>
        </p:txBody>
      </p:sp>
      <p:sp>
        <p:nvSpPr>
          <p:cNvPr id="10" name="TextBox 9"/>
          <p:cNvSpPr txBox="1"/>
          <p:nvPr/>
        </p:nvSpPr>
        <p:spPr>
          <a:xfrm>
            <a:off x="731520" y="5989320"/>
            <a:ext cx="10515600" cy="457200"/>
          </a:xfrm>
          <a:prstGeom prst="rect">
            <a:avLst/>
          </a:prstGeom>
          <a:noFill/>
        </p:spPr>
        <p:txBody>
          <a:bodyPr wrap="square" lIns="45720" tIns="27432" rIns="45720" bIns="27432" anchor="t">
            <a:spAutoFit/>
          </a:bodyPr>
          <a:lstStyle/>
          <a:p>
            <a:pPr algn="l"/>
            <a:r>
              <a:rPr sz="1800" b="0" lang="en-IN">
                <a:solidFill>
                  <a:srgbClr val="243B7A"/>
                </a:solidFill>
                <a:latin typeface="Calibri"/>
              </a:rPr>
              <a:t>Proof of concept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The problem: a simple question can take days</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2</a:t>
            </a:r>
          </a:p>
        </p:txBody>
      </p:sp>
      <p:sp>
        <p:nvSpPr>
          <p:cNvPr id="8" name="Rounded Rectangle 7"/>
          <p:cNvSpPr/>
          <p:nvPr/>
        </p:nvSpPr>
        <p:spPr>
          <a:xfrm>
            <a:off x="548640"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2959"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heet-white.png"/>
          <p:cNvPicPr>
            <a:picLocks noChangeAspect="1"/>
          </p:cNvPicPr>
          <p:nvPr/>
        </p:nvPicPr>
        <p:blipFill>
          <a:blip r:embed="rId4"/>
          <a:stretch>
            <a:fillRect/>
          </a:stretch>
        </p:blipFill>
        <p:spPr>
          <a:xfrm>
            <a:off x="983894" y="1898294"/>
            <a:ext cx="409651" cy="409651"/>
          </a:xfrm>
          <a:prstGeom prst="rect">
            <a:avLst/>
          </a:prstGeom>
        </p:spPr>
      </p:pic>
      <p:sp>
        <p:nvSpPr>
          <p:cNvPr id="11" name="TextBox 10"/>
          <p:cNvSpPr txBox="1"/>
          <p:nvPr/>
        </p:nvSpPr>
        <p:spPr>
          <a:xfrm>
            <a:off x="777240" y="2651760"/>
            <a:ext cx="3108960" cy="731520"/>
          </a:xfrm>
          <a:prstGeom prst="rect">
            <a:avLst/>
          </a:prstGeom>
          <a:noFill/>
        </p:spPr>
        <p:txBody>
          <a:bodyPr wrap="square" lIns="45720" tIns="27432" rIns="45720" bIns="27432" anchor="t">
            <a:spAutoFit/>
          </a:bodyPr>
          <a:lstStyle/>
          <a:p>
            <a:pPr algn="l"/>
            <a:r>
              <a:rPr sz="2200" b="1" lang="en-IN">
                <a:solidFill>
                  <a:srgbClr val="243B7A"/>
                </a:solidFill>
                <a:latin typeface="Calibri"/>
              </a:rPr>
              <a:t>Figures sit in many files</a:t>
            </a:r>
          </a:p>
        </p:txBody>
      </p:sp>
      <p:sp>
        <p:nvSpPr>
          <p:cNvPr id="12" name="TextBox 11"/>
          <p:cNvSpPr txBox="1"/>
          <p:nvPr/>
        </p:nvSpPr>
        <p:spPr>
          <a:xfrm>
            <a:off x="777240" y="3383280"/>
            <a:ext cx="3108960" cy="1463040"/>
          </a:xfrm>
          <a:prstGeom prst="rect">
            <a:avLst/>
          </a:prstGeom>
          <a:noFill/>
        </p:spPr>
        <p:txBody>
          <a:bodyPr wrap="square" lIns="45720" tIns="27432" rIns="45720" bIns="27432" anchor="t">
            <a:spAutoFit/>
          </a:bodyPr>
          <a:lstStyle/>
          <a:p>
            <a:pPr algn="l"/>
            <a:r>
              <a:rPr sz="1600" b="0" lang="en-IN">
                <a:solidFill>
                  <a:srgbClr val="1F2937"/>
                </a:solidFill>
                <a:latin typeface="Calibri"/>
              </a:rPr>
              <a:t>Revenue, dispatch, shop and enforcement figures are held in separate workbooks, reports and portals.</a:t>
            </a:r>
          </a:p>
        </p:txBody>
      </p:sp>
      <p:sp>
        <p:nvSpPr>
          <p:cNvPr id="13" name="Rounded Rectangle 12"/>
          <p:cNvSpPr/>
          <p:nvPr/>
        </p:nvSpPr>
        <p:spPr>
          <a:xfrm>
            <a:off x="4297679"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1999"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lock-white.png"/>
          <p:cNvPicPr>
            <a:picLocks noChangeAspect="1"/>
          </p:cNvPicPr>
          <p:nvPr/>
        </p:nvPicPr>
        <p:blipFill>
          <a:blip r:embed="rId5"/>
          <a:stretch>
            <a:fillRect/>
          </a:stretch>
        </p:blipFill>
        <p:spPr>
          <a:xfrm>
            <a:off x="4732934" y="1898294"/>
            <a:ext cx="409651" cy="409651"/>
          </a:xfrm>
          <a:prstGeom prst="rect">
            <a:avLst/>
          </a:prstGeom>
        </p:spPr>
      </p:pic>
      <p:sp>
        <p:nvSpPr>
          <p:cNvPr id="16" name="TextBox 15"/>
          <p:cNvSpPr txBox="1"/>
          <p:nvPr/>
        </p:nvSpPr>
        <p:spPr>
          <a:xfrm>
            <a:off x="4526279" y="2651760"/>
            <a:ext cx="3108960" cy="731520"/>
          </a:xfrm>
          <a:prstGeom prst="rect">
            <a:avLst/>
          </a:prstGeom>
          <a:noFill/>
        </p:spPr>
        <p:txBody>
          <a:bodyPr wrap="square" lIns="45720" tIns="27432" rIns="45720" bIns="27432" anchor="t">
            <a:spAutoFit/>
          </a:bodyPr>
          <a:lstStyle/>
          <a:p>
            <a:pPr algn="l"/>
            <a:r>
              <a:rPr sz="2200" b="1" lang="en-IN">
                <a:solidFill>
                  <a:srgbClr val="243B7A"/>
                </a:solidFill>
                <a:latin typeface="Calibri"/>
              </a:rPr>
              <a:t>Each question needs an analyst</a:t>
            </a:r>
          </a:p>
        </p:txBody>
      </p:sp>
      <p:sp>
        <p:nvSpPr>
          <p:cNvPr id="17" name="TextBox 16"/>
          <p:cNvSpPr txBox="1"/>
          <p:nvPr/>
        </p:nvSpPr>
        <p:spPr>
          <a:xfrm>
            <a:off x="4526279" y="3383280"/>
            <a:ext cx="3108960" cy="1463040"/>
          </a:xfrm>
          <a:prstGeom prst="rect">
            <a:avLst/>
          </a:prstGeom>
          <a:noFill/>
        </p:spPr>
        <p:txBody>
          <a:bodyPr wrap="square" lIns="45720" tIns="27432" rIns="45720" bIns="27432" anchor="t">
            <a:spAutoFit/>
          </a:bodyPr>
          <a:lstStyle/>
          <a:p>
            <a:pPr algn="l"/>
            <a:r>
              <a:rPr sz="1600" b="0" lang="en-IN">
                <a:solidFill>
                  <a:srgbClr val="1F2937"/>
                </a:solidFill>
                <a:latin typeface="Calibri"/>
              </a:rPr>
              <a:t>An officer asks, an analyst finds the files, builds the table and sends it back. A new angle starts the cycle again.</a:t>
            </a:r>
          </a:p>
        </p:txBody>
      </p:sp>
      <p:sp>
        <p:nvSpPr>
          <p:cNvPr id="18" name="Rounded Rectangle 17"/>
          <p:cNvSpPr/>
          <p:nvPr/>
        </p:nvSpPr>
        <p:spPr>
          <a:xfrm>
            <a:off x="8046719"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321040"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books-white.png"/>
          <p:cNvPicPr>
            <a:picLocks noChangeAspect="1"/>
          </p:cNvPicPr>
          <p:nvPr/>
        </p:nvPicPr>
        <p:blipFill>
          <a:blip r:embed="rId6"/>
          <a:stretch>
            <a:fillRect/>
          </a:stretch>
        </p:blipFill>
        <p:spPr>
          <a:xfrm>
            <a:off x="8481974" y="1898294"/>
            <a:ext cx="409651" cy="409651"/>
          </a:xfrm>
          <a:prstGeom prst="rect">
            <a:avLst/>
          </a:prstGeom>
        </p:spPr>
      </p:pic>
      <p:sp>
        <p:nvSpPr>
          <p:cNvPr id="21" name="TextBox 20"/>
          <p:cNvSpPr txBox="1"/>
          <p:nvPr/>
        </p:nvSpPr>
        <p:spPr>
          <a:xfrm>
            <a:off x="8275319" y="2651760"/>
            <a:ext cx="3108960" cy="731520"/>
          </a:xfrm>
          <a:prstGeom prst="rect">
            <a:avLst/>
          </a:prstGeom>
          <a:noFill/>
        </p:spPr>
        <p:txBody>
          <a:bodyPr wrap="square" lIns="45720" tIns="27432" rIns="45720" bIns="27432" anchor="t">
            <a:spAutoFit/>
          </a:bodyPr>
          <a:lstStyle/>
          <a:p>
            <a:pPr algn="l"/>
            <a:r>
              <a:rPr sz="2200" b="1" lang="en-IN">
                <a:solidFill>
                  <a:srgbClr val="243B7A"/>
                </a:solidFill>
                <a:latin typeface="Calibri"/>
              </a:rPr>
              <a:t>Rules live in another place</a:t>
            </a:r>
          </a:p>
        </p:txBody>
      </p:sp>
      <p:sp>
        <p:nvSpPr>
          <p:cNvPr id="22" name="TextBox 21"/>
          <p:cNvSpPr txBox="1"/>
          <p:nvPr/>
        </p:nvSpPr>
        <p:spPr>
          <a:xfrm>
            <a:off x="8275319" y="3383280"/>
            <a:ext cx="3108960" cy="1463040"/>
          </a:xfrm>
          <a:prstGeom prst="rect">
            <a:avLst/>
          </a:prstGeom>
          <a:noFill/>
        </p:spPr>
        <p:txBody>
          <a:bodyPr wrap="square" lIns="45720" tIns="27432" rIns="45720" bIns="27432" anchor="t">
            <a:spAutoFit/>
          </a:bodyPr>
          <a:lstStyle/>
          <a:p>
            <a:pPr algn="l"/>
            <a:r>
              <a:rPr sz="1600" b="0" lang="en-IN">
                <a:solidFill>
                  <a:srgbClr val="1F2937"/>
                </a:solidFill>
                <a:latin typeface="Calibri"/>
              </a:rPr>
              <a:t>Acts, rules and policy orders are published as documents. Linking a rule to a figure is done by hand.</a:t>
            </a:r>
          </a:p>
        </p:txBody>
      </p:sp>
      <p:sp>
        <p:nvSpPr>
          <p:cNvPr id="23" name="TextBox 22"/>
          <p:cNvSpPr txBox="1"/>
          <p:nvPr/>
        </p:nvSpPr>
        <p:spPr>
          <a:xfrm>
            <a:off x="548640" y="5074920"/>
            <a:ext cx="11064240" cy="1097280"/>
          </a:xfrm>
          <a:prstGeom prst="rect">
            <a:avLst/>
          </a:prstGeom>
          <a:noFill/>
        </p:spPr>
        <p:txBody>
          <a:bodyPr wrap="square" lIns="45720" tIns="27432" rIns="45720" bIns="27432" anchor="t">
            <a:spAutoFit/>
          </a:bodyPr>
          <a:lstStyle/>
          <a:p>
            <a:pPr algn="l"/>
            <a:r>
              <a:rPr sz="2000" b="1" lang="en-IN">
                <a:solidFill>
                  <a:srgbClr val="1F2937"/>
                </a:solidFill>
                <a:latin typeface="Calibri"/>
              </a:rPr>
              <a:t>An officer who needs a number for a meeting today should get it today, with its source, without waiting for a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What this proof of concept does</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3</a:t>
            </a:r>
          </a:p>
        </p:txBody>
      </p:sp>
      <p:sp>
        <p:nvSpPr>
          <p:cNvPr id="8" name="TextBox 7"/>
          <p:cNvSpPr txBox="1"/>
          <p:nvPr/>
        </p:nvSpPr>
        <p:spPr>
          <a:xfrm>
            <a:off x="548640" y="1188720"/>
            <a:ext cx="11064240" cy="731520"/>
          </a:xfrm>
          <a:prstGeom prst="rect">
            <a:avLst/>
          </a:prstGeom>
          <a:noFill/>
        </p:spPr>
        <p:txBody>
          <a:bodyPr wrap="square" lIns="45720" tIns="27432" rIns="45720" bIns="27432" anchor="t">
            <a:spAutoFit/>
          </a:bodyPr>
          <a:lstStyle/>
          <a:p>
            <a:pPr algn="l"/>
            <a:r>
              <a:rPr sz="2000" b="0" lang="en-IN">
                <a:solidFill>
                  <a:srgbClr val="1F2937"/>
                </a:solidFill>
                <a:latin typeface="Calibri"/>
              </a:rPr>
              <a:t>An officer types a question in everyday English. The system finds the answer in the department's data, draws a chart where it helps, and shows the exact query it used.</a:t>
            </a:r>
          </a:p>
        </p:txBody>
      </p:sp>
      <p:sp>
        <p:nvSpPr>
          <p:cNvPr id="9" name="Rounded Rectangle 8"/>
          <p:cNvSpPr/>
          <p:nvPr/>
        </p:nvSpPr>
        <p:spPr>
          <a:xfrm>
            <a:off x="548640"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59"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uestion-white.png"/>
          <p:cNvPicPr>
            <a:picLocks noChangeAspect="1"/>
          </p:cNvPicPr>
          <p:nvPr/>
        </p:nvPicPr>
        <p:blipFill>
          <a:blip r:embed="rId4"/>
          <a:stretch>
            <a:fillRect/>
          </a:stretch>
        </p:blipFill>
        <p:spPr>
          <a:xfrm>
            <a:off x="983894" y="2766974"/>
            <a:ext cx="409651" cy="409651"/>
          </a:xfrm>
          <a:prstGeom prst="rect">
            <a:avLst/>
          </a:prstGeom>
        </p:spPr>
      </p:pic>
      <p:sp>
        <p:nvSpPr>
          <p:cNvPr id="12" name="TextBox 11"/>
          <p:cNvSpPr txBox="1"/>
          <p:nvPr/>
        </p:nvSpPr>
        <p:spPr>
          <a:xfrm>
            <a:off x="1691640" y="2697480"/>
            <a:ext cx="2286000" cy="548640"/>
          </a:xfrm>
          <a:prstGeom prst="rect">
            <a:avLst/>
          </a:prstGeom>
          <a:noFill/>
        </p:spPr>
        <p:txBody>
          <a:bodyPr wrap="square" lIns="45720" tIns="27432" rIns="45720" bIns="27432" anchor="ctr">
            <a:spAutoFit/>
          </a:bodyPr>
          <a:lstStyle/>
          <a:p>
            <a:pPr algn="l"/>
            <a:r>
              <a:rPr sz="2400" b="1" lang="en-IN">
                <a:solidFill>
                  <a:srgbClr val="243B7A"/>
                </a:solidFill>
                <a:latin typeface="Calibri"/>
              </a:rPr>
              <a:t>Ask</a:t>
            </a:r>
          </a:p>
        </p:txBody>
      </p:sp>
      <p:sp>
        <p:nvSpPr>
          <p:cNvPr id="13" name="TextBox 12"/>
          <p:cNvSpPr txBox="1"/>
          <p:nvPr/>
        </p:nvSpPr>
        <p:spPr>
          <a:xfrm>
            <a:off x="822959" y="3566160"/>
            <a:ext cx="3063240" cy="1554480"/>
          </a:xfrm>
          <a:prstGeom prst="rect">
            <a:avLst/>
          </a:prstGeom>
          <a:noFill/>
        </p:spPr>
        <p:txBody>
          <a:bodyPr wrap="square" lIns="45720" tIns="27432" rIns="45720" bIns="27432" anchor="t">
            <a:spAutoFit/>
          </a:bodyPr>
          <a:lstStyle/>
          <a:p>
            <a:pPr algn="l"/>
            <a:r>
              <a:rPr sz="1700" b="0" lang="en-IN">
                <a:solidFill>
                  <a:srgbClr val="1F2937"/>
                </a:solidFill>
                <a:latin typeface="Calibri"/>
              </a:rPr>
              <a:t>One question, one answer page: the figure, a chart, a plain summary and the query behind it.</a:t>
            </a:r>
          </a:p>
        </p:txBody>
      </p:sp>
      <p:sp>
        <p:nvSpPr>
          <p:cNvPr id="14" name="Rounded Rectangle 13"/>
          <p:cNvSpPr/>
          <p:nvPr/>
        </p:nvSpPr>
        <p:spPr>
          <a:xfrm>
            <a:off x="4297679"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71999"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hat-white.png"/>
          <p:cNvPicPr>
            <a:picLocks noChangeAspect="1"/>
          </p:cNvPicPr>
          <p:nvPr/>
        </p:nvPicPr>
        <p:blipFill>
          <a:blip r:embed="rId5"/>
          <a:stretch>
            <a:fillRect/>
          </a:stretch>
        </p:blipFill>
        <p:spPr>
          <a:xfrm>
            <a:off x="4732934" y="2766974"/>
            <a:ext cx="409651" cy="409651"/>
          </a:xfrm>
          <a:prstGeom prst="rect">
            <a:avLst/>
          </a:prstGeom>
        </p:spPr>
      </p:pic>
      <p:sp>
        <p:nvSpPr>
          <p:cNvPr id="17" name="TextBox 16"/>
          <p:cNvSpPr txBox="1"/>
          <p:nvPr/>
        </p:nvSpPr>
        <p:spPr>
          <a:xfrm>
            <a:off x="5440679" y="2697480"/>
            <a:ext cx="2286000" cy="548640"/>
          </a:xfrm>
          <a:prstGeom prst="rect">
            <a:avLst/>
          </a:prstGeom>
          <a:noFill/>
        </p:spPr>
        <p:txBody>
          <a:bodyPr wrap="square" lIns="45720" tIns="27432" rIns="45720" bIns="27432" anchor="ctr">
            <a:spAutoFit/>
          </a:bodyPr>
          <a:lstStyle/>
          <a:p>
            <a:pPr algn="l"/>
            <a:r>
              <a:rPr sz="2400" b="1" lang="en-IN">
                <a:solidFill>
                  <a:srgbClr val="243B7A"/>
                </a:solidFill>
                <a:latin typeface="Calibri"/>
              </a:rPr>
              <a:t>Chat</a:t>
            </a:r>
          </a:p>
        </p:txBody>
      </p:sp>
      <p:sp>
        <p:nvSpPr>
          <p:cNvPr id="18" name="TextBox 17"/>
          <p:cNvSpPr txBox="1"/>
          <p:nvPr/>
        </p:nvSpPr>
        <p:spPr>
          <a:xfrm>
            <a:off x="4571999" y="3566160"/>
            <a:ext cx="3063240" cy="1554480"/>
          </a:xfrm>
          <a:prstGeom prst="rect">
            <a:avLst/>
          </a:prstGeom>
          <a:noFill/>
        </p:spPr>
        <p:txBody>
          <a:bodyPr wrap="square" lIns="45720" tIns="27432" rIns="45720" bIns="27432" anchor="t">
            <a:spAutoFit/>
          </a:bodyPr>
          <a:lstStyle/>
          <a:p>
            <a:pPr algn="l"/>
            <a:r>
              <a:rPr sz="1700" b="0" lang="en-IN">
                <a:solidFill>
                  <a:srgbClr val="1F2937"/>
                </a:solidFill>
                <a:latin typeface="Calibri"/>
              </a:rPr>
              <a:t>A conversation that can look up figures and rules as it goes, and take follow-up questions.</a:t>
            </a:r>
          </a:p>
        </p:txBody>
      </p:sp>
      <p:sp>
        <p:nvSpPr>
          <p:cNvPr id="19" name="Rounded Rectangle 18"/>
          <p:cNvSpPr/>
          <p:nvPr/>
        </p:nvSpPr>
        <p:spPr>
          <a:xfrm>
            <a:off x="8046719"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321040"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books-white.png"/>
          <p:cNvPicPr>
            <a:picLocks noChangeAspect="1"/>
          </p:cNvPicPr>
          <p:nvPr/>
        </p:nvPicPr>
        <p:blipFill>
          <a:blip r:embed="rId6"/>
          <a:stretch>
            <a:fillRect/>
          </a:stretch>
        </p:blipFill>
        <p:spPr>
          <a:xfrm>
            <a:off x="8481974" y="2766974"/>
            <a:ext cx="409651" cy="409651"/>
          </a:xfrm>
          <a:prstGeom prst="rect">
            <a:avLst/>
          </a:prstGeom>
        </p:spPr>
      </p:pic>
      <p:sp>
        <p:nvSpPr>
          <p:cNvPr id="22" name="TextBox 21"/>
          <p:cNvSpPr txBox="1"/>
          <p:nvPr/>
        </p:nvSpPr>
        <p:spPr>
          <a:xfrm>
            <a:off x="9189719" y="2697480"/>
            <a:ext cx="2286000" cy="548640"/>
          </a:xfrm>
          <a:prstGeom prst="rect">
            <a:avLst/>
          </a:prstGeom>
          <a:noFill/>
        </p:spPr>
        <p:txBody>
          <a:bodyPr wrap="square" lIns="45720" tIns="27432" rIns="45720" bIns="27432" anchor="ctr">
            <a:spAutoFit/>
          </a:bodyPr>
          <a:lstStyle/>
          <a:p>
            <a:pPr algn="l"/>
            <a:r>
              <a:rPr sz="2400" b="1" lang="en-IN">
                <a:solidFill>
                  <a:srgbClr val="243B7A"/>
                </a:solidFill>
                <a:latin typeface="Calibri"/>
              </a:rPr>
              <a:t>Knowledge library</a:t>
            </a:r>
          </a:p>
        </p:txBody>
      </p:sp>
      <p:sp>
        <p:nvSpPr>
          <p:cNvPr id="23" name="TextBox 22"/>
          <p:cNvSpPr txBox="1"/>
          <p:nvPr/>
        </p:nvSpPr>
        <p:spPr>
          <a:xfrm>
            <a:off x="8321040" y="3566160"/>
            <a:ext cx="3063240" cy="1554480"/>
          </a:xfrm>
          <a:prstGeom prst="rect">
            <a:avLst/>
          </a:prstGeom>
          <a:noFill/>
        </p:spPr>
        <p:txBody>
          <a:bodyPr wrap="square" lIns="45720" tIns="27432" rIns="45720" bIns="27432" anchor="t">
            <a:spAutoFit/>
          </a:bodyPr>
          <a:lstStyle/>
          <a:p>
            <a:pPr algn="l"/>
            <a:r>
              <a:rPr sz="1700" b="0" lang="en-IN">
                <a:solidFill>
                  <a:srgbClr val="1F2937"/>
                </a:solidFill>
                <a:latin typeface="Calibri"/>
              </a:rPr>
              <a:t>Excise acts, rules and policy orders, searchable in the same chat.</a:t>
            </a:r>
          </a:p>
        </p:txBody>
      </p:sp>
      <p:sp>
        <p:nvSpPr>
          <p:cNvPr id="24" name="TextBox 23"/>
          <p:cNvSpPr txBox="1"/>
          <p:nvPr/>
        </p:nvSpPr>
        <p:spPr>
          <a:xfrm>
            <a:off x="548640" y="5349240"/>
            <a:ext cx="11064240" cy="914400"/>
          </a:xfrm>
          <a:prstGeom prst="rect">
            <a:avLst/>
          </a:prstGeom>
          <a:noFill/>
        </p:spPr>
        <p:txBody>
          <a:bodyPr wrap="square" lIns="45720" tIns="27432" rIns="45720" bIns="27432" anchor="t">
            <a:spAutoFit/>
          </a:bodyPr>
          <a:lstStyle/>
          <a:p>
            <a:pPr algn="l">
              <a:spcAft>
                <a:spcPts val="400"/>
              </a:spcAft>
            </a:pPr>
            <a:r>
              <a:rPr sz="1900" b="1" lang="en-IN">
                <a:solidFill>
                  <a:srgbClr val="243B7A"/>
                </a:solidFill>
                <a:latin typeface="Calibri"/>
              </a:rPr>
              <a:t>It runs on the departmental server, completely local.</a:t>
            </a:r>
          </a:p>
          <a:p>
            <a:pPr algn="l">
              <a:spcAft>
                <a:spcPts val="400"/>
              </a:spcAft>
            </a:pPr>
            <a:r>
              <a:rPr sz="1900" b="1" lang="en-IN">
                <a:solidFill>
                  <a:srgbClr val="243B7A"/>
                </a:solidFill>
                <a:latin typeface="Calibri"/>
              </a:rPr>
              <a:t>No external AI service provider and no closed-source or proprietary tool is used. All models run locally.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Live example: how many shops, and of which kind?</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4</a:t>
            </a:r>
          </a:p>
        </p:txBody>
      </p:sp>
      <p:sp>
        <p:nvSpPr>
          <p:cNvPr id="8" name="TextBox 7"/>
          <p:cNvSpPr txBox="1"/>
          <p:nvPr/>
        </p:nvSpPr>
        <p:spPr>
          <a:xfrm>
            <a:off x="548640" y="1143000"/>
            <a:ext cx="3931920" cy="822960"/>
          </a:xfrm>
          <a:prstGeom prst="rect">
            <a:avLst/>
          </a:prstGeom>
          <a:noFill/>
        </p:spPr>
        <p:txBody>
          <a:bodyPr wrap="square" lIns="45720" tIns="27432" rIns="45720" bIns="27432" anchor="t">
            <a:spAutoFit/>
          </a:bodyPr>
          <a:lstStyle/>
          <a:p>
            <a:pPr algn="l"/>
            <a:r>
              <a:rPr sz="1800" b="1" lang="en-IN">
                <a:solidFill>
                  <a:srgbClr val="243B7A"/>
                </a:solidFill>
                <a:latin typeface="Calibri"/>
              </a:rPr>
              <a:t>"How many country liquor and composite shops are in Lucknow in August 2026?"</a:t>
            </a:r>
          </a:p>
        </p:txBody>
      </p:sp>
      <p:sp>
        <p:nvSpPr>
          <p:cNvPr id="9" name="TextBox 8"/>
          <p:cNvSpPr txBox="1"/>
          <p:nvPr/>
        </p:nvSpPr>
        <p:spPr>
          <a:xfrm>
            <a:off x="548640" y="2148840"/>
            <a:ext cx="3931920" cy="457200"/>
          </a:xfrm>
          <a:prstGeom prst="rect">
            <a:avLst/>
          </a:prstGeom>
          <a:noFill/>
        </p:spPr>
        <p:txBody>
          <a:bodyPr wrap="square" lIns="45720" tIns="27432" rIns="45720" bIns="27432" anchor="t">
            <a:spAutoFit/>
          </a:bodyPr>
          <a:lstStyle/>
          <a:p>
            <a:pPr algn="l">
              <a:spcAft>
                <a:spcPts val="1200"/>
              </a:spcAft>
            </a:pPr>
            <a:r>
              <a:rPr sz="1600" b="0" lang="en-IN">
                <a:solidFill>
                  <a:srgbClr val="1F2937"/>
                </a:solidFill>
                <a:latin typeface="Calibri"/>
              </a:rPr>
              <a:t>Total: 1,006 shops.</a:t>
            </a:r>
          </a:p>
          <a:p>
            <a:pPr algn="l">
              <a:spcAft>
                <a:spcPts val="1200"/>
              </a:spcAft>
            </a:pPr>
            <a:r>
              <a:rPr sz="1600" b="0" lang="en-IN">
                <a:solidFill>
                  <a:srgbClr val="1F2937"/>
                </a:solidFill>
                <a:latin typeface="Calibri"/>
              </a:rPr>
              <a:t>Split: 589 country liquor and 417 composite.</a:t>
            </a:r>
          </a:p>
          <a:p>
            <a:pPr algn="l">
              <a:spcAft>
                <a:spcPts val="1200"/>
              </a:spcAft>
            </a:pPr>
            <a:r>
              <a:rPr sz="1600" b="0" lang="en-IN">
                <a:solidFill>
                  <a:srgbClr val="1F2937"/>
                </a:solidFill>
                <a:latin typeface="Calibri"/>
              </a:rPr>
              <a:t>The database counts the total; the AI does not add it up.</a:t>
            </a:r>
          </a:p>
          <a:p>
            <a:pPr algn="l">
              <a:spcAft>
                <a:spcPts val="1200"/>
              </a:spcAft>
            </a:pPr>
            <a:r>
              <a:rPr sz="1600" b="0" lang="en-IN">
                <a:solidFill>
                  <a:srgbClr val="1F2937"/>
                </a:solidFill>
                <a:latin typeface="Calibri"/>
              </a:rPr>
              <a:t>Source: the monthly dispatch report from the Integrated Excise Supply Chain Management System (IESCMS).</a:t>
            </a:r>
          </a:p>
        </p:txBody>
      </p:sp>
      <p:sp>
        <p:nvSpPr>
          <p:cNvPr id="10" name="Rounded Rectangle 9"/>
          <p:cNvSpPr/>
          <p:nvPr/>
        </p:nvSpPr>
        <p:spPr>
          <a:xfrm>
            <a:off x="4663440" y="1143000"/>
            <a:ext cx="7040879" cy="5166359"/>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ask-1-view.png">
            <a:hlinkClick r:id="rId4"/>
          </p:cNvPr>
          <p:cNvPicPr>
            <a:picLocks noChangeAspect="1"/>
          </p:cNvPicPr>
          <p:nvPr/>
        </p:nvPicPr>
        <p:blipFill>
          <a:blip r:embed="rId5"/>
          <a:stretch>
            <a:fillRect/>
          </a:stretch>
        </p:blipFill>
        <p:spPr>
          <a:xfrm>
            <a:off x="5666938" y="1188720"/>
            <a:ext cx="5033882" cy="5074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Live example: revenue by district and for a product</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5</a:t>
            </a:r>
          </a:p>
        </p:txBody>
      </p:sp>
      <p:sp>
        <p:nvSpPr>
          <p:cNvPr id="8" name="Rounded Rectangle 7"/>
          <p:cNvSpPr/>
          <p:nvPr/>
        </p:nvSpPr>
        <p:spPr>
          <a:xfrm>
            <a:off x="502919" y="1737360"/>
            <a:ext cx="5577840" cy="3703320"/>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ask-2-view.png">
            <a:hlinkClick r:id="rId4"/>
          </p:cNvPr>
          <p:cNvPicPr>
            <a:picLocks noChangeAspect="1"/>
          </p:cNvPicPr>
          <p:nvPr/>
        </p:nvPicPr>
        <p:blipFill>
          <a:blip r:embed="rId5"/>
          <a:stretch>
            <a:fillRect/>
          </a:stretch>
        </p:blipFill>
        <p:spPr>
          <a:xfrm>
            <a:off x="864656" y="1783080"/>
            <a:ext cx="4854366" cy="3611880"/>
          </a:xfrm>
          <a:prstGeom prst="rect">
            <a:avLst/>
          </a:prstGeom>
        </p:spPr>
      </p:pic>
      <p:sp>
        <p:nvSpPr>
          <p:cNvPr id="10" name="Rounded Rectangle 9"/>
          <p:cNvSpPr/>
          <p:nvPr/>
        </p:nvSpPr>
        <p:spPr>
          <a:xfrm>
            <a:off x="6126480" y="1737360"/>
            <a:ext cx="5577840" cy="3703320"/>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ask-3-view.png">
            <a:hlinkClick r:id="rId6"/>
          </p:cNvPr>
          <p:cNvPicPr>
            <a:picLocks noChangeAspect="1"/>
          </p:cNvPicPr>
          <p:nvPr/>
        </p:nvPicPr>
        <p:blipFill>
          <a:blip r:embed="rId7"/>
          <a:stretch>
            <a:fillRect/>
          </a:stretch>
        </p:blipFill>
        <p:spPr>
          <a:xfrm>
            <a:off x="6488216" y="1783080"/>
            <a:ext cx="4854366" cy="3611880"/>
          </a:xfrm>
          <a:prstGeom prst="rect">
            <a:avLst/>
          </a:prstGeom>
        </p:spPr>
      </p:pic>
      <p:sp>
        <p:nvSpPr>
          <p:cNvPr id="12" name="TextBox 11"/>
          <p:cNvSpPr txBox="1"/>
          <p:nvPr/>
        </p:nvSpPr>
        <p:spPr>
          <a:xfrm>
            <a:off x="548640" y="1097280"/>
            <a:ext cx="5486400" cy="548640"/>
          </a:xfrm>
          <a:prstGeom prst="rect">
            <a:avLst/>
          </a:prstGeom>
          <a:noFill/>
        </p:spPr>
        <p:txBody>
          <a:bodyPr wrap="square" lIns="45720" tIns="27432" rIns="45720" bIns="27432" anchor="t">
            <a:spAutoFit/>
          </a:bodyPr>
          <a:lstStyle/>
          <a:p>
            <a:pPr algn="l"/>
            <a:r>
              <a:rPr sz="1500" b="1" lang="en-IN">
                <a:solidFill>
                  <a:srgbClr val="243B7A"/>
                </a:solidFill>
                <a:latin typeface="Calibri"/>
              </a:rPr>
              <a:t>"Which district generated the highest revenue in FY2025-26?"</a:t>
            </a:r>
          </a:p>
        </p:txBody>
      </p:sp>
      <p:sp>
        <p:nvSpPr>
          <p:cNvPr id="13" name="TextBox 12"/>
          <p:cNvSpPr txBox="1"/>
          <p:nvPr/>
        </p:nvSpPr>
        <p:spPr>
          <a:xfrm>
            <a:off x="6172200" y="1097280"/>
            <a:ext cx="5486400" cy="548640"/>
          </a:xfrm>
          <a:prstGeom prst="rect">
            <a:avLst/>
          </a:prstGeom>
          <a:noFill/>
        </p:spPr>
        <p:txBody>
          <a:bodyPr wrap="square" lIns="45720" tIns="27432" rIns="45720" bIns="27432" anchor="t">
            <a:spAutoFit/>
          </a:bodyPr>
          <a:lstStyle/>
          <a:p>
            <a:pPr algn="l"/>
            <a:r>
              <a:rPr sz="1500" b="1" lang="en-IN">
                <a:solidFill>
                  <a:srgbClr val="243B7A"/>
                </a:solidFill>
                <a:latin typeface="Calibri"/>
              </a:rPr>
              <a:t>"How much revenue came from beer sale across Uttar Pradesh in FY2025-26?"</a:t>
            </a:r>
          </a:p>
        </p:txBody>
      </p:sp>
      <p:sp>
        <p:nvSpPr>
          <p:cNvPr id="14" name="TextBox 13"/>
          <p:cNvSpPr txBox="1"/>
          <p:nvPr/>
        </p:nvSpPr>
        <p:spPr>
          <a:xfrm>
            <a:off x="548640" y="5577840"/>
            <a:ext cx="5486400" cy="822960"/>
          </a:xfrm>
          <a:prstGeom prst="rect">
            <a:avLst/>
          </a:prstGeom>
          <a:noFill/>
        </p:spPr>
        <p:txBody>
          <a:bodyPr wrap="square" lIns="45720" tIns="27432" rIns="45720" bIns="27432" anchor="t">
            <a:spAutoFit/>
          </a:bodyPr>
          <a:lstStyle/>
          <a:p>
            <a:pPr algn="l"/>
            <a:r>
              <a:rPr sz="1600" b="0" lang="en-IN">
                <a:solidFill>
                  <a:srgbClr val="1F2937"/>
                </a:solidFill>
                <a:latin typeface="Calibri"/>
              </a:rPr>
              <a:t>Lucknow is the highest, at ₹2,860.80 crore out of a state total of about ₹55,463 crore.</a:t>
            </a:r>
          </a:p>
        </p:txBody>
      </p:sp>
      <p:sp>
        <p:nvSpPr>
          <p:cNvPr id="15" name="TextBox 14"/>
          <p:cNvSpPr txBox="1"/>
          <p:nvPr/>
        </p:nvSpPr>
        <p:spPr>
          <a:xfrm>
            <a:off x="6172200" y="5577840"/>
            <a:ext cx="5486400" cy="822960"/>
          </a:xfrm>
          <a:prstGeom prst="rect">
            <a:avLst/>
          </a:prstGeom>
          <a:noFill/>
        </p:spPr>
        <p:txBody>
          <a:bodyPr wrap="square" lIns="45720" tIns="27432" rIns="45720" bIns="27432" anchor="t">
            <a:spAutoFit/>
          </a:bodyPr>
          <a:lstStyle/>
          <a:p>
            <a:pPr algn="l"/>
            <a:r>
              <a:rPr sz="1600" b="0" lang="en-IN">
                <a:solidFill>
                  <a:srgbClr val="1F2937"/>
                </a:solidFill>
                <a:latin typeface="Calibri"/>
              </a:rPr>
              <a:t>Beer revenue is ₹7,142.87 crore: ₹6,740.18 crore from composite shops and ₹402.69 crore from country liquor shops that also sell beer (CL5CC).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Safety and control</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6</a:t>
            </a:r>
          </a:p>
        </p:txBody>
      </p:sp>
      <p:sp>
        <p:nvSpPr>
          <p:cNvPr id="8" name="Rounded Rectangle 7"/>
          <p:cNvSpPr/>
          <p:nvPr/>
        </p:nvSpPr>
        <p:spPr>
          <a:xfrm>
            <a:off x="548640" y="1280160"/>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37160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ock-white.png"/>
          <p:cNvPicPr>
            <a:picLocks noChangeAspect="1"/>
          </p:cNvPicPr>
          <p:nvPr/>
        </p:nvPicPr>
        <p:blipFill>
          <a:blip r:embed="rId4"/>
          <a:stretch>
            <a:fillRect/>
          </a:stretch>
        </p:blipFill>
        <p:spPr>
          <a:xfrm>
            <a:off x="882396" y="1522476"/>
            <a:ext cx="384048" cy="384048"/>
          </a:xfrm>
          <a:prstGeom prst="rect">
            <a:avLst/>
          </a:prstGeom>
        </p:spPr>
      </p:pic>
      <p:sp>
        <p:nvSpPr>
          <p:cNvPr id="11" name="TextBox 10"/>
          <p:cNvSpPr txBox="1"/>
          <p:nvPr/>
        </p:nvSpPr>
        <p:spPr>
          <a:xfrm>
            <a:off x="1600200" y="1325880"/>
            <a:ext cx="3017520" cy="777240"/>
          </a:xfrm>
          <a:prstGeom prst="rect">
            <a:avLst/>
          </a:prstGeom>
          <a:noFill/>
        </p:spPr>
        <p:txBody>
          <a:bodyPr wrap="square" lIns="45720" tIns="27432" rIns="45720" bIns="27432" anchor="ctr">
            <a:spAutoFit/>
          </a:bodyPr>
          <a:lstStyle/>
          <a:p>
            <a:pPr algn="l"/>
            <a:r>
              <a:rPr sz="2100" b="1" lang="en-IN">
                <a:solidFill>
                  <a:srgbClr val="243B7A"/>
                </a:solidFill>
                <a:latin typeface="Calibri"/>
              </a:rPr>
              <a:t>Sign-in</a:t>
            </a:r>
          </a:p>
        </p:txBody>
      </p:sp>
      <p:sp>
        <p:nvSpPr>
          <p:cNvPr id="12" name="TextBox 11"/>
          <p:cNvSpPr txBox="1"/>
          <p:nvPr/>
        </p:nvSpPr>
        <p:spPr>
          <a:xfrm>
            <a:off x="4572000" y="1325880"/>
            <a:ext cx="6949440" cy="777240"/>
          </a:xfrm>
          <a:prstGeom prst="rect">
            <a:avLst/>
          </a:prstGeom>
          <a:noFill/>
        </p:spPr>
        <p:txBody>
          <a:bodyPr wrap="square" lIns="45720" tIns="27432" rIns="45720" bIns="27432" anchor="ctr">
            <a:spAutoFit/>
          </a:bodyPr>
          <a:lstStyle/>
          <a:p>
            <a:pPr algn="l"/>
            <a:r>
              <a:rPr sz="1600" b="0" lang="en-IN">
                <a:solidFill>
                  <a:srgbClr val="1F2937"/>
                </a:solidFill>
                <a:latin typeface="Calibri"/>
              </a:rPr>
              <a:t>Email one-time code. Each person has a role: Admin or Analyst.</a:t>
            </a:r>
          </a:p>
        </p:txBody>
      </p:sp>
      <p:sp>
        <p:nvSpPr>
          <p:cNvPr id="13" name="Rounded Rectangle 12"/>
          <p:cNvSpPr/>
          <p:nvPr/>
        </p:nvSpPr>
        <p:spPr>
          <a:xfrm>
            <a:off x="548640" y="2267712"/>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2359152"/>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ye-white.png"/>
          <p:cNvPicPr>
            <a:picLocks noChangeAspect="1"/>
          </p:cNvPicPr>
          <p:nvPr/>
        </p:nvPicPr>
        <p:blipFill>
          <a:blip r:embed="rId5"/>
          <a:stretch>
            <a:fillRect/>
          </a:stretch>
        </p:blipFill>
        <p:spPr>
          <a:xfrm>
            <a:off x="882396" y="2510028"/>
            <a:ext cx="384048" cy="384048"/>
          </a:xfrm>
          <a:prstGeom prst="rect">
            <a:avLst/>
          </a:prstGeom>
        </p:spPr>
      </p:pic>
      <p:sp>
        <p:nvSpPr>
          <p:cNvPr id="16" name="TextBox 15"/>
          <p:cNvSpPr txBox="1"/>
          <p:nvPr/>
        </p:nvSpPr>
        <p:spPr>
          <a:xfrm>
            <a:off x="1600200" y="2313432"/>
            <a:ext cx="3017520" cy="777240"/>
          </a:xfrm>
          <a:prstGeom prst="rect">
            <a:avLst/>
          </a:prstGeom>
          <a:noFill/>
        </p:spPr>
        <p:txBody>
          <a:bodyPr wrap="square" lIns="45720" tIns="27432" rIns="45720" bIns="27432" anchor="ctr">
            <a:spAutoFit/>
          </a:bodyPr>
          <a:lstStyle/>
          <a:p>
            <a:pPr algn="l"/>
            <a:r>
              <a:rPr sz="2100" b="1" lang="en-IN">
                <a:solidFill>
                  <a:srgbClr val="243B7A"/>
                </a:solidFill>
                <a:latin typeface="Calibri"/>
              </a:rPr>
              <a:t>Read-only data</a:t>
            </a:r>
          </a:p>
        </p:txBody>
      </p:sp>
      <p:sp>
        <p:nvSpPr>
          <p:cNvPr id="17" name="TextBox 16"/>
          <p:cNvSpPr txBox="1"/>
          <p:nvPr/>
        </p:nvSpPr>
        <p:spPr>
          <a:xfrm>
            <a:off x="4572000" y="2313432"/>
            <a:ext cx="6949440" cy="777240"/>
          </a:xfrm>
          <a:prstGeom prst="rect">
            <a:avLst/>
          </a:prstGeom>
          <a:noFill/>
        </p:spPr>
        <p:txBody>
          <a:bodyPr wrap="square" lIns="45720" tIns="27432" rIns="45720" bIns="27432" anchor="ctr">
            <a:spAutoFit/>
          </a:bodyPr>
          <a:lstStyle/>
          <a:p>
            <a:pPr algn="l"/>
            <a:r>
              <a:rPr sz="1600" b="0" lang="en-IN">
                <a:solidFill>
                  <a:srgbClr val="1F2937"/>
                </a:solidFill>
                <a:latin typeface="Calibri"/>
              </a:rPr>
              <a:t>The AI connects with a database account that can read but cannot change anything.</a:t>
            </a:r>
          </a:p>
        </p:txBody>
      </p:sp>
      <p:sp>
        <p:nvSpPr>
          <p:cNvPr id="18" name="Rounded Rectangle 17"/>
          <p:cNvSpPr/>
          <p:nvPr/>
        </p:nvSpPr>
        <p:spPr>
          <a:xfrm>
            <a:off x="548640" y="3255264"/>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31520" y="3346704"/>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earch-white.png"/>
          <p:cNvPicPr>
            <a:picLocks noChangeAspect="1"/>
          </p:cNvPicPr>
          <p:nvPr/>
        </p:nvPicPr>
        <p:blipFill>
          <a:blip r:embed="rId6"/>
          <a:stretch>
            <a:fillRect/>
          </a:stretch>
        </p:blipFill>
        <p:spPr>
          <a:xfrm>
            <a:off x="882396" y="3497580"/>
            <a:ext cx="384048" cy="384048"/>
          </a:xfrm>
          <a:prstGeom prst="rect">
            <a:avLst/>
          </a:prstGeom>
        </p:spPr>
      </p:pic>
      <p:sp>
        <p:nvSpPr>
          <p:cNvPr id="21" name="TextBox 20"/>
          <p:cNvSpPr txBox="1"/>
          <p:nvPr/>
        </p:nvSpPr>
        <p:spPr>
          <a:xfrm>
            <a:off x="1600200" y="3300984"/>
            <a:ext cx="3017520" cy="777240"/>
          </a:xfrm>
          <a:prstGeom prst="rect">
            <a:avLst/>
          </a:prstGeom>
          <a:noFill/>
        </p:spPr>
        <p:txBody>
          <a:bodyPr wrap="square" lIns="45720" tIns="27432" rIns="45720" bIns="27432" anchor="ctr">
            <a:spAutoFit/>
          </a:bodyPr>
          <a:lstStyle/>
          <a:p>
            <a:pPr algn="l"/>
            <a:r>
              <a:rPr sz="2100" b="1" lang="en-IN">
                <a:solidFill>
                  <a:srgbClr val="243B7A"/>
                </a:solidFill>
                <a:latin typeface="Calibri"/>
              </a:rPr>
              <a:t>Checked queries</a:t>
            </a:r>
          </a:p>
        </p:txBody>
      </p:sp>
      <p:sp>
        <p:nvSpPr>
          <p:cNvPr id="22" name="TextBox 21"/>
          <p:cNvSpPr txBox="1"/>
          <p:nvPr/>
        </p:nvSpPr>
        <p:spPr>
          <a:xfrm>
            <a:off x="4572000" y="3300984"/>
            <a:ext cx="6949440" cy="777240"/>
          </a:xfrm>
          <a:prstGeom prst="rect">
            <a:avLst/>
          </a:prstGeom>
          <a:noFill/>
        </p:spPr>
        <p:txBody>
          <a:bodyPr wrap="square" lIns="45720" tIns="27432" rIns="45720" bIns="27432" anchor="ctr">
            <a:spAutoFit/>
          </a:bodyPr>
          <a:lstStyle/>
          <a:p>
            <a:pPr algn="l"/>
            <a:r>
              <a:rPr sz="1600" b="0" lang="en-IN">
                <a:solidFill>
                  <a:srgbClr val="1F2937"/>
                </a:solidFill>
                <a:latin typeface="Calibri"/>
              </a:rPr>
              <a:t>Every query is inspected first. Only a single read request is allowed.</a:t>
            </a:r>
          </a:p>
        </p:txBody>
      </p:sp>
      <p:sp>
        <p:nvSpPr>
          <p:cNvPr id="23" name="Rounded Rectangle 22"/>
          <p:cNvSpPr/>
          <p:nvPr/>
        </p:nvSpPr>
        <p:spPr>
          <a:xfrm>
            <a:off x="548640" y="4242816"/>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31520" y="4334256"/>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hield-white.png"/>
          <p:cNvPicPr>
            <a:picLocks noChangeAspect="1"/>
          </p:cNvPicPr>
          <p:nvPr/>
        </p:nvPicPr>
        <p:blipFill>
          <a:blip r:embed="rId7"/>
          <a:stretch>
            <a:fillRect/>
          </a:stretch>
        </p:blipFill>
        <p:spPr>
          <a:xfrm>
            <a:off x="882396" y="4485132"/>
            <a:ext cx="384048" cy="384048"/>
          </a:xfrm>
          <a:prstGeom prst="rect">
            <a:avLst/>
          </a:prstGeom>
        </p:spPr>
      </p:pic>
      <p:sp>
        <p:nvSpPr>
          <p:cNvPr id="26" name="TextBox 25"/>
          <p:cNvSpPr txBox="1"/>
          <p:nvPr/>
        </p:nvSpPr>
        <p:spPr>
          <a:xfrm>
            <a:off x="1600200" y="4288536"/>
            <a:ext cx="3017520" cy="777240"/>
          </a:xfrm>
          <a:prstGeom prst="rect">
            <a:avLst/>
          </a:prstGeom>
          <a:noFill/>
        </p:spPr>
        <p:txBody>
          <a:bodyPr wrap="square" lIns="45720" tIns="27432" rIns="45720" bIns="27432" anchor="ctr">
            <a:spAutoFit/>
          </a:bodyPr>
          <a:lstStyle/>
          <a:p>
            <a:pPr algn="l"/>
            <a:r>
              <a:rPr sz="2100" b="1" lang="en-IN">
                <a:solidFill>
                  <a:srgbClr val="243B7A"/>
                </a:solidFill>
                <a:latin typeface="Calibri"/>
              </a:rPr>
              <a:t>Locked box for charts</a:t>
            </a:r>
          </a:p>
        </p:txBody>
      </p:sp>
      <p:sp>
        <p:nvSpPr>
          <p:cNvPr id="27" name="TextBox 26"/>
          <p:cNvSpPr txBox="1"/>
          <p:nvPr/>
        </p:nvSpPr>
        <p:spPr>
          <a:xfrm>
            <a:off x="4572000" y="4288536"/>
            <a:ext cx="6949440" cy="777240"/>
          </a:xfrm>
          <a:prstGeom prst="rect">
            <a:avLst/>
          </a:prstGeom>
          <a:noFill/>
        </p:spPr>
        <p:txBody>
          <a:bodyPr wrap="square" lIns="45720" tIns="27432" rIns="45720" bIns="27432" anchor="ctr">
            <a:spAutoFit/>
          </a:bodyPr>
          <a:lstStyle/>
          <a:p>
            <a:pPr algn="l"/>
            <a:r>
              <a:rPr sz="1600" b="0" lang="en-IN">
                <a:solidFill>
                  <a:srgbClr val="1F2937"/>
                </a:solidFill>
                <a:latin typeface="Calibri"/>
              </a:rPr>
              <a:t>Chart code runs in an isolated space: no network, limited time and memory.</a:t>
            </a:r>
          </a:p>
        </p:txBody>
      </p:sp>
      <p:sp>
        <p:nvSpPr>
          <p:cNvPr id="28" name="Rounded Rectangle 27"/>
          <p:cNvSpPr/>
          <p:nvPr/>
        </p:nvSpPr>
        <p:spPr>
          <a:xfrm>
            <a:off x="548640" y="5230368"/>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31520" y="5321808"/>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report-white.png"/>
          <p:cNvPicPr>
            <a:picLocks noChangeAspect="1"/>
          </p:cNvPicPr>
          <p:nvPr/>
        </p:nvPicPr>
        <p:blipFill>
          <a:blip r:embed="rId8"/>
          <a:stretch>
            <a:fillRect/>
          </a:stretch>
        </p:blipFill>
        <p:spPr>
          <a:xfrm>
            <a:off x="882396" y="5472684"/>
            <a:ext cx="384048" cy="384048"/>
          </a:xfrm>
          <a:prstGeom prst="rect">
            <a:avLst/>
          </a:prstGeom>
        </p:spPr>
      </p:pic>
      <p:sp>
        <p:nvSpPr>
          <p:cNvPr id="31" name="TextBox 30"/>
          <p:cNvSpPr txBox="1"/>
          <p:nvPr/>
        </p:nvSpPr>
        <p:spPr>
          <a:xfrm>
            <a:off x="1600200" y="5276088"/>
            <a:ext cx="3017520" cy="777240"/>
          </a:xfrm>
          <a:prstGeom prst="rect">
            <a:avLst/>
          </a:prstGeom>
          <a:noFill/>
        </p:spPr>
        <p:txBody>
          <a:bodyPr wrap="square" lIns="45720" tIns="27432" rIns="45720" bIns="27432" anchor="ctr">
            <a:spAutoFit/>
          </a:bodyPr>
          <a:lstStyle/>
          <a:p>
            <a:pPr algn="l"/>
            <a:r>
              <a:rPr sz="2100" b="1" lang="en-IN">
                <a:solidFill>
                  <a:srgbClr val="243B7A"/>
                </a:solidFill>
                <a:latin typeface="Calibri"/>
              </a:rPr>
              <a:t>Full record</a:t>
            </a:r>
          </a:p>
        </p:txBody>
      </p:sp>
      <p:sp>
        <p:nvSpPr>
          <p:cNvPr id="32" name="TextBox 31"/>
          <p:cNvSpPr txBox="1"/>
          <p:nvPr/>
        </p:nvSpPr>
        <p:spPr>
          <a:xfrm>
            <a:off x="4572000" y="5276088"/>
            <a:ext cx="6949440" cy="777240"/>
          </a:xfrm>
          <a:prstGeom prst="rect">
            <a:avLst/>
          </a:prstGeom>
          <a:noFill/>
        </p:spPr>
        <p:txBody>
          <a:bodyPr wrap="square" lIns="45720" tIns="27432" rIns="45720" bIns="27432" anchor="ctr">
            <a:spAutoFit/>
          </a:bodyPr>
          <a:lstStyle/>
          <a:p>
            <a:pPr algn="l"/>
            <a:r>
              <a:rPr sz="1600" b="0" lang="en-IN">
                <a:solidFill>
                  <a:srgbClr val="1F2937"/>
                </a:solidFill>
                <a:latin typeface="Calibri"/>
              </a:rPr>
              <a:t>Every question, query and action is logged for audit.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What comes next</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7</a:t>
            </a:r>
          </a:p>
        </p:txBody>
      </p:sp>
      <p:sp>
        <p:nvSpPr>
          <p:cNvPr id="8" name="Rounded Rectangle 7"/>
          <p:cNvSpPr/>
          <p:nvPr/>
        </p:nvSpPr>
        <p:spPr>
          <a:xfrm>
            <a:off x="548640" y="1371600"/>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2959" y="164592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erver-white.png"/>
          <p:cNvPicPr>
            <a:picLocks noChangeAspect="1"/>
          </p:cNvPicPr>
          <p:nvPr/>
        </p:nvPicPr>
        <p:blipFill>
          <a:blip r:embed="rId4"/>
          <a:stretch>
            <a:fillRect/>
          </a:stretch>
        </p:blipFill>
        <p:spPr>
          <a:xfrm>
            <a:off x="983894" y="1806854"/>
            <a:ext cx="409651" cy="409651"/>
          </a:xfrm>
          <a:prstGeom prst="rect">
            <a:avLst/>
          </a:prstGeom>
        </p:spPr>
      </p:pic>
      <p:sp>
        <p:nvSpPr>
          <p:cNvPr id="11" name="TextBox 10"/>
          <p:cNvSpPr txBox="1"/>
          <p:nvPr/>
        </p:nvSpPr>
        <p:spPr>
          <a:xfrm>
            <a:off x="1783080" y="1645920"/>
            <a:ext cx="4023360" cy="548640"/>
          </a:xfrm>
          <a:prstGeom prst="rect">
            <a:avLst/>
          </a:prstGeom>
          <a:noFill/>
        </p:spPr>
        <p:txBody>
          <a:bodyPr wrap="square" lIns="45720" tIns="27432" rIns="45720" bIns="27432" anchor="ctr">
            <a:spAutoFit/>
          </a:bodyPr>
          <a:lstStyle/>
          <a:p>
            <a:pPr algn="l"/>
            <a:r>
              <a:rPr sz="2200" b="1" lang="en-IN">
                <a:solidFill>
                  <a:srgbClr val="243B7A"/>
                </a:solidFill>
                <a:latin typeface="Calibri"/>
              </a:rPr>
              <a:t>High-performance compute</a:t>
            </a:r>
          </a:p>
        </p:txBody>
      </p:sp>
      <p:sp>
        <p:nvSpPr>
          <p:cNvPr id="12" name="TextBox 11"/>
          <p:cNvSpPr txBox="1"/>
          <p:nvPr/>
        </p:nvSpPr>
        <p:spPr>
          <a:xfrm>
            <a:off x="822959" y="2468880"/>
            <a:ext cx="4937760" cy="1005840"/>
          </a:xfrm>
          <a:prstGeom prst="rect">
            <a:avLst/>
          </a:prstGeom>
          <a:noFill/>
        </p:spPr>
        <p:txBody>
          <a:bodyPr wrap="square" lIns="45720" tIns="27432" rIns="45720" bIns="27432" anchor="t">
            <a:spAutoFit/>
          </a:bodyPr>
          <a:lstStyle/>
          <a:p>
            <a:pPr algn="l"/>
            <a:r>
              <a:rPr sz="1600" b="0" lang="en-IN">
                <a:solidFill>
                  <a:srgbClr val="1F2937"/>
                </a:solidFill>
                <a:latin typeface="Calibri"/>
              </a:rPr>
              <a:t>A high-performance computing (HPC) node with high-end GPU servers runs larger, more capable models and shortens response times.</a:t>
            </a:r>
          </a:p>
        </p:txBody>
      </p:sp>
      <p:sp>
        <p:nvSpPr>
          <p:cNvPr id="13" name="Rounded Rectangle 12"/>
          <p:cNvSpPr/>
          <p:nvPr/>
        </p:nvSpPr>
        <p:spPr>
          <a:xfrm>
            <a:off x="6172200" y="1371600"/>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46520" y="164592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database-white.png"/>
          <p:cNvPicPr>
            <a:picLocks noChangeAspect="1"/>
          </p:cNvPicPr>
          <p:nvPr/>
        </p:nvPicPr>
        <p:blipFill>
          <a:blip r:embed="rId5"/>
          <a:stretch>
            <a:fillRect/>
          </a:stretch>
        </p:blipFill>
        <p:spPr>
          <a:xfrm>
            <a:off x="6607454" y="1806854"/>
            <a:ext cx="409651" cy="409651"/>
          </a:xfrm>
          <a:prstGeom prst="rect">
            <a:avLst/>
          </a:prstGeom>
        </p:spPr>
      </p:pic>
      <p:sp>
        <p:nvSpPr>
          <p:cNvPr id="16" name="TextBox 15"/>
          <p:cNvSpPr txBox="1"/>
          <p:nvPr/>
        </p:nvSpPr>
        <p:spPr>
          <a:xfrm>
            <a:off x="7406640" y="1645920"/>
            <a:ext cx="4023360" cy="548640"/>
          </a:xfrm>
          <a:prstGeom prst="rect">
            <a:avLst/>
          </a:prstGeom>
          <a:noFill/>
        </p:spPr>
        <p:txBody>
          <a:bodyPr wrap="square" lIns="45720" tIns="27432" rIns="45720" bIns="27432" anchor="ctr">
            <a:spAutoFit/>
          </a:bodyPr>
          <a:lstStyle/>
          <a:p>
            <a:pPr algn="l"/>
            <a:r>
              <a:rPr sz="2200" b="1" lang="en-IN">
                <a:solidFill>
                  <a:srgbClr val="243B7A"/>
                </a:solidFill>
                <a:latin typeface="Calibri"/>
              </a:rPr>
              <a:t>More data</a:t>
            </a:r>
          </a:p>
        </p:txBody>
      </p:sp>
      <p:sp>
        <p:nvSpPr>
          <p:cNvPr id="17" name="TextBox 16"/>
          <p:cNvSpPr txBox="1"/>
          <p:nvPr/>
        </p:nvSpPr>
        <p:spPr>
          <a:xfrm>
            <a:off x="6446520" y="2468880"/>
            <a:ext cx="4937760" cy="1005840"/>
          </a:xfrm>
          <a:prstGeom prst="rect">
            <a:avLst/>
          </a:prstGeom>
          <a:noFill/>
        </p:spPr>
        <p:txBody>
          <a:bodyPr wrap="square" lIns="45720" tIns="27432" rIns="45720" bIns="27432" anchor="t">
            <a:spAutoFit/>
          </a:bodyPr>
          <a:lstStyle/>
          <a:p>
            <a:pPr algn="l"/>
            <a:r>
              <a:rPr sz="1600" b="0" lang="en-IN">
                <a:solidFill>
                  <a:srgbClr val="1F2937"/>
                </a:solidFill>
                <a:latin typeface="Calibri"/>
              </a:rPr>
              <a:t>Monthly feeds for every district, and the missing sources such as Bhang shops.</a:t>
            </a:r>
          </a:p>
        </p:txBody>
      </p:sp>
      <p:sp>
        <p:nvSpPr>
          <p:cNvPr id="18" name="Rounded Rectangle 17"/>
          <p:cNvSpPr/>
          <p:nvPr/>
        </p:nvSpPr>
        <p:spPr>
          <a:xfrm>
            <a:off x="548640" y="3749039"/>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59" y="4023359"/>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doc-white.png"/>
          <p:cNvPicPr>
            <a:picLocks noChangeAspect="1"/>
          </p:cNvPicPr>
          <p:nvPr/>
        </p:nvPicPr>
        <p:blipFill>
          <a:blip r:embed="rId6"/>
          <a:stretch>
            <a:fillRect/>
          </a:stretch>
        </p:blipFill>
        <p:spPr>
          <a:xfrm>
            <a:off x="983894" y="4184294"/>
            <a:ext cx="409651" cy="409651"/>
          </a:xfrm>
          <a:prstGeom prst="rect">
            <a:avLst/>
          </a:prstGeom>
        </p:spPr>
      </p:pic>
      <p:sp>
        <p:nvSpPr>
          <p:cNvPr id="21" name="TextBox 20"/>
          <p:cNvSpPr txBox="1"/>
          <p:nvPr/>
        </p:nvSpPr>
        <p:spPr>
          <a:xfrm>
            <a:off x="1783080" y="4023359"/>
            <a:ext cx="4023360" cy="548640"/>
          </a:xfrm>
          <a:prstGeom prst="rect">
            <a:avLst/>
          </a:prstGeom>
          <a:noFill/>
        </p:spPr>
        <p:txBody>
          <a:bodyPr wrap="square" lIns="45720" tIns="27432" rIns="45720" bIns="27432" anchor="ctr">
            <a:spAutoFit/>
          </a:bodyPr>
          <a:lstStyle/>
          <a:p>
            <a:pPr algn="l"/>
            <a:r>
              <a:rPr sz="2200" b="1" lang="en-IN">
                <a:solidFill>
                  <a:srgbClr val="243B7A"/>
                </a:solidFill>
                <a:latin typeface="Calibri"/>
              </a:rPr>
              <a:t>Saved analyses and reports</a:t>
            </a:r>
          </a:p>
        </p:txBody>
      </p:sp>
      <p:sp>
        <p:nvSpPr>
          <p:cNvPr id="22" name="TextBox 21"/>
          <p:cNvSpPr txBox="1"/>
          <p:nvPr/>
        </p:nvSpPr>
        <p:spPr>
          <a:xfrm>
            <a:off x="822959" y="4846320"/>
            <a:ext cx="4937760" cy="1005840"/>
          </a:xfrm>
          <a:prstGeom prst="rect">
            <a:avLst/>
          </a:prstGeom>
          <a:noFill/>
        </p:spPr>
        <p:txBody>
          <a:bodyPr wrap="square" lIns="45720" tIns="27432" rIns="45720" bIns="27432" anchor="t">
            <a:spAutoFit/>
          </a:bodyPr>
          <a:lstStyle/>
          <a:p>
            <a:pPr algn="l"/>
            <a:r>
              <a:rPr sz="1600" b="0" lang="en-IN">
                <a:solidFill>
                  <a:srgbClr val="1F2937"/>
                </a:solidFill>
                <a:latin typeface="Calibri"/>
              </a:rPr>
              <a:t>Re-run a favourite question each month and export a report with the data date on it.</a:t>
            </a:r>
          </a:p>
        </p:txBody>
      </p:sp>
      <p:sp>
        <p:nvSpPr>
          <p:cNvPr id="23" name="Rounded Rectangle 22"/>
          <p:cNvSpPr/>
          <p:nvPr/>
        </p:nvSpPr>
        <p:spPr>
          <a:xfrm>
            <a:off x="6172200" y="3749039"/>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46520" y="4023359"/>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users-white.png"/>
          <p:cNvPicPr>
            <a:picLocks noChangeAspect="1"/>
          </p:cNvPicPr>
          <p:nvPr/>
        </p:nvPicPr>
        <p:blipFill>
          <a:blip r:embed="rId7"/>
          <a:stretch>
            <a:fillRect/>
          </a:stretch>
        </p:blipFill>
        <p:spPr>
          <a:xfrm>
            <a:off x="6607454" y="4184294"/>
            <a:ext cx="409651" cy="409651"/>
          </a:xfrm>
          <a:prstGeom prst="rect">
            <a:avLst/>
          </a:prstGeom>
        </p:spPr>
      </p:pic>
      <p:sp>
        <p:nvSpPr>
          <p:cNvPr id="26" name="TextBox 25"/>
          <p:cNvSpPr txBox="1"/>
          <p:nvPr/>
        </p:nvSpPr>
        <p:spPr>
          <a:xfrm>
            <a:off x="7406640" y="4023359"/>
            <a:ext cx="4023360" cy="548640"/>
          </a:xfrm>
          <a:prstGeom prst="rect">
            <a:avLst/>
          </a:prstGeom>
          <a:noFill/>
        </p:spPr>
        <p:txBody>
          <a:bodyPr wrap="square" lIns="45720" tIns="27432" rIns="45720" bIns="27432" anchor="ctr">
            <a:spAutoFit/>
          </a:bodyPr>
          <a:lstStyle/>
          <a:p>
            <a:pPr algn="l"/>
            <a:r>
              <a:rPr sz="2200" b="1" lang="en-IN">
                <a:solidFill>
                  <a:srgbClr val="243B7A"/>
                </a:solidFill>
                <a:latin typeface="Calibri"/>
              </a:rPr>
              <a:t>Wider access</a:t>
            </a:r>
          </a:p>
        </p:txBody>
      </p:sp>
      <p:sp>
        <p:nvSpPr>
          <p:cNvPr id="27" name="TextBox 26"/>
          <p:cNvSpPr txBox="1"/>
          <p:nvPr/>
        </p:nvSpPr>
        <p:spPr>
          <a:xfrm>
            <a:off x="6446520" y="4846320"/>
            <a:ext cx="4937760" cy="1005840"/>
          </a:xfrm>
          <a:prstGeom prst="rect">
            <a:avLst/>
          </a:prstGeom>
          <a:noFill/>
        </p:spPr>
        <p:txBody>
          <a:bodyPr wrap="square" lIns="45720" tIns="27432" rIns="45720" bIns="27432" anchor="t">
            <a:spAutoFit/>
          </a:bodyPr>
          <a:lstStyle/>
          <a:p>
            <a:pPr algn="l"/>
            <a:r>
              <a:rPr sz="1600" b="0" lang="en-IN">
                <a:solidFill>
                  <a:srgbClr val="1F2937"/>
                </a:solidFill>
                <a:latin typeface="Calibri"/>
              </a:rPr>
              <a:t>Roles for district and division officers, with their own question history.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p:nvPr>
            <p:ph type="title"/>
          </p:nvPr>
        </p:nvSpPr>
        <p:spPr>
          <a:xfrm>
            <a:off x="548640" y="109728"/>
            <a:ext cx="10424160" cy="694944"/>
          </a:xfrm>
          <a:prstGeom prst="rect">
            <a:avLst/>
          </a:prstGeom>
          <a:noFill/>
        </p:spPr>
        <p:txBody>
          <a:bodyPr wrap="square" lIns="45720" tIns="27432" rIns="45720" bIns="27432" anchor="ctr">
            <a:spAutoFit/>
          </a:bodyPr>
          <a:lstStyle/>
          <a:p>
            <a:pPr algn="l"/>
            <a:r>
              <a:rPr sz="3000" b="1" lang="en-IN">
                <a:solidFill>
                  <a:srgbClr val="243B7A"/>
                </a:solidFill>
                <a:latin typeface="Calibri"/>
              </a:rPr>
              <a:t>The decision we are asking for</a:t>
            </a:r>
          </a:p>
        </p:txBody>
      </p:sp>
      <p:pic>
        <p:nvPicPr>
          <p:cNvPr id="5" name="Picture 4" descr="emblem-dark.png"/>
          <p:cNvPicPr>
            <a:picLocks noChangeAspect="1"/>
          </p:cNvPicPr>
          <p:nvPr/>
        </p:nvPicPr>
        <p:blipFill>
          <a:blip r:embed="rId3"/>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lIns="45720" tIns="27432" rIns="45720" bIns="27432" anchor="t">
            <a:spAutoFit/>
          </a:bodyPr>
          <a:lstStyle/>
          <a:p>
            <a:pPr algn="l"/>
            <a:r>
              <a:rPr sz="1000" b="0" lang="en-IN">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lIns="45720" tIns="27432" rIns="45720" bIns="27432" anchor="t">
            <a:spAutoFit/>
          </a:bodyPr>
          <a:lstStyle/>
          <a:p>
            <a:pPr algn="r"/>
            <a:r>
              <a:rPr sz="1000" b="0" lang="en-IN">
                <a:solidFill>
                  <a:srgbClr val="4B5563"/>
                </a:solidFill>
                <a:latin typeface="Calibri"/>
              </a:rPr>
              <a:t>8</a:t>
            </a:r>
          </a:p>
        </p:txBody>
      </p:sp>
      <p:sp>
        <p:nvSpPr>
          <p:cNvPr id="8" name="Rounded Rectangle 7"/>
          <p:cNvSpPr/>
          <p:nvPr/>
        </p:nvSpPr>
        <p:spPr>
          <a:xfrm>
            <a:off x="548640" y="1371600"/>
            <a:ext cx="110642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2960" y="1737360"/>
            <a:ext cx="822960" cy="82296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ulb-white.png"/>
          <p:cNvPicPr>
            <a:picLocks noChangeAspect="1"/>
          </p:cNvPicPr>
          <p:nvPr/>
        </p:nvPicPr>
        <p:blipFill>
          <a:blip r:embed="rId4"/>
          <a:stretch>
            <a:fillRect/>
          </a:stretch>
        </p:blipFill>
        <p:spPr>
          <a:xfrm>
            <a:off x="1004011" y="1918411"/>
            <a:ext cx="460857" cy="460857"/>
          </a:xfrm>
          <a:prstGeom prst="rect">
            <a:avLst/>
          </a:prstGeom>
        </p:spPr>
      </p:pic>
      <p:sp>
        <p:nvSpPr>
          <p:cNvPr id="11" name="TextBox 10"/>
          <p:cNvSpPr txBox="1"/>
          <p:nvPr/>
        </p:nvSpPr>
        <p:spPr>
          <a:xfrm>
            <a:off x="1920240" y="1554480"/>
            <a:ext cx="9509760" cy="1737360"/>
          </a:xfrm>
          <a:prstGeom prst="rect">
            <a:avLst/>
          </a:prstGeom>
          <a:noFill/>
        </p:spPr>
        <p:txBody>
          <a:bodyPr wrap="square" lIns="45720" tIns="27432" rIns="45720" bIns="27432" anchor="t">
            <a:spAutoFit/>
          </a:bodyPr>
          <a:lstStyle/>
          <a:p>
            <a:pPr algn="l">
              <a:spcAft>
                <a:spcPts val="800"/>
              </a:spcAft>
            </a:pPr>
            <a:r>
              <a:rPr sz="2000" b="1" lang="en-IN">
                <a:solidFill>
                  <a:srgbClr val="1F2937"/>
                </a:solidFill>
                <a:latin typeface="Calibri"/>
              </a:rPr>
              <a:t>This proof of concept shows that officers can get sourced answers from the department's own data in minutes, on the department's own server.</a:t>
            </a:r>
          </a:p>
          <a:p>
            <a:pPr algn="l">
              <a:spcAft>
                <a:spcPts val="800"/>
              </a:spcAft>
            </a:pPr>
            <a:r>
              <a:rPr sz="2000" b="1" lang="en-IN">
                <a:solidFill>
                  <a:srgbClr val="1F2937"/>
                </a:solidFill>
                <a:latin typeface="Calibri"/>
              </a:rPr>
              <a:t>We ask the respected authorities for a decision on the next step.</a:t>
            </a:r>
          </a:p>
        </p:txBody>
      </p:sp>
      <p:sp>
        <p:nvSpPr>
          <p:cNvPr id="12" name="TextBox 11"/>
          <p:cNvSpPr txBox="1"/>
          <p:nvPr/>
        </p:nvSpPr>
        <p:spPr>
          <a:xfrm>
            <a:off x="548640" y="3749039"/>
            <a:ext cx="11064240" cy="457200"/>
          </a:xfrm>
          <a:prstGeom prst="rect">
            <a:avLst/>
          </a:prstGeom>
          <a:noFill/>
        </p:spPr>
        <p:txBody>
          <a:bodyPr wrap="square" lIns="45720" tIns="27432" rIns="45720" bIns="27432" anchor="t">
            <a:spAutoFit/>
          </a:bodyPr>
          <a:lstStyle/>
          <a:p>
            <a:pPr algn="l"/>
            <a:r>
              <a:rPr sz="2200" b="1" lang="en-IN">
                <a:solidFill>
                  <a:srgbClr val="243B7A"/>
                </a:solidFill>
                <a:latin typeface="Calibri"/>
              </a:rPr>
              <a:t>Proposed next steps</a:t>
            </a:r>
          </a:p>
        </p:txBody>
      </p:sp>
      <p:sp>
        <p:nvSpPr>
          <p:cNvPr id="13" name="TextBox 12"/>
          <p:cNvSpPr txBox="1"/>
          <p:nvPr/>
        </p:nvSpPr>
        <p:spPr>
          <a:xfrm>
            <a:off x="548640" y="4297680"/>
            <a:ext cx="11064240" cy="457200"/>
          </a:xfrm>
          <a:prstGeom prst="rect">
            <a:avLst/>
          </a:prstGeom>
          <a:noFill/>
        </p:spPr>
        <p:txBody>
          <a:bodyPr wrap="square" lIns="45720" tIns="27432" rIns="45720" bIns="27432" anchor="t">
            <a:spAutoFit/>
          </a:bodyPr>
          <a:lstStyle/>
          <a:p>
            <a:pPr algn="l">
              <a:spcAft>
                <a:spcPts val="800"/>
              </a:spcAft>
            </a:pPr>
            <a:r>
              <a:rPr sz="1800" b="0" lang="en-IN">
                <a:solidFill>
                  <a:srgbClr val="1F2937"/>
                </a:solidFill>
                <a:latin typeface="Calibri"/>
              </a:rPr>
              <a:t>1.  A pilot with a small group of district and division officers.</a:t>
            </a:r>
          </a:p>
          <a:p>
            <a:pPr algn="l">
              <a:spcAft>
                <a:spcPts val="800"/>
              </a:spcAft>
            </a:pPr>
            <a:r>
              <a:rPr sz="1800" b="0" lang="en-IN">
                <a:solidFill>
                  <a:srgbClr val="1F2937"/>
                </a:solidFill>
                <a:latin typeface="Calibri"/>
              </a:rPr>
              <a:t>2.  A high-performance GPU compute node.</a:t>
            </a:r>
          </a:p>
          <a:p>
            <a:pPr algn="l">
              <a:spcAft>
                <a:spcPts val="800"/>
              </a:spcAft>
            </a:pPr>
            <a:r>
              <a:rPr sz="1800" b="0" lang="en-IN">
                <a:solidFill>
                  <a:srgbClr val="1F2937"/>
                </a:solidFill>
                <a:latin typeface="Calibri"/>
              </a:rPr>
              <a:t>3.  Monthly data feeds from the source systems and involved stakeholders.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2159</Words>
  <Application>Microsoft Office PowerPoint</Application>
  <PresentationFormat>Widescreen</PresentationFormat>
  <Paragraphs>173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the Data: proof of concept (short version)</dc:title>
  <dc:subject>Demonstration of plain-language questions answered from the Department of Excise's own data</dc:subject>
  <dc:creator>Department of Excise, Government of Uttar Pradesh</dc:creator>
  <cp:keywords>Uttar Pradesh; Excise; Ask the Data; proof of concept; analytics</cp:keywords>
  <dc:description>Speaker notes are on every slide.</dc:description>
  <cp:lastModifiedBy>Subhan Raj</cp:lastModifiedBy>
  <cp:revision>3</cp:revision>
  <dcterms:created xsi:type="dcterms:W3CDTF">2026-10-12T17:44:34Z</dcterms:created>
  <dcterms:modified xsi:type="dcterms:W3CDTF">2026-10-12T10:08:39Z</dcterms:modified>
  <cp:category>Presentation</cp:category>
  <dc:language>en-IN</dc:language>
</cp:coreProperties>
</file>